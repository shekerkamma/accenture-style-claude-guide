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000" b="1" i="0">
                <a:solidFill>
                  <a:srgbClr val="FFFFFF"/>
                </a:solidFill>
                <a:latin typeface="Calibri"/>
              </a:rPr>
              <a:t>ACCENTURE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C9A7"/>
                </a:solidFill>
                <a:latin typeface="Calibri"/>
              </a:rPr>
              <a:t>The $70B Reinvention Machine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2316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AI-first transformation partner · FY2025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880360"/>
            <a:ext cx="10515600" cy="36576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3063240"/>
            <a:ext cx="2651760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3063240"/>
            <a:ext cx="91440" cy="14630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237744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0C9A7"/>
                </a:solidFill>
                <a:latin typeface="Calibri"/>
              </a:rPr>
              <a:t>$69.7B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76472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FY2025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69080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+7% YoY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3063240"/>
            <a:ext cx="2651760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3063240"/>
            <a:ext cx="91440" cy="14630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3154680"/>
            <a:ext cx="237744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0C9A7"/>
                </a:solidFill>
                <a:latin typeface="Calibri"/>
              </a:rPr>
              <a:t>nearly doubled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776472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GenAI Bookings YoY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069080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$5.9B in FY2025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063240"/>
            <a:ext cx="2651760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063240"/>
            <a:ext cx="91440" cy="14630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154680"/>
            <a:ext cx="237744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0C9A7"/>
                </a:solidFill>
                <a:latin typeface="Calibri"/>
              </a:rPr>
              <a:t>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776472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GenAI Market Share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069080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IoT Analytics, Jan 2025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3063240"/>
            <a:ext cx="2651760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61120" y="3063240"/>
            <a:ext cx="91440" cy="14630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3154680"/>
            <a:ext cx="237744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0C9A7"/>
                </a:solidFill>
                <a:latin typeface="Calibri"/>
              </a:rPr>
              <a:t>77,000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776472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AI &amp; Data Staff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4069080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from 40,000 two years prior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46520"/>
            <a:ext cx="10058400" cy="3017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June 2026 · Sources: 12 months ended Aug 31, 2025 earnings, Everest Group, IoT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Accenture · FY2025 Key Metrics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91440" cy="14173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512064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1B2B3C"/>
                </a:solidFill>
                <a:latin typeface="Calibri"/>
              </a:rPr>
              <a:t>$69.7B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305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Total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3230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+7% in both USD &amp; local currency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61888" y="137160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61888" y="1371600"/>
            <a:ext cx="91440" cy="14173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8" y="1444752"/>
            <a:ext cx="512064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1B2B3C"/>
                </a:solidFill>
                <a:latin typeface="Calibri"/>
              </a:rPr>
              <a:t>$80.6B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21305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New Bookings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243230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Book-to-bill 1.2x · -1%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83464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834640"/>
            <a:ext cx="91440" cy="14173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907792"/>
            <a:ext cx="512064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1B2B3C"/>
                </a:solidFill>
                <a:latin typeface="Calibri"/>
              </a:rPr>
              <a:t>$5.9B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59359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GenAI Bookings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8953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nearly doubled year-over-year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61888" y="283464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61888" y="2834640"/>
            <a:ext cx="91440" cy="14173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44768" y="2907792"/>
            <a:ext cx="512064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1B2B3C"/>
                </a:solidFill>
                <a:latin typeface="Calibri"/>
              </a:rPr>
              <a:t>$2.7B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359359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GenAI Revenue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8953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tripled year-over-year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29768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4297680"/>
            <a:ext cx="91440" cy="14173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370832"/>
            <a:ext cx="512064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1B2B3C"/>
                </a:solidFill>
                <a:latin typeface="Calibri"/>
              </a:rPr>
              <a:t>77,000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05663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AI &amp; Data Professionals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35838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up from 40,000 two years ago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61888" y="429768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61888" y="4297680"/>
            <a:ext cx="91440" cy="14173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44768" y="4370832"/>
            <a:ext cx="5120640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1B2B3C"/>
                </a:solidFill>
                <a:latin typeface="Calibri"/>
              </a:rPr>
              <a:t>15.6%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505663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Adjusted Operating Margin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35838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60–80bps expansion over FY24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Accenture Market Intelligence Brief · June 2026 · Sources: Earnings, Everest Group, IoT Analytics, Exa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Revenue Trend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5-year trajectory from SEC EDGAR XBRL</a:t>
            </a:r>
          </a:p>
        </p:txBody>
      </p:sp>
      <p:pic>
        <p:nvPicPr>
          <p:cNvPr id="7" name="Picture 6" descr="rev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7" y="1371600"/>
            <a:ext cx="9601200" cy="3769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486400"/>
            <a:ext cx="11247120" cy="411480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532120"/>
            <a:ext cx="1097280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Accenture added ~$20B in revenue since 2021 (+38%). FY2025 inflection driven by GenAI bookings ramp.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Accenture Market Intelligence Brief · June 2026 · Sources: Earnings, Everest Group, IoT Analytics, Exa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Revenue Breakdown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Segment &amp; industry mix driving growth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5303520" cy="45720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BY TYPE OF 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23160"/>
            <a:ext cx="1834025" cy="502920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Consulting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774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$35.1B · +6% YoY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718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Strategy, Technology, Song, Industry 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51960"/>
            <a:ext cx="1807899" cy="502920"/>
          </a:xfrm>
          <a:prstGeom prst="roundRect">
            <a:avLst>
              <a:gd name="adj" fmla="val 4000"/>
            </a:avLst>
          </a:prstGeom>
          <a:solidFill>
            <a:srgbClr val="009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Managed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062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$34.6B · +9% YoY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006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Operations, BPO, application management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1371600"/>
            <a:ext cx="5943600" cy="45720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1508760"/>
            <a:ext cx="55778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BY INDUSTRY GROUP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1920240"/>
            <a:ext cx="2743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Products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2304288"/>
            <a:ext cx="4229515" cy="256032"/>
          </a:xfrm>
          <a:prstGeom prst="roundRect">
            <a:avLst>
              <a:gd name="adj" fmla="val 3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2606040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$21.2B (30) · +8%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697480"/>
            <a:ext cx="2743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Health &amp; Public Svc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3081528"/>
            <a:ext cx="2952680" cy="256032"/>
          </a:xfrm>
          <a:prstGeom prst="roundRect">
            <a:avLst>
              <a:gd name="adj" fmla="val 3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3383280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$14.8B (21) · +6%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3474720"/>
            <a:ext cx="2743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Financial Services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3858768"/>
            <a:ext cx="2553669" cy="256032"/>
          </a:xfrm>
          <a:prstGeom prst="roundRect">
            <a:avLst>
              <a:gd name="adj" fmla="val 3000"/>
            </a:avLst>
          </a:prstGeom>
          <a:solidFill>
            <a:srgbClr val="007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4160520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$12.8B (18) · +10%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4251960"/>
            <a:ext cx="2743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Comms, Media &amp; Tech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0" y="4636008"/>
            <a:ext cx="2294312" cy="256032"/>
          </a:xfrm>
          <a:prstGeom prst="roundRect">
            <a:avLst>
              <a:gd name="adj" fmla="val 3000"/>
            </a:avLst>
          </a:prstGeom>
          <a:solidFill>
            <a:srgbClr val="005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4937760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$11.5B (16) · +6%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5029200"/>
            <a:ext cx="2743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Resources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0" y="5413248"/>
            <a:ext cx="1895301" cy="256032"/>
          </a:xfrm>
          <a:prstGeom prst="roundRect">
            <a:avLst>
              <a:gd name="adj" fmla="val 3000"/>
            </a:avLst>
          </a:prstGeom>
          <a:solidFill>
            <a:srgbClr val="00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5715000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$9.5B (14) · +5%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Accenture Market Intelligence Brief · June 2026 · Sources: Earnings, Everest Group, IoT Analytics, Exa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AI PLATFORM &amp;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FFFFFF"/>
                </a:solidFill>
                <a:latin typeface="Calibri"/>
              </a:rPr>
              <a:t>How Accenture is monetizing the AI wave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2651760" cy="11887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00C9A7"/>
                </a:solidFill>
                <a:latin typeface="Calibri"/>
              </a:rPr>
              <a:t>$2.7B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47672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GenAI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6771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tripled YoY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36976" y="1280160"/>
            <a:ext cx="2651760" cy="11887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74136" y="137160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00C9A7"/>
                </a:solidFill>
                <a:latin typeface="Calibri"/>
              </a:rPr>
              <a:t>$5.9B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4136" y="1947672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GenAI Bookings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4136" y="226771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nearly doubled YoY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62472" y="1280160"/>
            <a:ext cx="2651760" cy="11887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137160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00C9A7"/>
                </a:solidFill>
                <a:latin typeface="Calibri"/>
              </a:rPr>
              <a:t>77,000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1947672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AI Staff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226771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from 40K 2 years ago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87968" y="1280160"/>
            <a:ext cx="2651760" cy="118872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5128" y="137160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00C9A7"/>
                </a:solidFill>
                <a:latin typeface="Calibri"/>
              </a:rPr>
              <a:t>6,000+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5128" y="1947672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AI Projects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5128" y="226771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delivered in FY2025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2697480"/>
            <a:ext cx="11155680" cy="3200400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2697480"/>
            <a:ext cx="1115568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78892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The $3B Bet Is Paying 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337560"/>
            <a:ext cx="1078992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Accenture's FY2023 decision to commit $3B to GenAI is the clearest first-mover bet in consulting. FY2025 results validate the thesis: $2.7B revenue (tripled), $5.9B bookings (nearly doubled), 7% GenAI market share. No competitor has matched this scale of AI revenue to date. The model: train talent first, ship client solutions second, monetize at scale third. CEO Julie Sweet: 'We are reinventing what we sell, how we deliver, how we partner.'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Accenture Market Intelligence Brief · June 2026 · Sources: Earnings, Everest Group, IoT Analytics, Exa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Strategic Moves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What's changed and why it matters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5394960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394960" cy="640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C9A7"/>
                </a:solidFill>
                <a:latin typeface="Calibri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4630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Reinvention Services Launch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93392"/>
            <a:ext cx="512064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Sep 1 2025: Collapsed 5 BUs (Strategy, Technology, Operations, Song, Industry X) into one integrated 'Reinvention Services' unit — simpler sell, faster cross-service deals.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371600"/>
            <a:ext cx="5394960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1371600"/>
            <a:ext cx="5394960" cy="640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4630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C9A7"/>
                </a:solidFill>
                <a:latin typeface="Calibri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4630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$3B GenAI First-Mover Bet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993392"/>
            <a:ext cx="512064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Committed $3B to GenAI in FY2023. Result: $2.7B GenAI revenue in FY2025 (tripled YoY), $5.9B bookings. Fastest ramp of any new technology category in Accenture history.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566160"/>
            <a:ext cx="5394960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566160"/>
            <a:ext cx="5394960" cy="640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6576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C9A7"/>
                </a:solidFill>
                <a:latin typeface="Calibri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6576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Talent at 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187952"/>
            <a:ext cx="512064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Grew AI &amp; data staff from 40K to 77K in 2 years. 550,000+ employees trained in GenAI fundamentals. $1B invested in client upskilling platform + Udacity acquisition.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3566160"/>
            <a:ext cx="5394960" cy="1965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89320" y="3566160"/>
            <a:ext cx="5394960" cy="640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36576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C9A7"/>
                </a:solidFill>
                <a:latin typeface="Calibri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6576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Ecosystem #1 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187952"/>
            <a:ext cx="512064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No. 1 partner for all top 10 ecosystem partners (AWS, Azure, Google, SAP, Salesforce, etc.). 60% of FY25 revenue from ecosystem work, growing 9% — outpacing total revenue growth.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Accenture Market Intelligence Brief · June 2026 · Sources: Earnings, Everest Group, IoT Analytics, Exa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Competitive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AI consulting &amp; enterprise technology market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11247120" cy="685800"/>
          </a:xfrm>
          <a:prstGeom prst="roundRect">
            <a:avLst>
              <a:gd name="adj" fmla="val 6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4475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AI Consulting Market Context: Valued at $14B in 2024, projected to reach $630B+ by 2028. Tier 1 players (Accenture, IBM, Deloitte, Capgemini) hold 50–55% share. Accenture leads GenAI services with 7% share — first-mover advantage from $3B investment.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94560"/>
            <a:ext cx="11155680" cy="47548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Company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28600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286000"/>
            <a:ext cx="17830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GenAI Mkt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286000"/>
            <a:ext cx="3429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AI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286000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Analyst Tier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97480"/>
            <a:ext cx="11155680" cy="566928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788920"/>
            <a:ext cx="1938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Accenture 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788920"/>
            <a:ext cx="138988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$69.7B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788920"/>
            <a:ext cx="175564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788920"/>
            <a:ext cx="340156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Reinvention Services + AI Refinery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788920"/>
            <a:ext cx="202996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Leader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82696"/>
            <a:ext cx="111556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374136"/>
            <a:ext cx="1938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IBM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3374136"/>
            <a:ext cx="138988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$62.8B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374136"/>
            <a:ext cx="175564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3374136"/>
            <a:ext cx="340156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watsonx + Hybrid Cloud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374136"/>
            <a:ext cx="202996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Leader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867912"/>
            <a:ext cx="11155680" cy="56692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959352"/>
            <a:ext cx="1938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Deloitte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3959352"/>
            <a:ext cx="138988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~$65B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3959352"/>
            <a:ext cx="175564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3959352"/>
            <a:ext cx="340156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Deloitte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3959352"/>
            <a:ext cx="202996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Leader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453128"/>
            <a:ext cx="111556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544568"/>
            <a:ext cx="1938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PwC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68880" y="4544568"/>
            <a:ext cx="138988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~$55B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4544568"/>
            <a:ext cx="175564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&lt;1%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4544568"/>
            <a:ext cx="340156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PwC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4544568"/>
            <a:ext cx="202996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Major Contender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038344"/>
            <a:ext cx="11155680" cy="56692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129784"/>
            <a:ext cx="1938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Capgemini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5129784"/>
            <a:ext cx="138988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~$23B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31920" y="5129784"/>
            <a:ext cx="175564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&lt;1%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0" y="5129784"/>
            <a:ext cx="340156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AI Lab + partnerships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5129784"/>
            <a:ext cx="202996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Leader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623560"/>
            <a:ext cx="111556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715000"/>
            <a:ext cx="1938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McKinsey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68880" y="5715000"/>
            <a:ext cx="138988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~$16B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5715000"/>
            <a:ext cx="175564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&lt;1%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60720" y="5715000"/>
            <a:ext cx="340156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QuantumBlack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5715000"/>
            <a:ext cx="202996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Major Contender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Accenture Market Intelligence Brief · June 2026 · Sources: Earnings, Everest Group, IoT Analytics, Exa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Key Risks &amp; Headwinds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What could derail the thesis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5394960" cy="1965960"/>
          </a:xfrm>
          <a:prstGeom prst="roundRect">
            <a:avLst>
              <a:gd name="adj" fmla="val 7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365760" cy="19659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5394960" cy="54864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630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Premium Pricing Pressure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93392"/>
            <a:ext cx="475488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Client feedback: Accenture priced at premium vs peers. Cost-conscious mid-market enterprises may route to Deloitte, Capgemini, or offshore players.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371600"/>
            <a:ext cx="5394960" cy="1965960"/>
          </a:xfrm>
          <a:prstGeom prst="roundRect">
            <a:avLst>
              <a:gd name="adj" fmla="val 7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1371600"/>
            <a:ext cx="365760" cy="19659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1371600"/>
            <a:ext cx="539496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4630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US Federal Headwind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93392"/>
            <a:ext cx="475488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FY2026 guidance excludes 1–1.5% drag from US federal business contraction. Government consulting spend uncertainty is a notable near-term risk.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566160"/>
            <a:ext cx="5394960" cy="1965960"/>
          </a:xfrm>
          <a:prstGeom prst="roundRect">
            <a:avLst>
              <a:gd name="adj" fmla="val 7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566160"/>
            <a:ext cx="365760" cy="19659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66160"/>
            <a:ext cx="5394960" cy="54864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6576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Execution at 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187952"/>
            <a:ext cx="475488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6,000+ AI projects = massive delivery risk. Referenced clients flag project management gaps and timeline misalignment in some engagements.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3566160"/>
            <a:ext cx="5394960" cy="1965960"/>
          </a:xfrm>
          <a:prstGeom prst="roundRect">
            <a:avLst>
              <a:gd name="adj" fmla="val 7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89320" y="3566160"/>
            <a:ext cx="365760" cy="196596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89320" y="3566160"/>
            <a:ext cx="5394960" cy="54864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6576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Consulting vs Services Mix Shift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187952"/>
            <a:ext cx="475488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Managed Services growing faster (+9%) than Consulting (+6%). Higher managed services mix may compress margins over time.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Accenture Market Intelligence Brief · June 2026 · Sources: Earnings, Everest Group, IoT Analytics, Exa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Strategic Themes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Signal synthesis from market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5394960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91440" cy="2011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AI Revenue Is Real, Not Narrative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5120640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$2.7B GenAI revenue (tripled) + $5.9B bookings (nearly doubled) in FY2025. This is not PoC pipeline — it's delivered revenue. The $3B multi-year investment made in FY2023 is the highest-conviction AI bet by any consulting firm to date.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63240"/>
            <a:ext cx="5029200" cy="256032"/>
          </a:xfrm>
          <a:prstGeom prst="roundRect">
            <a:avLst>
              <a:gd name="adj" fmla="val 3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081528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$2.7B revenue · tripled YoY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371600"/>
            <a:ext cx="5394960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1371600"/>
            <a:ext cx="91440" cy="2011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46304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Reinvention Services = Simpler Cross-Sell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1965960"/>
            <a:ext cx="5120640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Collapsing 5 BUs into one 'Reinvention Services' unit (Sep 2025) reduces internal friction and speeds multi-service deal closure. 80% of large deals already multi-service. This org move is a revenue acceleration lever, not just a restructure.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063240"/>
            <a:ext cx="5029200" cy="256032"/>
          </a:xfrm>
          <a:prstGeom prst="roundRect">
            <a:avLst>
              <a:gd name="adj" fmla="val 3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3081528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80% of large deals are multi-service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611880"/>
            <a:ext cx="5394960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611880"/>
            <a:ext cx="91440" cy="2011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0332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Talent Scale Is The Moat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06240"/>
            <a:ext cx="5120640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77,000 AI &amp; data professionals + 550,000 GenAI-trained employees = Accenture can staff enterprise AI rollouts that no competitor can match at scale. The talent gap is the #1 barrier enterprises face — Accenture's core competency addresses it directly.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03520"/>
            <a:ext cx="5029200" cy="256032"/>
          </a:xfrm>
          <a:prstGeom prst="roundRect">
            <a:avLst>
              <a:gd name="adj" fmla="val 3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321808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77K AI staff · 550K trained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9320" y="3611880"/>
            <a:ext cx="5394960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3611880"/>
            <a:ext cx="91440" cy="2011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370332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Ecosystem Partnerships Drive 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206240"/>
            <a:ext cx="5120640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No. 1 partner for all top 10 tech ecosystem companies. 60% of revenue from ecosystem work (+9% YoY, outpacing total growth). This makes Accenture the implementation layer for every major tech platform — a structural advantage competitors can't easily replicate.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5303520"/>
            <a:ext cx="5029200" cy="256032"/>
          </a:xfrm>
          <a:prstGeom prst="roundRect">
            <a:avLst>
              <a:gd name="adj" fmla="val 3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5321808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60% ecosystem revenue · +9% YoY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Accenture Market Intelligence Brief · June 2026 · Sources: Earnings, Everest Group, IoT Analytics, Exa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0A1628"/>
                </a:solidFill>
                <a:latin typeface="Calibri"/>
              </a:rPr>
              <a:t>Strategic actions for teams tracking Accenture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25880"/>
            <a:ext cx="868680" cy="1005840"/>
          </a:xfrm>
          <a:prstGeom prst="roundRect">
            <a:avLst>
              <a:gd name="adj" fmla="val 7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81912"/>
            <a:ext cx="868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WATCH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25880"/>
            <a:ext cx="1024128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Monitor Reinvention Services deal velocity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8308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Q1 FY2026 earnings (Dec 2025): first full quarter under the new integrated BU. Watch whether large deal close rates accelerate. A rise in average deal size signals the org change is working.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468880"/>
            <a:ext cx="868680" cy="1005840"/>
          </a:xfrm>
          <a:prstGeom prst="roundRect">
            <a:avLst>
              <a:gd name="adj" fmla="val 7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724912"/>
            <a:ext cx="868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COMPETE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68880"/>
            <a:ext cx="1024128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Target their mid-market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Everest Group specifically flags Accenture's limited mid-market presence as a limitation. Competitors can take mid-market AI transformation mandates that Accenture is structurally less suited to serve cost-effectively.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611880"/>
            <a:ext cx="868680" cy="1005840"/>
          </a:xfrm>
          <a:prstGeom prst="roundRect">
            <a:avLst>
              <a:gd name="adj" fmla="val 7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867912"/>
            <a:ext cx="868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PARTNER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11880"/>
            <a:ext cx="1024128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Engage the ecosystem partnership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06908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60% of Accenture revenue flows through its top 10 ecosystem partners. For tech vendors wanting enterprise AI adoption, Accenture is the most efficient implementation channel — but partnership terms favor Accenture's scale.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754880"/>
            <a:ext cx="868680" cy="1005840"/>
          </a:xfrm>
          <a:prstGeom prst="roundRect">
            <a:avLst>
              <a:gd name="adj" fmla="val 7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5010912"/>
            <a:ext cx="868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TRACK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754880"/>
            <a:ext cx="1024128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Watch GenAI bookings trajectory vs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21208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$5.9B GenAI bookings vs $2.7B GenAI revenue = 2.2x book-to-bill on AI alone. This implies a large revenue ramp still ahead in FY2026/27 as bookings convert to revenue. Watch for deceleration signals.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Accenture Market Intelligence Brief · June 2026 · Sources: Earnings, Everest Group, IoT Analytics, Exa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