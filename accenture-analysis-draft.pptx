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09360"/>
            <a:ext cx="12191695" cy="54864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8229600" cy="1005840"/>
          </a:xfrm>
          <a:prstGeom prst="rect">
            <a:avLst/>
          </a:prstGeom>
          <a:noFill/>
        </p:spPr>
        <p:txBody>
          <a:bodyPr wrap="square" anchor="t" lIns="0" rIns="0" tIns="0" bIns="0">
            <a:noAutofit/>
          </a:bodyPr>
          <a:lstStyle/>
          <a:p>
            <a:pPr algn="l">
              <a:lnSpc>
                <a:spcPct val="105000"/>
              </a:lnSpc>
              <a:spcBef>
                <a:spcPts val="0"/>
              </a:spcBef>
            </a:pPr>
            <a:r>
              <a:rPr sz="5200" b="1" i="0">
                <a:solidFill>
                  <a:srgbClr val="FFFFFF"/>
                </a:solidFill>
                <a:latin typeface="Calibri"/>
              </a:rPr>
              <a:t>ACCENTURE</a:t>
            </a:r>
          </a:p>
        </p:txBody>
      </p:sp>
      <p:sp>
        <p:nvSpPr>
          <p:cNvPr id="6" name="TextBox 5"/>
          <p:cNvSpPr txBox="1"/>
          <p:nvPr/>
        </p:nvSpPr>
        <p:spPr>
          <a:xfrm>
            <a:off x="640080" y="1920240"/>
            <a:ext cx="7315200" cy="411480"/>
          </a:xfrm>
          <a:prstGeom prst="rect">
            <a:avLst/>
          </a:prstGeom>
          <a:noFill/>
        </p:spPr>
        <p:txBody>
          <a:bodyPr wrap="square" anchor="t" lIns="0" rIns="0" tIns="0" bIns="0">
            <a:noAutofit/>
          </a:bodyPr>
          <a:lstStyle/>
          <a:p>
            <a:pPr algn="l">
              <a:lnSpc>
                <a:spcPct val="105000"/>
              </a:lnSpc>
              <a:spcBef>
                <a:spcPts val="0"/>
              </a:spcBef>
            </a:pPr>
            <a:r>
              <a:rPr sz="1400" b="1" i="0">
                <a:solidFill>
                  <a:srgbClr val="00C9A7"/>
                </a:solidFill>
                <a:latin typeface="Calibri"/>
              </a:rPr>
              <a:t>COMPETITIVE INTELLIGENCE BRIEF</a:t>
            </a:r>
          </a:p>
        </p:txBody>
      </p:sp>
      <p:sp>
        <p:nvSpPr>
          <p:cNvPr id="7" name="TextBox 6"/>
          <p:cNvSpPr txBox="1"/>
          <p:nvPr/>
        </p:nvSpPr>
        <p:spPr>
          <a:xfrm>
            <a:off x="640080" y="2377440"/>
            <a:ext cx="8229600" cy="365760"/>
          </a:xfrm>
          <a:prstGeom prst="rect">
            <a:avLst/>
          </a:prstGeom>
          <a:noFill/>
        </p:spPr>
        <p:txBody>
          <a:bodyPr wrap="square" anchor="t" lIns="0" rIns="0" tIns="0" bIns="0">
            <a:noAutofit/>
          </a:bodyPr>
          <a:lstStyle/>
          <a:p>
            <a:pPr algn="l">
              <a:lnSpc>
                <a:spcPct val="105000"/>
              </a:lnSpc>
              <a:spcBef>
                <a:spcPts val="0"/>
              </a:spcBef>
            </a:pPr>
            <a:r>
              <a:rPr sz="1300" b="0" i="0">
                <a:solidFill>
                  <a:srgbClr val="5B6B7C"/>
                </a:solidFill>
                <a:latin typeface="Calibri"/>
              </a:rPr>
              <a:t>Technology Strategy · Financial Performance · Open-Source Footprint</a:t>
            </a:r>
          </a:p>
        </p:txBody>
      </p:sp>
      <p:sp>
        <p:nvSpPr>
          <p:cNvPr id="8" name="Rounded Rectangle 7"/>
          <p:cNvSpPr/>
          <p:nvPr/>
        </p:nvSpPr>
        <p:spPr>
          <a:xfrm>
            <a:off x="640080" y="3840480"/>
            <a:ext cx="2651760" cy="1371600"/>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977639"/>
            <a:ext cx="2468880" cy="640080"/>
          </a:xfrm>
          <a:prstGeom prst="rect">
            <a:avLst/>
          </a:prstGeom>
          <a:noFill/>
        </p:spPr>
        <p:txBody>
          <a:bodyPr wrap="square" anchor="t" lIns="0" rIns="0" tIns="0" bIns="0">
            <a:noAutofit/>
          </a:bodyPr>
          <a:lstStyle/>
          <a:p>
            <a:pPr algn="l">
              <a:lnSpc>
                <a:spcPct val="105000"/>
              </a:lnSpc>
              <a:spcBef>
                <a:spcPts val="0"/>
              </a:spcBef>
            </a:pPr>
            <a:r>
              <a:rPr sz="3000" b="1" i="0">
                <a:solidFill>
                  <a:srgbClr val="00C9A7"/>
                </a:solidFill>
                <a:latin typeface="Calibri"/>
              </a:rPr>
              <a:t>$69.7B</a:t>
            </a:r>
          </a:p>
        </p:txBody>
      </p:sp>
      <p:sp>
        <p:nvSpPr>
          <p:cNvPr id="10" name="TextBox 9"/>
          <p:cNvSpPr txBox="1"/>
          <p:nvPr/>
        </p:nvSpPr>
        <p:spPr>
          <a:xfrm>
            <a:off x="731520" y="4572000"/>
            <a:ext cx="2468880" cy="320040"/>
          </a:xfrm>
          <a:prstGeom prst="rect">
            <a:avLst/>
          </a:prstGeom>
          <a:noFill/>
        </p:spPr>
        <p:txBody>
          <a:bodyPr wrap="square" anchor="t" lIns="0" rIns="0" tIns="0" bIns="0">
            <a:noAutofit/>
          </a:bodyPr>
          <a:lstStyle/>
          <a:p>
            <a:pPr algn="l">
              <a:lnSpc>
                <a:spcPct val="105000"/>
              </a:lnSpc>
              <a:spcBef>
                <a:spcPts val="0"/>
              </a:spcBef>
            </a:pPr>
            <a:r>
              <a:rPr sz="1100" b="0" i="0">
                <a:solidFill>
                  <a:srgbClr val="5B6B7C"/>
                </a:solidFill>
                <a:latin typeface="Calibri"/>
              </a:rPr>
              <a:t>FY2025 Revenue</a:t>
            </a:r>
          </a:p>
        </p:txBody>
      </p:sp>
      <p:sp>
        <p:nvSpPr>
          <p:cNvPr id="11" name="Rounded Rectangle 10"/>
          <p:cNvSpPr/>
          <p:nvPr/>
        </p:nvSpPr>
        <p:spPr>
          <a:xfrm>
            <a:off x="3429000" y="3840480"/>
            <a:ext cx="2651760" cy="1371600"/>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3977639"/>
            <a:ext cx="2468880" cy="640080"/>
          </a:xfrm>
          <a:prstGeom prst="rect">
            <a:avLst/>
          </a:prstGeom>
          <a:noFill/>
        </p:spPr>
        <p:txBody>
          <a:bodyPr wrap="square" anchor="t" lIns="0" rIns="0" tIns="0" bIns="0">
            <a:noAutofit/>
          </a:bodyPr>
          <a:lstStyle/>
          <a:p>
            <a:pPr algn="l">
              <a:lnSpc>
                <a:spcPct val="105000"/>
              </a:lnSpc>
              <a:spcBef>
                <a:spcPts val="0"/>
              </a:spcBef>
            </a:pPr>
            <a:r>
              <a:rPr sz="3000" b="1" i="0">
                <a:solidFill>
                  <a:srgbClr val="00C9A7"/>
                </a:solidFill>
                <a:latin typeface="Calibri"/>
              </a:rPr>
              <a:t>+7.4%</a:t>
            </a:r>
          </a:p>
        </p:txBody>
      </p:sp>
      <p:sp>
        <p:nvSpPr>
          <p:cNvPr id="13" name="TextBox 12"/>
          <p:cNvSpPr txBox="1"/>
          <p:nvPr/>
        </p:nvSpPr>
        <p:spPr>
          <a:xfrm>
            <a:off x="3520440" y="4572000"/>
            <a:ext cx="2468880" cy="320040"/>
          </a:xfrm>
          <a:prstGeom prst="rect">
            <a:avLst/>
          </a:prstGeom>
          <a:noFill/>
        </p:spPr>
        <p:txBody>
          <a:bodyPr wrap="square" anchor="t" lIns="0" rIns="0" tIns="0" bIns="0">
            <a:noAutofit/>
          </a:bodyPr>
          <a:lstStyle/>
          <a:p>
            <a:pPr algn="l">
              <a:lnSpc>
                <a:spcPct val="105000"/>
              </a:lnSpc>
              <a:spcBef>
                <a:spcPts val="0"/>
              </a:spcBef>
            </a:pPr>
            <a:r>
              <a:rPr sz="1100" b="0" i="0">
                <a:solidFill>
                  <a:srgbClr val="5B6B7C"/>
                </a:solidFill>
                <a:latin typeface="Calibri"/>
              </a:rPr>
              <a:t>YoY Growth</a:t>
            </a:r>
          </a:p>
        </p:txBody>
      </p:sp>
      <p:sp>
        <p:nvSpPr>
          <p:cNvPr id="14" name="Rounded Rectangle 13"/>
          <p:cNvSpPr/>
          <p:nvPr/>
        </p:nvSpPr>
        <p:spPr>
          <a:xfrm>
            <a:off x="6217920" y="3840480"/>
            <a:ext cx="2651760" cy="1371600"/>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3977639"/>
            <a:ext cx="2468880" cy="640080"/>
          </a:xfrm>
          <a:prstGeom prst="rect">
            <a:avLst/>
          </a:prstGeom>
          <a:noFill/>
        </p:spPr>
        <p:txBody>
          <a:bodyPr wrap="square" anchor="t" lIns="0" rIns="0" tIns="0" bIns="0">
            <a:noAutofit/>
          </a:bodyPr>
          <a:lstStyle/>
          <a:p>
            <a:pPr algn="l">
              <a:lnSpc>
                <a:spcPct val="105000"/>
              </a:lnSpc>
              <a:spcBef>
                <a:spcPts val="0"/>
              </a:spcBef>
            </a:pPr>
            <a:r>
              <a:rPr sz="3000" b="1" i="0">
                <a:solidFill>
                  <a:srgbClr val="00C9A7"/>
                </a:solidFill>
                <a:latin typeface="Calibri"/>
              </a:rPr>
              <a:t>223</a:t>
            </a:r>
          </a:p>
        </p:txBody>
      </p:sp>
      <p:sp>
        <p:nvSpPr>
          <p:cNvPr id="16" name="TextBox 15"/>
          <p:cNvSpPr txBox="1"/>
          <p:nvPr/>
        </p:nvSpPr>
        <p:spPr>
          <a:xfrm>
            <a:off x="6309360" y="4572000"/>
            <a:ext cx="2468880" cy="320040"/>
          </a:xfrm>
          <a:prstGeom prst="rect">
            <a:avLst/>
          </a:prstGeom>
          <a:noFill/>
        </p:spPr>
        <p:txBody>
          <a:bodyPr wrap="square" anchor="t" lIns="0" rIns="0" tIns="0" bIns="0">
            <a:noAutofit/>
          </a:bodyPr>
          <a:lstStyle/>
          <a:p>
            <a:pPr algn="l">
              <a:lnSpc>
                <a:spcPct val="105000"/>
              </a:lnSpc>
              <a:spcBef>
                <a:spcPts val="0"/>
              </a:spcBef>
            </a:pPr>
            <a:r>
              <a:rPr sz="1100" b="0" i="0">
                <a:solidFill>
                  <a:srgbClr val="5B6B7C"/>
                </a:solidFill>
                <a:latin typeface="Calibri"/>
              </a:rPr>
              <a:t>GitHub Repos</a:t>
            </a:r>
          </a:p>
        </p:txBody>
      </p:sp>
      <p:sp>
        <p:nvSpPr>
          <p:cNvPr id="17" name="Rounded Rectangle 16"/>
          <p:cNvSpPr/>
          <p:nvPr/>
        </p:nvSpPr>
        <p:spPr>
          <a:xfrm>
            <a:off x="9006840" y="3840480"/>
            <a:ext cx="2651760" cy="1371600"/>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280" y="3977639"/>
            <a:ext cx="2468880" cy="640080"/>
          </a:xfrm>
          <a:prstGeom prst="rect">
            <a:avLst/>
          </a:prstGeom>
          <a:noFill/>
        </p:spPr>
        <p:txBody>
          <a:bodyPr wrap="square" anchor="t" lIns="0" rIns="0" tIns="0" bIns="0">
            <a:noAutofit/>
          </a:bodyPr>
          <a:lstStyle/>
          <a:p>
            <a:pPr algn="l">
              <a:lnSpc>
                <a:spcPct val="105000"/>
              </a:lnSpc>
              <a:spcBef>
                <a:spcPts val="0"/>
              </a:spcBef>
            </a:pPr>
            <a:r>
              <a:rPr sz="3000" b="1" i="0">
                <a:solidFill>
                  <a:srgbClr val="00C9A7"/>
                </a:solidFill>
                <a:latin typeface="Calibri"/>
              </a:rPr>
              <a:t>10,027</a:t>
            </a:r>
          </a:p>
        </p:txBody>
      </p:sp>
      <p:sp>
        <p:nvSpPr>
          <p:cNvPr id="19" name="TextBox 18"/>
          <p:cNvSpPr txBox="1"/>
          <p:nvPr/>
        </p:nvSpPr>
        <p:spPr>
          <a:xfrm>
            <a:off x="9098280" y="4572000"/>
            <a:ext cx="2468880" cy="320040"/>
          </a:xfrm>
          <a:prstGeom prst="rect">
            <a:avLst/>
          </a:prstGeom>
          <a:noFill/>
        </p:spPr>
        <p:txBody>
          <a:bodyPr wrap="square" anchor="t" lIns="0" rIns="0" tIns="0" bIns="0">
            <a:noAutofit/>
          </a:bodyPr>
          <a:lstStyle/>
          <a:p>
            <a:pPr algn="l">
              <a:lnSpc>
                <a:spcPct val="105000"/>
              </a:lnSpc>
              <a:spcBef>
                <a:spcPts val="0"/>
              </a:spcBef>
            </a:pPr>
            <a:r>
              <a:rPr sz="1100" b="0" i="0">
                <a:solidFill>
                  <a:srgbClr val="5B6B7C"/>
                </a:solidFill>
                <a:latin typeface="Calibri"/>
              </a:rPr>
              <a:t>Total Stars</a:t>
            </a:r>
          </a:p>
        </p:txBody>
      </p:sp>
      <p:sp>
        <p:nvSpPr>
          <p:cNvPr id="20" name="TextBox 19"/>
          <p:cNvSpPr txBox="1"/>
          <p:nvPr/>
        </p:nvSpPr>
        <p:spPr>
          <a:xfrm>
            <a:off x="640080" y="6400800"/>
            <a:ext cx="914400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June 2026 · Data from SEC EDGAR, GitHub API, Exa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At a Glance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ACCENTURE · Live Data — June 2026</a:t>
            </a:r>
          </a:p>
        </p:txBody>
      </p:sp>
      <p:sp>
        <p:nvSpPr>
          <p:cNvPr id="7" name="Rounded Rectangle 6"/>
          <p:cNvSpPr/>
          <p:nvPr/>
        </p:nvSpPr>
        <p:spPr>
          <a:xfrm>
            <a:off x="502920" y="1417320"/>
            <a:ext cx="5303520"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17320"/>
            <a:ext cx="109728" cy="17373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554480"/>
            <a:ext cx="5029200" cy="822960"/>
          </a:xfrm>
          <a:prstGeom prst="rect">
            <a:avLst/>
          </a:prstGeom>
          <a:noFill/>
        </p:spPr>
        <p:txBody>
          <a:bodyPr wrap="square" anchor="t" lIns="0" rIns="0" tIns="0" bIns="0">
            <a:noAutofit/>
          </a:bodyPr>
          <a:lstStyle/>
          <a:p>
            <a:pPr algn="l">
              <a:lnSpc>
                <a:spcPct val="105000"/>
              </a:lnSpc>
              <a:spcBef>
                <a:spcPts val="0"/>
              </a:spcBef>
            </a:pPr>
            <a:r>
              <a:rPr sz="3600" b="1" i="0">
                <a:solidFill>
                  <a:srgbClr val="1B2B3C"/>
                </a:solidFill>
                <a:latin typeface="Calibri"/>
              </a:rPr>
              <a:t>$69.7B</a:t>
            </a:r>
          </a:p>
        </p:txBody>
      </p:sp>
      <p:sp>
        <p:nvSpPr>
          <p:cNvPr id="10" name="TextBox 9"/>
          <p:cNvSpPr txBox="1"/>
          <p:nvPr/>
        </p:nvSpPr>
        <p:spPr>
          <a:xfrm>
            <a:off x="731520" y="2377440"/>
            <a:ext cx="502920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FY2025 Revenue</a:t>
            </a:r>
          </a:p>
        </p:txBody>
      </p:sp>
      <p:sp>
        <p:nvSpPr>
          <p:cNvPr id="11" name="TextBox 10"/>
          <p:cNvSpPr txBox="1"/>
          <p:nvPr/>
        </p:nvSpPr>
        <p:spPr>
          <a:xfrm>
            <a:off x="731520" y="2715768"/>
            <a:ext cx="502920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+7.4% vs prior year</a:t>
            </a:r>
          </a:p>
        </p:txBody>
      </p:sp>
      <p:sp>
        <p:nvSpPr>
          <p:cNvPr id="12" name="Rounded Rectangle 11"/>
          <p:cNvSpPr/>
          <p:nvPr/>
        </p:nvSpPr>
        <p:spPr>
          <a:xfrm>
            <a:off x="6035040" y="1417320"/>
            <a:ext cx="5303520"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40" y="1417320"/>
            <a:ext cx="109728" cy="17373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1554480"/>
            <a:ext cx="5029200" cy="822960"/>
          </a:xfrm>
          <a:prstGeom prst="rect">
            <a:avLst/>
          </a:prstGeom>
          <a:noFill/>
        </p:spPr>
        <p:txBody>
          <a:bodyPr wrap="square" anchor="t" lIns="0" rIns="0" tIns="0" bIns="0">
            <a:noAutofit/>
          </a:bodyPr>
          <a:lstStyle/>
          <a:p>
            <a:pPr algn="l">
              <a:lnSpc>
                <a:spcPct val="105000"/>
              </a:lnSpc>
              <a:spcBef>
                <a:spcPts val="0"/>
              </a:spcBef>
            </a:pPr>
            <a:r>
              <a:rPr sz="3600" b="1" i="0">
                <a:solidFill>
                  <a:srgbClr val="1B2B3C"/>
                </a:solidFill>
                <a:latin typeface="Calibri"/>
              </a:rPr>
              <a:t>$7.7B</a:t>
            </a:r>
          </a:p>
        </p:txBody>
      </p:sp>
      <p:sp>
        <p:nvSpPr>
          <p:cNvPr id="15" name="TextBox 14"/>
          <p:cNvSpPr txBox="1"/>
          <p:nvPr/>
        </p:nvSpPr>
        <p:spPr>
          <a:xfrm>
            <a:off x="6263640" y="2377440"/>
            <a:ext cx="502920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Net Income</a:t>
            </a:r>
          </a:p>
        </p:txBody>
      </p:sp>
      <p:sp>
        <p:nvSpPr>
          <p:cNvPr id="16" name="TextBox 15"/>
          <p:cNvSpPr txBox="1"/>
          <p:nvPr/>
        </p:nvSpPr>
        <p:spPr>
          <a:xfrm>
            <a:off x="6263640" y="2715768"/>
            <a:ext cx="502920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Annual from EDGAR 10-K</a:t>
            </a:r>
          </a:p>
        </p:txBody>
      </p:sp>
      <p:sp>
        <p:nvSpPr>
          <p:cNvPr id="17" name="Rounded Rectangle 16"/>
          <p:cNvSpPr/>
          <p:nvPr/>
        </p:nvSpPr>
        <p:spPr>
          <a:xfrm>
            <a:off x="502920" y="3383280"/>
            <a:ext cx="5303520"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3383280"/>
            <a:ext cx="109728" cy="17373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520440"/>
            <a:ext cx="5029200" cy="822960"/>
          </a:xfrm>
          <a:prstGeom prst="rect">
            <a:avLst/>
          </a:prstGeom>
          <a:noFill/>
        </p:spPr>
        <p:txBody>
          <a:bodyPr wrap="square" anchor="t" lIns="0" rIns="0" tIns="0" bIns="0">
            <a:noAutofit/>
          </a:bodyPr>
          <a:lstStyle/>
          <a:p>
            <a:pPr algn="l">
              <a:lnSpc>
                <a:spcPct val="105000"/>
              </a:lnSpc>
              <a:spcBef>
                <a:spcPts val="0"/>
              </a:spcBef>
            </a:pPr>
            <a:r>
              <a:rPr sz="3600" b="1" i="0">
                <a:solidFill>
                  <a:srgbClr val="1B2B3C"/>
                </a:solidFill>
                <a:latin typeface="Calibri"/>
              </a:rPr>
              <a:t>223</a:t>
            </a:r>
          </a:p>
        </p:txBody>
      </p:sp>
      <p:sp>
        <p:nvSpPr>
          <p:cNvPr id="20" name="TextBox 19"/>
          <p:cNvSpPr txBox="1"/>
          <p:nvPr/>
        </p:nvSpPr>
        <p:spPr>
          <a:xfrm>
            <a:off x="731520" y="4343400"/>
            <a:ext cx="502920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GitHub Repos</a:t>
            </a:r>
          </a:p>
        </p:txBody>
      </p:sp>
      <p:sp>
        <p:nvSpPr>
          <p:cNvPr id="21" name="TextBox 20"/>
          <p:cNvSpPr txBox="1"/>
          <p:nvPr/>
        </p:nvSpPr>
        <p:spPr>
          <a:xfrm>
            <a:off x="731520" y="4681728"/>
            <a:ext cx="502920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Org: Accenture</a:t>
            </a:r>
          </a:p>
        </p:txBody>
      </p:sp>
      <p:sp>
        <p:nvSpPr>
          <p:cNvPr id="22" name="Rounded Rectangle 21"/>
          <p:cNvSpPr/>
          <p:nvPr/>
        </p:nvSpPr>
        <p:spPr>
          <a:xfrm>
            <a:off x="6035040" y="3383280"/>
            <a:ext cx="5303520"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35040" y="3383280"/>
            <a:ext cx="109728" cy="17373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3520440"/>
            <a:ext cx="5029200" cy="822960"/>
          </a:xfrm>
          <a:prstGeom prst="rect">
            <a:avLst/>
          </a:prstGeom>
          <a:noFill/>
        </p:spPr>
        <p:txBody>
          <a:bodyPr wrap="square" anchor="t" lIns="0" rIns="0" tIns="0" bIns="0">
            <a:noAutofit/>
          </a:bodyPr>
          <a:lstStyle/>
          <a:p>
            <a:pPr algn="l">
              <a:lnSpc>
                <a:spcPct val="105000"/>
              </a:lnSpc>
              <a:spcBef>
                <a:spcPts val="0"/>
              </a:spcBef>
            </a:pPr>
            <a:r>
              <a:rPr sz="3600" b="1" i="0">
                <a:solidFill>
                  <a:srgbClr val="1B2B3C"/>
                </a:solidFill>
                <a:latin typeface="Calibri"/>
              </a:rPr>
              <a:t>10,027</a:t>
            </a:r>
          </a:p>
        </p:txBody>
      </p:sp>
      <p:sp>
        <p:nvSpPr>
          <p:cNvPr id="25" name="TextBox 24"/>
          <p:cNvSpPr txBox="1"/>
          <p:nvPr/>
        </p:nvSpPr>
        <p:spPr>
          <a:xfrm>
            <a:off x="6263640" y="4343400"/>
            <a:ext cx="502920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C9A7"/>
                </a:solidFill>
                <a:latin typeface="Calibri"/>
              </a:rPr>
              <a:t>Total Stars</a:t>
            </a:r>
          </a:p>
        </p:txBody>
      </p:sp>
      <p:sp>
        <p:nvSpPr>
          <p:cNvPr id="26" name="TextBox 25"/>
          <p:cNvSpPr txBox="1"/>
          <p:nvPr/>
        </p:nvSpPr>
        <p:spPr>
          <a:xfrm>
            <a:off x="6263640" y="4681728"/>
            <a:ext cx="502920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Community engagement index</a:t>
            </a:r>
          </a:p>
        </p:txBody>
      </p:sp>
      <p:sp>
        <p:nvSpPr>
          <p:cNvPr id="27" name="TextBox 2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Competitive Intelligence · June 2026 · Built from live pipeline data</a:t>
            </a:r>
          </a:p>
        </p:txBody>
      </p:sp>
      <p:sp>
        <p:nvSpPr>
          <p:cNvPr id="28" name="TextBox 2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Financial Performance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Revenue trajectory (SEC EDGAR XBRL)</a:t>
            </a:r>
          </a:p>
        </p:txBody>
      </p:sp>
      <p:pic>
        <p:nvPicPr>
          <p:cNvPr id="7" name="Picture 6" descr="rev_chart.png"/>
          <p:cNvPicPr>
            <a:picLocks noChangeAspect="1"/>
          </p:cNvPicPr>
          <p:nvPr/>
        </p:nvPicPr>
        <p:blipFill>
          <a:blip r:embed="rId2"/>
          <a:stretch>
            <a:fillRect/>
          </a:stretch>
        </p:blipFill>
        <p:spPr>
          <a:xfrm>
            <a:off x="1752447" y="1371600"/>
            <a:ext cx="8686800" cy="3793561"/>
          </a:xfrm>
          <a:prstGeom prst="rect">
            <a:avLst/>
          </a:prstGeom>
        </p:spPr>
      </p:pic>
      <p:sp>
        <p:nvSpPr>
          <p:cNvPr id="8" name="TextBox 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Competitive Intelligence · June 2026 · Built from live pipeline data</a:t>
            </a:r>
          </a:p>
        </p:txBody>
      </p:sp>
      <p:sp>
        <p:nvSpPr>
          <p:cNvPr id="9" name="TextBox 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GitHub Technical Footprint</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Open-source presence &amp; community engagement</a:t>
            </a:r>
          </a:p>
        </p:txBody>
      </p:sp>
      <p:sp>
        <p:nvSpPr>
          <p:cNvPr id="7" name="Rounded Rectangle 6"/>
          <p:cNvSpPr/>
          <p:nvPr/>
        </p:nvSpPr>
        <p:spPr>
          <a:xfrm>
            <a:off x="365760" y="1371600"/>
            <a:ext cx="6583680" cy="4572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508760"/>
            <a:ext cx="6400800" cy="320040"/>
          </a:xfrm>
          <a:prstGeom prst="rect">
            <a:avLst/>
          </a:prstGeom>
          <a:noFill/>
        </p:spPr>
        <p:txBody>
          <a:bodyPr wrap="square" anchor="t" lIns="0" rIns="0" tIns="0" bIns="0">
            <a:noAutofit/>
          </a:bodyPr>
          <a:lstStyle/>
          <a:p>
            <a:pPr algn="l">
              <a:lnSpc>
                <a:spcPct val="105000"/>
              </a:lnSpc>
              <a:spcBef>
                <a:spcPts val="0"/>
              </a:spcBef>
            </a:pPr>
            <a:r>
              <a:rPr sz="1100" b="1" i="0">
                <a:solidFill>
                  <a:srgbClr val="00C9A7"/>
                </a:solidFill>
                <a:latin typeface="Calibri"/>
              </a:rPr>
              <a:t>TOP REPOSITORIES BY STARS</a:t>
            </a:r>
          </a:p>
        </p:txBody>
      </p:sp>
      <p:sp>
        <p:nvSpPr>
          <p:cNvPr id="9" name="TextBox 8"/>
          <p:cNvSpPr txBox="1"/>
          <p:nvPr/>
        </p:nvSpPr>
        <p:spPr>
          <a:xfrm>
            <a:off x="502920" y="1920240"/>
            <a:ext cx="1005840" cy="411480"/>
          </a:xfrm>
          <a:prstGeom prst="rect">
            <a:avLst/>
          </a:prstGeom>
          <a:noFill/>
        </p:spPr>
        <p:txBody>
          <a:bodyPr wrap="square" anchor="t" lIns="0" rIns="0" tIns="0" bIns="0">
            <a:noAutofit/>
          </a:bodyPr>
          <a:lstStyle/>
          <a:p>
            <a:pPr algn="l">
              <a:lnSpc>
                <a:spcPct val="105000"/>
              </a:lnSpc>
              <a:spcBef>
                <a:spcPts val="0"/>
              </a:spcBef>
            </a:pPr>
            <a:r>
              <a:rPr sz="1100" b="1" i="0">
                <a:solidFill>
                  <a:srgbClr val="FFB800"/>
                </a:solidFill>
                <a:latin typeface="Calibri"/>
              </a:rPr>
              <a:t>★ 2,237</a:t>
            </a:r>
          </a:p>
        </p:txBody>
      </p:sp>
      <p:sp>
        <p:nvSpPr>
          <p:cNvPr id="10" name="TextBox 9"/>
          <p:cNvSpPr txBox="1"/>
          <p:nvPr/>
        </p:nvSpPr>
        <p:spPr>
          <a:xfrm>
            <a:off x="1554480" y="1920240"/>
            <a:ext cx="3200400" cy="411480"/>
          </a:xfrm>
          <a:prstGeom prst="rect">
            <a:avLst/>
          </a:prstGeom>
          <a:noFill/>
        </p:spPr>
        <p:txBody>
          <a:bodyPr wrap="square" anchor="t" lIns="0" rIns="0" tIns="0" bIns="0">
            <a:noAutofit/>
          </a:bodyPr>
          <a:lstStyle/>
          <a:p>
            <a:pPr algn="l">
              <a:lnSpc>
                <a:spcPct val="105000"/>
              </a:lnSpc>
              <a:spcBef>
                <a:spcPts val="0"/>
              </a:spcBef>
            </a:pPr>
            <a:r>
              <a:rPr sz="1100" b="1" i="0">
                <a:solidFill>
                  <a:srgbClr val="1B2B3C"/>
                </a:solidFill>
                <a:latin typeface="Calibri"/>
              </a:rPr>
              <a:t>AmpliGraph</a:t>
            </a:r>
          </a:p>
        </p:txBody>
      </p:sp>
      <p:sp>
        <p:nvSpPr>
          <p:cNvPr id="11" name="TextBox 10"/>
          <p:cNvSpPr txBox="1"/>
          <p:nvPr/>
        </p:nvSpPr>
        <p:spPr>
          <a:xfrm>
            <a:off x="1554480" y="2148840"/>
            <a:ext cx="4114800" cy="256032"/>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Python library for Representation Learning on Knowledge…</a:t>
            </a:r>
          </a:p>
        </p:txBody>
      </p:sp>
      <p:sp>
        <p:nvSpPr>
          <p:cNvPr id="12" name="TextBox 11"/>
          <p:cNvSpPr txBox="1"/>
          <p:nvPr/>
        </p:nvSpPr>
        <p:spPr>
          <a:xfrm>
            <a:off x="5760720" y="1920240"/>
            <a:ext cx="1005840" cy="4114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2024-11-22</a:t>
            </a:r>
          </a:p>
        </p:txBody>
      </p:sp>
      <p:sp>
        <p:nvSpPr>
          <p:cNvPr id="13" name="TextBox 12"/>
          <p:cNvSpPr txBox="1"/>
          <p:nvPr/>
        </p:nvSpPr>
        <p:spPr>
          <a:xfrm>
            <a:off x="502920" y="2432304"/>
            <a:ext cx="1005840" cy="411480"/>
          </a:xfrm>
          <a:prstGeom prst="rect">
            <a:avLst/>
          </a:prstGeom>
          <a:noFill/>
        </p:spPr>
        <p:txBody>
          <a:bodyPr wrap="square" anchor="t" lIns="0" rIns="0" tIns="0" bIns="0">
            <a:noAutofit/>
          </a:bodyPr>
          <a:lstStyle/>
          <a:p>
            <a:pPr algn="l">
              <a:lnSpc>
                <a:spcPct val="105000"/>
              </a:lnSpc>
              <a:spcBef>
                <a:spcPts val="0"/>
              </a:spcBef>
            </a:pPr>
            <a:r>
              <a:rPr sz="1100" b="0" i="0">
                <a:solidFill>
                  <a:srgbClr val="5B6B7C"/>
                </a:solidFill>
                <a:latin typeface="Calibri"/>
              </a:rPr>
              <a:t>★ 1,083</a:t>
            </a:r>
          </a:p>
        </p:txBody>
      </p:sp>
      <p:sp>
        <p:nvSpPr>
          <p:cNvPr id="14" name="TextBox 13"/>
          <p:cNvSpPr txBox="1"/>
          <p:nvPr/>
        </p:nvSpPr>
        <p:spPr>
          <a:xfrm>
            <a:off x="1554480" y="2432304"/>
            <a:ext cx="3200400" cy="411480"/>
          </a:xfrm>
          <a:prstGeom prst="rect">
            <a:avLst/>
          </a:prstGeom>
          <a:noFill/>
        </p:spPr>
        <p:txBody>
          <a:bodyPr wrap="square" anchor="t" lIns="0" rIns="0" tIns="0" bIns="0">
            <a:noAutofit/>
          </a:bodyPr>
          <a:lstStyle/>
          <a:p>
            <a:pPr algn="l">
              <a:lnSpc>
                <a:spcPct val="105000"/>
              </a:lnSpc>
              <a:spcBef>
                <a:spcPts val="0"/>
              </a:spcBef>
            </a:pPr>
            <a:r>
              <a:rPr sz="1100" b="1" i="0">
                <a:solidFill>
                  <a:srgbClr val="1B2B3C"/>
                </a:solidFill>
                <a:latin typeface="Calibri"/>
              </a:rPr>
              <a:t>Spartacus</a:t>
            </a:r>
          </a:p>
        </p:txBody>
      </p:sp>
      <p:sp>
        <p:nvSpPr>
          <p:cNvPr id="15" name="TextBox 14"/>
          <p:cNvSpPr txBox="1"/>
          <p:nvPr/>
        </p:nvSpPr>
        <p:spPr>
          <a:xfrm>
            <a:off x="1554480" y="2660904"/>
            <a:ext cx="4114800" cy="256032"/>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Spartacus DLL/COM Hijacking Toolkit</a:t>
            </a:r>
          </a:p>
        </p:txBody>
      </p:sp>
      <p:sp>
        <p:nvSpPr>
          <p:cNvPr id="16" name="TextBox 15"/>
          <p:cNvSpPr txBox="1"/>
          <p:nvPr/>
        </p:nvSpPr>
        <p:spPr>
          <a:xfrm>
            <a:off x="5760720" y="2432304"/>
            <a:ext cx="1005840" cy="4114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2024-02-01</a:t>
            </a:r>
          </a:p>
        </p:txBody>
      </p:sp>
      <p:sp>
        <p:nvSpPr>
          <p:cNvPr id="17" name="TextBox 16"/>
          <p:cNvSpPr txBox="1"/>
          <p:nvPr/>
        </p:nvSpPr>
        <p:spPr>
          <a:xfrm>
            <a:off x="502920" y="2944368"/>
            <a:ext cx="1005840" cy="411480"/>
          </a:xfrm>
          <a:prstGeom prst="rect">
            <a:avLst/>
          </a:prstGeom>
          <a:noFill/>
        </p:spPr>
        <p:txBody>
          <a:bodyPr wrap="square" anchor="t" lIns="0" rIns="0" tIns="0" bIns="0">
            <a:noAutofit/>
          </a:bodyPr>
          <a:lstStyle/>
          <a:p>
            <a:pPr algn="l">
              <a:lnSpc>
                <a:spcPct val="105000"/>
              </a:lnSpc>
              <a:spcBef>
                <a:spcPts val="0"/>
              </a:spcBef>
            </a:pPr>
            <a:r>
              <a:rPr sz="1100" b="0" i="0">
                <a:solidFill>
                  <a:srgbClr val="5B6B7C"/>
                </a:solidFill>
                <a:latin typeface="Calibri"/>
              </a:rPr>
              <a:t>★ 766</a:t>
            </a:r>
          </a:p>
        </p:txBody>
      </p:sp>
      <p:sp>
        <p:nvSpPr>
          <p:cNvPr id="18" name="TextBox 17"/>
          <p:cNvSpPr txBox="1"/>
          <p:nvPr/>
        </p:nvSpPr>
        <p:spPr>
          <a:xfrm>
            <a:off x="1554480" y="2944368"/>
            <a:ext cx="3200400" cy="411480"/>
          </a:xfrm>
          <a:prstGeom prst="rect">
            <a:avLst/>
          </a:prstGeom>
          <a:noFill/>
        </p:spPr>
        <p:txBody>
          <a:bodyPr wrap="square" anchor="t" lIns="0" rIns="0" tIns="0" bIns="0">
            <a:noAutofit/>
          </a:bodyPr>
          <a:lstStyle/>
          <a:p>
            <a:pPr algn="l">
              <a:lnSpc>
                <a:spcPct val="105000"/>
              </a:lnSpc>
              <a:spcBef>
                <a:spcPts val="0"/>
              </a:spcBef>
            </a:pPr>
            <a:r>
              <a:rPr sz="1100" b="1" i="0">
                <a:solidFill>
                  <a:srgbClr val="1B2B3C"/>
                </a:solidFill>
                <a:latin typeface="Calibri"/>
              </a:rPr>
              <a:t>adop-docker-compose</a:t>
            </a:r>
          </a:p>
        </p:txBody>
      </p:sp>
      <p:sp>
        <p:nvSpPr>
          <p:cNvPr id="19" name="TextBox 18"/>
          <p:cNvSpPr txBox="1"/>
          <p:nvPr/>
        </p:nvSpPr>
        <p:spPr>
          <a:xfrm>
            <a:off x="1554480" y="3172968"/>
            <a:ext cx="4114800" cy="256032"/>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Talk to us on Gitter: https://gitter.im/Accenture/ADOP</a:t>
            </a:r>
          </a:p>
        </p:txBody>
      </p:sp>
      <p:sp>
        <p:nvSpPr>
          <p:cNvPr id="20" name="TextBox 19"/>
          <p:cNvSpPr txBox="1"/>
          <p:nvPr/>
        </p:nvSpPr>
        <p:spPr>
          <a:xfrm>
            <a:off x="5760720" y="2944368"/>
            <a:ext cx="1005840" cy="4114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2020-12-04</a:t>
            </a:r>
          </a:p>
        </p:txBody>
      </p:sp>
      <p:sp>
        <p:nvSpPr>
          <p:cNvPr id="21" name="TextBox 20"/>
          <p:cNvSpPr txBox="1"/>
          <p:nvPr/>
        </p:nvSpPr>
        <p:spPr>
          <a:xfrm>
            <a:off x="502920" y="3456432"/>
            <a:ext cx="1005840" cy="411480"/>
          </a:xfrm>
          <a:prstGeom prst="rect">
            <a:avLst/>
          </a:prstGeom>
          <a:noFill/>
        </p:spPr>
        <p:txBody>
          <a:bodyPr wrap="square" anchor="t" lIns="0" rIns="0" tIns="0" bIns="0">
            <a:noAutofit/>
          </a:bodyPr>
          <a:lstStyle/>
          <a:p>
            <a:pPr algn="l">
              <a:lnSpc>
                <a:spcPct val="105000"/>
              </a:lnSpc>
              <a:spcBef>
                <a:spcPts val="0"/>
              </a:spcBef>
            </a:pPr>
            <a:r>
              <a:rPr sz="1100" b="0" i="0">
                <a:solidFill>
                  <a:srgbClr val="5B6B7C"/>
                </a:solidFill>
                <a:latin typeface="Calibri"/>
              </a:rPr>
              <a:t>★ 664</a:t>
            </a:r>
          </a:p>
        </p:txBody>
      </p:sp>
      <p:sp>
        <p:nvSpPr>
          <p:cNvPr id="22" name="TextBox 21"/>
          <p:cNvSpPr txBox="1"/>
          <p:nvPr/>
        </p:nvSpPr>
        <p:spPr>
          <a:xfrm>
            <a:off x="1554480" y="3456432"/>
            <a:ext cx="3200400" cy="411480"/>
          </a:xfrm>
          <a:prstGeom prst="rect">
            <a:avLst/>
          </a:prstGeom>
          <a:noFill/>
        </p:spPr>
        <p:txBody>
          <a:bodyPr wrap="square" anchor="t" lIns="0" rIns="0" tIns="0" bIns="0">
            <a:noAutofit/>
          </a:bodyPr>
          <a:lstStyle/>
          <a:p>
            <a:pPr algn="l">
              <a:lnSpc>
                <a:spcPct val="105000"/>
              </a:lnSpc>
              <a:spcBef>
                <a:spcPts val="0"/>
              </a:spcBef>
            </a:pPr>
            <a:r>
              <a:rPr sz="1100" b="1" i="0">
                <a:solidFill>
                  <a:srgbClr val="1B2B3C"/>
                </a:solidFill>
                <a:latin typeface="Calibri"/>
              </a:rPr>
              <a:t>VulFi</a:t>
            </a:r>
          </a:p>
        </p:txBody>
      </p:sp>
      <p:sp>
        <p:nvSpPr>
          <p:cNvPr id="23" name="TextBox 22"/>
          <p:cNvSpPr txBox="1"/>
          <p:nvPr/>
        </p:nvSpPr>
        <p:spPr>
          <a:xfrm>
            <a:off x="1554480" y="3685032"/>
            <a:ext cx="4114800" cy="256032"/>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IDA Pro plugin for query based searching within the bin…</a:t>
            </a:r>
          </a:p>
        </p:txBody>
      </p:sp>
      <p:sp>
        <p:nvSpPr>
          <p:cNvPr id="24" name="TextBox 23"/>
          <p:cNvSpPr txBox="1"/>
          <p:nvPr/>
        </p:nvSpPr>
        <p:spPr>
          <a:xfrm>
            <a:off x="5760720" y="3456432"/>
            <a:ext cx="1005840" cy="4114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2025-05-13</a:t>
            </a:r>
          </a:p>
        </p:txBody>
      </p:sp>
      <p:sp>
        <p:nvSpPr>
          <p:cNvPr id="25" name="TextBox 24"/>
          <p:cNvSpPr txBox="1"/>
          <p:nvPr/>
        </p:nvSpPr>
        <p:spPr>
          <a:xfrm>
            <a:off x="502920" y="3968496"/>
            <a:ext cx="1005840" cy="411480"/>
          </a:xfrm>
          <a:prstGeom prst="rect">
            <a:avLst/>
          </a:prstGeom>
          <a:noFill/>
        </p:spPr>
        <p:txBody>
          <a:bodyPr wrap="square" anchor="t" lIns="0" rIns="0" tIns="0" bIns="0">
            <a:noAutofit/>
          </a:bodyPr>
          <a:lstStyle/>
          <a:p>
            <a:pPr algn="l">
              <a:lnSpc>
                <a:spcPct val="105000"/>
              </a:lnSpc>
              <a:spcBef>
                <a:spcPts val="0"/>
              </a:spcBef>
            </a:pPr>
            <a:r>
              <a:rPr sz="1100" b="0" i="0">
                <a:solidFill>
                  <a:srgbClr val="5B6B7C"/>
                </a:solidFill>
                <a:latin typeface="Calibri"/>
              </a:rPr>
              <a:t>★ 601</a:t>
            </a:r>
          </a:p>
        </p:txBody>
      </p:sp>
      <p:sp>
        <p:nvSpPr>
          <p:cNvPr id="26" name="TextBox 25"/>
          <p:cNvSpPr txBox="1"/>
          <p:nvPr/>
        </p:nvSpPr>
        <p:spPr>
          <a:xfrm>
            <a:off x="1554480" y="3968496"/>
            <a:ext cx="3200400" cy="411480"/>
          </a:xfrm>
          <a:prstGeom prst="rect">
            <a:avLst/>
          </a:prstGeom>
          <a:noFill/>
        </p:spPr>
        <p:txBody>
          <a:bodyPr wrap="square" anchor="t" lIns="0" rIns="0" tIns="0" bIns="0">
            <a:noAutofit/>
          </a:bodyPr>
          <a:lstStyle/>
          <a:p>
            <a:pPr algn="l">
              <a:lnSpc>
                <a:spcPct val="105000"/>
              </a:lnSpc>
              <a:spcBef>
                <a:spcPts val="0"/>
              </a:spcBef>
            </a:pPr>
            <a:r>
              <a:rPr sz="1100" b="1" i="0">
                <a:solidFill>
                  <a:srgbClr val="1B2B3C"/>
                </a:solidFill>
                <a:latin typeface="Calibri"/>
              </a:rPr>
              <a:t>reactive-interaction-gateway</a:t>
            </a:r>
          </a:p>
        </p:txBody>
      </p:sp>
      <p:sp>
        <p:nvSpPr>
          <p:cNvPr id="27" name="TextBox 26"/>
          <p:cNvSpPr txBox="1"/>
          <p:nvPr/>
        </p:nvSpPr>
        <p:spPr>
          <a:xfrm>
            <a:off x="1554480" y="4197096"/>
            <a:ext cx="4114800" cy="256032"/>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Create low-latency, interactive user experiences for st…</a:t>
            </a:r>
          </a:p>
        </p:txBody>
      </p:sp>
      <p:sp>
        <p:nvSpPr>
          <p:cNvPr id="28" name="TextBox 27"/>
          <p:cNvSpPr txBox="1"/>
          <p:nvPr/>
        </p:nvSpPr>
        <p:spPr>
          <a:xfrm>
            <a:off x="5760720" y="3968496"/>
            <a:ext cx="1005840" cy="4114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2026-04-16</a:t>
            </a:r>
          </a:p>
        </p:txBody>
      </p:sp>
      <p:sp>
        <p:nvSpPr>
          <p:cNvPr id="29" name="TextBox 28"/>
          <p:cNvSpPr txBox="1"/>
          <p:nvPr/>
        </p:nvSpPr>
        <p:spPr>
          <a:xfrm>
            <a:off x="502920" y="4480560"/>
            <a:ext cx="1005840" cy="411480"/>
          </a:xfrm>
          <a:prstGeom prst="rect">
            <a:avLst/>
          </a:prstGeom>
          <a:noFill/>
        </p:spPr>
        <p:txBody>
          <a:bodyPr wrap="square" anchor="t" lIns="0" rIns="0" tIns="0" bIns="0">
            <a:noAutofit/>
          </a:bodyPr>
          <a:lstStyle/>
          <a:p>
            <a:pPr algn="l">
              <a:lnSpc>
                <a:spcPct val="105000"/>
              </a:lnSpc>
              <a:spcBef>
                <a:spcPts val="0"/>
              </a:spcBef>
            </a:pPr>
            <a:r>
              <a:rPr sz="1100" b="0" i="0">
                <a:solidFill>
                  <a:srgbClr val="5B6B7C"/>
                </a:solidFill>
                <a:latin typeface="Calibri"/>
              </a:rPr>
              <a:t>★ 576</a:t>
            </a:r>
          </a:p>
        </p:txBody>
      </p:sp>
      <p:sp>
        <p:nvSpPr>
          <p:cNvPr id="30" name="TextBox 29"/>
          <p:cNvSpPr txBox="1"/>
          <p:nvPr/>
        </p:nvSpPr>
        <p:spPr>
          <a:xfrm>
            <a:off x="1554480" y="4480560"/>
            <a:ext cx="3200400" cy="411480"/>
          </a:xfrm>
          <a:prstGeom prst="rect">
            <a:avLst/>
          </a:prstGeom>
          <a:noFill/>
        </p:spPr>
        <p:txBody>
          <a:bodyPr wrap="square" anchor="t" lIns="0" rIns="0" tIns="0" bIns="0">
            <a:noAutofit/>
          </a:bodyPr>
          <a:lstStyle/>
          <a:p>
            <a:pPr algn="l">
              <a:lnSpc>
                <a:spcPct val="105000"/>
              </a:lnSpc>
              <a:spcBef>
                <a:spcPts val="0"/>
              </a:spcBef>
            </a:pPr>
            <a:r>
              <a:rPr sz="1100" b="1" i="0">
                <a:solidFill>
                  <a:srgbClr val="1B2B3C"/>
                </a:solidFill>
                <a:latin typeface="Calibri"/>
              </a:rPr>
              <a:t>jenkins-attack-framework</a:t>
            </a:r>
          </a:p>
        </p:txBody>
      </p:sp>
      <p:sp>
        <p:nvSpPr>
          <p:cNvPr id="31" name="TextBox 30"/>
          <p:cNvSpPr txBox="1"/>
          <p:nvPr/>
        </p:nvSpPr>
        <p:spPr>
          <a:xfrm>
            <a:off x="1554480" y="4709160"/>
            <a:ext cx="4114800" cy="256032"/>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
            </a:r>
          </a:p>
        </p:txBody>
      </p:sp>
      <p:sp>
        <p:nvSpPr>
          <p:cNvPr id="32" name="TextBox 31"/>
          <p:cNvSpPr txBox="1"/>
          <p:nvPr/>
        </p:nvSpPr>
        <p:spPr>
          <a:xfrm>
            <a:off x="5760720" y="4480560"/>
            <a:ext cx="1005840" cy="4114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2025-07-12</a:t>
            </a:r>
          </a:p>
        </p:txBody>
      </p:sp>
      <p:sp>
        <p:nvSpPr>
          <p:cNvPr id="33" name="TextBox 32"/>
          <p:cNvSpPr txBox="1"/>
          <p:nvPr/>
        </p:nvSpPr>
        <p:spPr>
          <a:xfrm>
            <a:off x="502920" y="4992624"/>
            <a:ext cx="1005840" cy="411480"/>
          </a:xfrm>
          <a:prstGeom prst="rect">
            <a:avLst/>
          </a:prstGeom>
          <a:noFill/>
        </p:spPr>
        <p:txBody>
          <a:bodyPr wrap="square" anchor="t" lIns="0" rIns="0" tIns="0" bIns="0">
            <a:noAutofit/>
          </a:bodyPr>
          <a:lstStyle/>
          <a:p>
            <a:pPr algn="l">
              <a:lnSpc>
                <a:spcPct val="105000"/>
              </a:lnSpc>
              <a:spcBef>
                <a:spcPts val="0"/>
              </a:spcBef>
            </a:pPr>
            <a:r>
              <a:rPr sz="1100" b="0" i="0">
                <a:solidFill>
                  <a:srgbClr val="5B6B7C"/>
                </a:solidFill>
                <a:latin typeface="Calibri"/>
              </a:rPr>
              <a:t>★ 524</a:t>
            </a:r>
          </a:p>
        </p:txBody>
      </p:sp>
      <p:sp>
        <p:nvSpPr>
          <p:cNvPr id="34" name="TextBox 33"/>
          <p:cNvSpPr txBox="1"/>
          <p:nvPr/>
        </p:nvSpPr>
        <p:spPr>
          <a:xfrm>
            <a:off x="1554480" y="4992624"/>
            <a:ext cx="3200400" cy="411480"/>
          </a:xfrm>
          <a:prstGeom prst="rect">
            <a:avLst/>
          </a:prstGeom>
          <a:noFill/>
        </p:spPr>
        <p:txBody>
          <a:bodyPr wrap="square" anchor="t" lIns="0" rIns="0" tIns="0" bIns="0">
            <a:noAutofit/>
          </a:bodyPr>
          <a:lstStyle/>
          <a:p>
            <a:pPr algn="l">
              <a:lnSpc>
                <a:spcPct val="105000"/>
              </a:lnSpc>
              <a:spcBef>
                <a:spcPts val="0"/>
              </a:spcBef>
            </a:pPr>
            <a:r>
              <a:rPr sz="1100" b="1" i="0">
                <a:solidFill>
                  <a:srgbClr val="1B2B3C"/>
                </a:solidFill>
                <a:latin typeface="Calibri"/>
              </a:rPr>
              <a:t>Codecepticon</a:t>
            </a:r>
          </a:p>
        </p:txBody>
      </p:sp>
      <p:sp>
        <p:nvSpPr>
          <p:cNvPr id="35" name="TextBox 34"/>
          <p:cNvSpPr txBox="1"/>
          <p:nvPr/>
        </p:nvSpPr>
        <p:spPr>
          <a:xfrm>
            <a:off x="1554480" y="5221224"/>
            <a:ext cx="4114800" cy="256032"/>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.NET/PowerShell/VBA Offensive Security Obfuscator</a:t>
            </a:r>
          </a:p>
        </p:txBody>
      </p:sp>
      <p:sp>
        <p:nvSpPr>
          <p:cNvPr id="36" name="TextBox 35"/>
          <p:cNvSpPr txBox="1"/>
          <p:nvPr/>
        </p:nvSpPr>
        <p:spPr>
          <a:xfrm>
            <a:off x="5760720" y="4992624"/>
            <a:ext cx="1005840" cy="4114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2024-02-01</a:t>
            </a:r>
          </a:p>
        </p:txBody>
      </p:sp>
      <p:sp>
        <p:nvSpPr>
          <p:cNvPr id="37" name="TextBox 36"/>
          <p:cNvSpPr txBox="1"/>
          <p:nvPr/>
        </p:nvSpPr>
        <p:spPr>
          <a:xfrm>
            <a:off x="502920" y="5504688"/>
            <a:ext cx="1005840" cy="411480"/>
          </a:xfrm>
          <a:prstGeom prst="rect">
            <a:avLst/>
          </a:prstGeom>
          <a:noFill/>
        </p:spPr>
        <p:txBody>
          <a:bodyPr wrap="square" anchor="t" lIns="0" rIns="0" tIns="0" bIns="0">
            <a:noAutofit/>
          </a:bodyPr>
          <a:lstStyle/>
          <a:p>
            <a:pPr algn="l">
              <a:lnSpc>
                <a:spcPct val="105000"/>
              </a:lnSpc>
              <a:spcBef>
                <a:spcPts val="0"/>
              </a:spcBef>
            </a:pPr>
            <a:r>
              <a:rPr sz="1100" b="0" i="0">
                <a:solidFill>
                  <a:srgbClr val="5B6B7C"/>
                </a:solidFill>
                <a:latin typeface="Calibri"/>
              </a:rPr>
              <a:t>★ 486</a:t>
            </a:r>
          </a:p>
        </p:txBody>
      </p:sp>
      <p:sp>
        <p:nvSpPr>
          <p:cNvPr id="38" name="TextBox 37"/>
          <p:cNvSpPr txBox="1"/>
          <p:nvPr/>
        </p:nvSpPr>
        <p:spPr>
          <a:xfrm>
            <a:off x="1554480" y="5504688"/>
            <a:ext cx="3200400" cy="411480"/>
          </a:xfrm>
          <a:prstGeom prst="rect">
            <a:avLst/>
          </a:prstGeom>
          <a:noFill/>
        </p:spPr>
        <p:txBody>
          <a:bodyPr wrap="square" anchor="t" lIns="0" rIns="0" tIns="0" bIns="0">
            <a:noAutofit/>
          </a:bodyPr>
          <a:lstStyle/>
          <a:p>
            <a:pPr algn="l">
              <a:lnSpc>
                <a:spcPct val="105000"/>
              </a:lnSpc>
              <a:spcBef>
                <a:spcPts val="0"/>
              </a:spcBef>
            </a:pPr>
            <a:r>
              <a:rPr sz="1100" b="1" i="0">
                <a:solidFill>
                  <a:srgbClr val="1B2B3C"/>
                </a:solidFill>
                <a:latin typeface="Calibri"/>
              </a:rPr>
              <a:t>mcp-bench</a:t>
            </a:r>
          </a:p>
        </p:txBody>
      </p:sp>
      <p:sp>
        <p:nvSpPr>
          <p:cNvPr id="39" name="TextBox 38"/>
          <p:cNvSpPr txBox="1"/>
          <p:nvPr/>
        </p:nvSpPr>
        <p:spPr>
          <a:xfrm>
            <a:off x="1554480" y="5733288"/>
            <a:ext cx="4114800" cy="256032"/>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MCP-Bench: Benchmarking Tool-Using LLM Agents with Comp…</a:t>
            </a:r>
          </a:p>
        </p:txBody>
      </p:sp>
      <p:sp>
        <p:nvSpPr>
          <p:cNvPr id="40" name="TextBox 39"/>
          <p:cNvSpPr txBox="1"/>
          <p:nvPr/>
        </p:nvSpPr>
        <p:spPr>
          <a:xfrm>
            <a:off x="5760720" y="5504688"/>
            <a:ext cx="1005840" cy="41148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2025-10-07</a:t>
            </a:r>
          </a:p>
        </p:txBody>
      </p:sp>
      <p:sp>
        <p:nvSpPr>
          <p:cNvPr id="41" name="Rounded Rectangle 40"/>
          <p:cNvSpPr/>
          <p:nvPr/>
        </p:nvSpPr>
        <p:spPr>
          <a:xfrm>
            <a:off x="7132320" y="1371600"/>
            <a:ext cx="4389120" cy="4572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69480" y="1508760"/>
            <a:ext cx="4114800" cy="320040"/>
          </a:xfrm>
          <a:prstGeom prst="rect">
            <a:avLst/>
          </a:prstGeom>
          <a:noFill/>
        </p:spPr>
        <p:txBody>
          <a:bodyPr wrap="square" anchor="t" lIns="0" rIns="0" tIns="0" bIns="0">
            <a:noAutofit/>
          </a:bodyPr>
          <a:lstStyle/>
          <a:p>
            <a:pPr algn="l">
              <a:lnSpc>
                <a:spcPct val="105000"/>
              </a:lnSpc>
              <a:spcBef>
                <a:spcPts val="0"/>
              </a:spcBef>
            </a:pPr>
            <a:r>
              <a:rPr sz="1100" b="1" i="0">
                <a:solidFill>
                  <a:srgbClr val="00C9A7"/>
                </a:solidFill>
                <a:latin typeface="Calibri"/>
              </a:rPr>
              <a:t>LANGUAGE BREAKDOWN</a:t>
            </a:r>
          </a:p>
        </p:txBody>
      </p:sp>
      <p:sp>
        <p:nvSpPr>
          <p:cNvPr id="43" name="Rectangle 42"/>
          <p:cNvSpPr/>
          <p:nvPr/>
        </p:nvSpPr>
        <p:spPr>
          <a:xfrm>
            <a:off x="7269480" y="2029968"/>
            <a:ext cx="559632" cy="2011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69480" y="1920240"/>
            <a:ext cx="2011680" cy="3200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JavaScript</a:t>
            </a:r>
          </a:p>
        </p:txBody>
      </p:sp>
      <p:sp>
        <p:nvSpPr>
          <p:cNvPr id="45" name="TextBox 44"/>
          <p:cNvSpPr txBox="1"/>
          <p:nvPr/>
        </p:nvSpPr>
        <p:spPr>
          <a:xfrm>
            <a:off x="10149840" y="1920240"/>
            <a:ext cx="73152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32</a:t>
            </a:r>
          </a:p>
        </p:txBody>
      </p:sp>
      <p:sp>
        <p:nvSpPr>
          <p:cNvPr id="46" name="Rectangle 45"/>
          <p:cNvSpPr/>
          <p:nvPr/>
        </p:nvSpPr>
        <p:spPr>
          <a:xfrm>
            <a:off x="7269480" y="2423160"/>
            <a:ext cx="542144" cy="20116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69480" y="2313432"/>
            <a:ext cx="2011680" cy="3200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Python</a:t>
            </a:r>
          </a:p>
        </p:txBody>
      </p:sp>
      <p:sp>
        <p:nvSpPr>
          <p:cNvPr id="48" name="TextBox 47"/>
          <p:cNvSpPr txBox="1"/>
          <p:nvPr/>
        </p:nvSpPr>
        <p:spPr>
          <a:xfrm>
            <a:off x="10149840" y="2313432"/>
            <a:ext cx="73152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31</a:t>
            </a:r>
          </a:p>
        </p:txBody>
      </p:sp>
      <p:sp>
        <p:nvSpPr>
          <p:cNvPr id="49" name="Rectangle 48"/>
          <p:cNvSpPr/>
          <p:nvPr/>
        </p:nvSpPr>
        <p:spPr>
          <a:xfrm>
            <a:off x="7269480" y="2816352"/>
            <a:ext cx="524655" cy="20116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269480" y="2706624"/>
            <a:ext cx="2011680" cy="3200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Other</a:t>
            </a:r>
          </a:p>
        </p:txBody>
      </p:sp>
      <p:sp>
        <p:nvSpPr>
          <p:cNvPr id="51" name="TextBox 50"/>
          <p:cNvSpPr txBox="1"/>
          <p:nvPr/>
        </p:nvSpPr>
        <p:spPr>
          <a:xfrm>
            <a:off x="10149840" y="2706624"/>
            <a:ext cx="73152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30</a:t>
            </a:r>
          </a:p>
        </p:txBody>
      </p:sp>
      <p:sp>
        <p:nvSpPr>
          <p:cNvPr id="52" name="Rectangle 51"/>
          <p:cNvSpPr/>
          <p:nvPr/>
        </p:nvSpPr>
        <p:spPr>
          <a:xfrm>
            <a:off x="7269480" y="3209544"/>
            <a:ext cx="349770" cy="201168"/>
          </a:xfrm>
          <a:prstGeom prst="rect">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69480" y="3099816"/>
            <a:ext cx="2011680" cy="3200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Java</a:t>
            </a:r>
          </a:p>
        </p:txBody>
      </p:sp>
      <p:sp>
        <p:nvSpPr>
          <p:cNvPr id="54" name="TextBox 53"/>
          <p:cNvSpPr txBox="1"/>
          <p:nvPr/>
        </p:nvSpPr>
        <p:spPr>
          <a:xfrm>
            <a:off x="10149840" y="3099816"/>
            <a:ext cx="73152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20</a:t>
            </a:r>
          </a:p>
        </p:txBody>
      </p:sp>
      <p:sp>
        <p:nvSpPr>
          <p:cNvPr id="55" name="Rectangle 54"/>
          <p:cNvSpPr/>
          <p:nvPr/>
        </p:nvSpPr>
        <p:spPr>
          <a:xfrm>
            <a:off x="7269480" y="3602736"/>
            <a:ext cx="332281" cy="201168"/>
          </a:xfrm>
          <a:prstGeom prst="rect">
            <a:avLst/>
          </a:prstGeom>
          <a:solidFill>
            <a:srgbClr val="7B6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69480" y="3493008"/>
            <a:ext cx="2011680" cy="3200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Shell</a:t>
            </a:r>
          </a:p>
        </p:txBody>
      </p:sp>
      <p:sp>
        <p:nvSpPr>
          <p:cNvPr id="57" name="TextBox 56"/>
          <p:cNvSpPr txBox="1"/>
          <p:nvPr/>
        </p:nvSpPr>
        <p:spPr>
          <a:xfrm>
            <a:off x="10149840" y="3493008"/>
            <a:ext cx="73152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19</a:t>
            </a:r>
          </a:p>
        </p:txBody>
      </p:sp>
      <p:sp>
        <p:nvSpPr>
          <p:cNvPr id="58" name="Rectangle 57"/>
          <p:cNvSpPr/>
          <p:nvPr/>
        </p:nvSpPr>
        <p:spPr>
          <a:xfrm>
            <a:off x="7269480" y="3995928"/>
            <a:ext cx="297304" cy="201168"/>
          </a:xfrm>
          <a:prstGeom prst="rect">
            <a:avLst/>
          </a:prstGeom>
          <a:solidFill>
            <a:srgbClr val="5B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69480" y="3886200"/>
            <a:ext cx="2011680" cy="3200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Groovy</a:t>
            </a:r>
          </a:p>
        </p:txBody>
      </p:sp>
      <p:sp>
        <p:nvSpPr>
          <p:cNvPr id="60" name="TextBox 59"/>
          <p:cNvSpPr txBox="1"/>
          <p:nvPr/>
        </p:nvSpPr>
        <p:spPr>
          <a:xfrm>
            <a:off x="10149840" y="3886200"/>
            <a:ext cx="73152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17</a:t>
            </a:r>
          </a:p>
        </p:txBody>
      </p:sp>
      <p:sp>
        <p:nvSpPr>
          <p:cNvPr id="61" name="Rectangle 60"/>
          <p:cNvSpPr/>
          <p:nvPr/>
        </p:nvSpPr>
        <p:spPr>
          <a:xfrm>
            <a:off x="7269480" y="4389120"/>
            <a:ext cx="209862" cy="201168"/>
          </a:xfrm>
          <a:prstGeom prst="rect">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69480" y="4279392"/>
            <a:ext cx="2011680" cy="3200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TypeScript</a:t>
            </a:r>
          </a:p>
        </p:txBody>
      </p:sp>
      <p:sp>
        <p:nvSpPr>
          <p:cNvPr id="63" name="TextBox 62"/>
          <p:cNvSpPr txBox="1"/>
          <p:nvPr/>
        </p:nvSpPr>
        <p:spPr>
          <a:xfrm>
            <a:off x="10149840" y="4279392"/>
            <a:ext cx="73152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12</a:t>
            </a:r>
          </a:p>
        </p:txBody>
      </p:sp>
      <p:sp>
        <p:nvSpPr>
          <p:cNvPr id="64" name="Rectangle 63"/>
          <p:cNvSpPr/>
          <p:nvPr/>
        </p:nvSpPr>
        <p:spPr>
          <a:xfrm>
            <a:off x="7269480" y="4782312"/>
            <a:ext cx="157396" cy="20116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69480" y="4672584"/>
            <a:ext cx="2011680" cy="3200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HTML</a:t>
            </a:r>
          </a:p>
        </p:txBody>
      </p:sp>
      <p:sp>
        <p:nvSpPr>
          <p:cNvPr id="66" name="TextBox 65"/>
          <p:cNvSpPr txBox="1"/>
          <p:nvPr/>
        </p:nvSpPr>
        <p:spPr>
          <a:xfrm>
            <a:off x="10149840" y="4672584"/>
            <a:ext cx="73152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9</a:t>
            </a:r>
          </a:p>
        </p:txBody>
      </p:sp>
      <p:sp>
        <p:nvSpPr>
          <p:cNvPr id="67" name="Rectangle 66"/>
          <p:cNvSpPr/>
          <p:nvPr/>
        </p:nvSpPr>
        <p:spPr>
          <a:xfrm>
            <a:off x="7269480" y="5175504"/>
            <a:ext cx="122419" cy="20116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69480" y="5065776"/>
            <a:ext cx="2011680" cy="3200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C#</a:t>
            </a:r>
          </a:p>
        </p:txBody>
      </p:sp>
      <p:sp>
        <p:nvSpPr>
          <p:cNvPr id="69" name="TextBox 68"/>
          <p:cNvSpPr txBox="1"/>
          <p:nvPr/>
        </p:nvSpPr>
        <p:spPr>
          <a:xfrm>
            <a:off x="10149840" y="5065776"/>
            <a:ext cx="73152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7</a:t>
            </a:r>
          </a:p>
        </p:txBody>
      </p:sp>
      <p:sp>
        <p:nvSpPr>
          <p:cNvPr id="70" name="Rectangle 69"/>
          <p:cNvSpPr/>
          <p:nvPr/>
        </p:nvSpPr>
        <p:spPr>
          <a:xfrm>
            <a:off x="7269480" y="5568696"/>
            <a:ext cx="104931" cy="201168"/>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269480" y="5458968"/>
            <a:ext cx="2011680" cy="320040"/>
          </a:xfrm>
          <a:prstGeom prst="rect">
            <a:avLst/>
          </a:prstGeom>
          <a:noFill/>
        </p:spPr>
        <p:txBody>
          <a:bodyPr wrap="square" anchor="t" lIns="0" rIns="0" tIns="0" bIns="0">
            <a:noAutofit/>
          </a:bodyPr>
          <a:lstStyle/>
          <a:p>
            <a:pPr algn="l">
              <a:lnSpc>
                <a:spcPct val="105000"/>
              </a:lnSpc>
              <a:spcBef>
                <a:spcPts val="0"/>
              </a:spcBef>
            </a:pPr>
            <a:r>
              <a:rPr sz="1000" b="0" i="0">
                <a:solidFill>
                  <a:srgbClr val="1B2B3C"/>
                </a:solidFill>
                <a:latin typeface="Calibri"/>
              </a:rPr>
              <a:t>C++</a:t>
            </a:r>
          </a:p>
        </p:txBody>
      </p:sp>
      <p:sp>
        <p:nvSpPr>
          <p:cNvPr id="72" name="TextBox 71"/>
          <p:cNvSpPr txBox="1"/>
          <p:nvPr/>
        </p:nvSpPr>
        <p:spPr>
          <a:xfrm>
            <a:off x="10149840" y="5458968"/>
            <a:ext cx="73152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6</a:t>
            </a:r>
          </a:p>
        </p:txBody>
      </p:sp>
      <p:sp>
        <p:nvSpPr>
          <p:cNvPr id="73" name="TextBox 7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Competitive Intelligence · June 2026 · Built from live pipeline data</a:t>
            </a:r>
          </a:p>
        </p:txBody>
      </p:sp>
      <p:sp>
        <p:nvSpPr>
          <p:cNvPr id="74" name="TextBox 7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Key AI &amp; Technology Repositories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Deep-dive: strategic open-source bets</a:t>
            </a:r>
          </a:p>
        </p:txBody>
      </p:sp>
      <p:sp>
        <p:nvSpPr>
          <p:cNvPr id="7" name="Rounded Rectangle 6"/>
          <p:cNvSpPr/>
          <p:nvPr/>
        </p:nvSpPr>
        <p:spPr>
          <a:xfrm>
            <a:off x="365760" y="1371600"/>
            <a:ext cx="3657600" cy="19659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371600"/>
            <a:ext cx="3657600"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81328"/>
            <a:ext cx="3383280" cy="365760"/>
          </a:xfrm>
          <a:prstGeom prst="rect">
            <a:avLst/>
          </a:prstGeom>
          <a:noFill/>
        </p:spPr>
        <p:txBody>
          <a:bodyPr wrap="square" anchor="t" lIns="0" rIns="0" tIns="0" bIns="0">
            <a:normAutofit/>
          </a:bodyPr>
          <a:lstStyle/>
          <a:p>
            <a:pPr algn="l">
              <a:lnSpc>
                <a:spcPct val="105000"/>
              </a:lnSpc>
              <a:spcBef>
                <a:spcPts val="0"/>
              </a:spcBef>
            </a:pPr>
            <a:r>
              <a:rPr sz="1200" b="1" i="0">
                <a:solidFill>
                  <a:srgbClr val="1B2B3C"/>
                </a:solidFill>
                <a:latin typeface="Calibri"/>
              </a:rPr>
              <a:t>airefinery-sdk</a:t>
            </a:r>
          </a:p>
        </p:txBody>
      </p:sp>
      <p:sp>
        <p:nvSpPr>
          <p:cNvPr id="10" name="TextBox 9"/>
          <p:cNvSpPr txBox="1"/>
          <p:nvPr/>
        </p:nvSpPr>
        <p:spPr>
          <a:xfrm>
            <a:off x="502920" y="1874520"/>
            <a:ext cx="3383280" cy="5029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
            </a:r>
          </a:p>
        </p:txBody>
      </p:sp>
      <p:sp>
        <p:nvSpPr>
          <p:cNvPr id="11" name="TextBox 10"/>
          <p:cNvSpPr txBox="1"/>
          <p:nvPr/>
        </p:nvSpPr>
        <p:spPr>
          <a:xfrm>
            <a:off x="502920" y="2423160"/>
            <a:ext cx="3383280" cy="320040"/>
          </a:xfrm>
          <a:prstGeom prst="rect">
            <a:avLst/>
          </a:prstGeom>
          <a:noFill/>
        </p:spPr>
        <p:txBody>
          <a:bodyPr wrap="square" anchor="t" lIns="0" rIns="0" tIns="0" bIns="0">
            <a:noAutofit/>
          </a:bodyPr>
          <a:lstStyle/>
          <a:p>
            <a:pPr algn="l">
              <a:lnSpc>
                <a:spcPct val="105000"/>
              </a:lnSpc>
              <a:spcBef>
                <a:spcPts val="0"/>
              </a:spcBef>
            </a:pPr>
            <a:r>
              <a:rPr sz="900" b="0" i="0">
                <a:solidFill>
                  <a:srgbClr val="00C9A7"/>
                </a:solidFill>
                <a:latin typeface="Calibri"/>
              </a:rPr>
              <a:t>★ 54  |  2026-06-09</a:t>
            </a:r>
          </a:p>
        </p:txBody>
      </p:sp>
      <p:sp>
        <p:nvSpPr>
          <p:cNvPr id="12" name="TextBox 11"/>
          <p:cNvSpPr txBox="1"/>
          <p:nvPr/>
        </p:nvSpPr>
        <p:spPr>
          <a:xfrm>
            <a:off x="502920" y="2743200"/>
            <a:ext cx="3383280" cy="457200"/>
          </a:xfrm>
          <a:prstGeom prst="rect">
            <a:avLst/>
          </a:prstGeom>
          <a:noFill/>
        </p:spPr>
        <p:txBody>
          <a:bodyPr wrap="square" anchor="t" lIns="0" rIns="0" tIns="0" bIns="0">
            <a:normAutofit/>
          </a:bodyPr>
          <a:lstStyle/>
          <a:p>
            <a:pPr algn="l">
              <a:lnSpc>
                <a:spcPct val="105000"/>
              </a:lnSpc>
              <a:spcBef>
                <a:spcPts val="0"/>
              </a:spcBef>
            </a:pPr>
            <a:r>
              <a:rPr sz="850" b="0" i="0">
                <a:solidFill>
                  <a:srgbClr val="5B6B7C"/>
                </a:solidFill>
                <a:latin typeface="Calibri"/>
              </a:rPr>
              <a:t>Latest: 1.31.4 · 30 releases / 12mo</a:t>
            </a:r>
          </a:p>
        </p:txBody>
      </p:sp>
      <p:sp>
        <p:nvSpPr>
          <p:cNvPr id="13" name="Rounded Rectangle 12"/>
          <p:cNvSpPr/>
          <p:nvPr/>
        </p:nvSpPr>
        <p:spPr>
          <a:xfrm>
            <a:off x="4224528" y="1371600"/>
            <a:ext cx="3657600" cy="19659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24528" y="1371600"/>
            <a:ext cx="3657600"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61688" y="1481328"/>
            <a:ext cx="3383280" cy="365760"/>
          </a:xfrm>
          <a:prstGeom prst="rect">
            <a:avLst/>
          </a:prstGeom>
          <a:noFill/>
        </p:spPr>
        <p:txBody>
          <a:bodyPr wrap="square" anchor="t" lIns="0" rIns="0" tIns="0" bIns="0">
            <a:normAutofit/>
          </a:bodyPr>
          <a:lstStyle/>
          <a:p>
            <a:pPr algn="l">
              <a:lnSpc>
                <a:spcPct val="105000"/>
              </a:lnSpc>
              <a:spcBef>
                <a:spcPts val="0"/>
              </a:spcBef>
            </a:pPr>
            <a:r>
              <a:rPr sz="1200" b="1" i="0">
                <a:solidFill>
                  <a:srgbClr val="1B2B3C"/>
                </a:solidFill>
                <a:latin typeface="Calibri"/>
              </a:rPr>
              <a:t>mcp-bench</a:t>
            </a:r>
          </a:p>
        </p:txBody>
      </p:sp>
      <p:sp>
        <p:nvSpPr>
          <p:cNvPr id="16" name="TextBox 15"/>
          <p:cNvSpPr txBox="1"/>
          <p:nvPr/>
        </p:nvSpPr>
        <p:spPr>
          <a:xfrm>
            <a:off x="4361688" y="1874520"/>
            <a:ext cx="3383280" cy="5029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MCP-Bench: Benchmarking Tool-Using LLM Agents with Complex Real-World Tasks via …</a:t>
            </a:r>
          </a:p>
        </p:txBody>
      </p:sp>
      <p:sp>
        <p:nvSpPr>
          <p:cNvPr id="17" name="TextBox 16"/>
          <p:cNvSpPr txBox="1"/>
          <p:nvPr/>
        </p:nvSpPr>
        <p:spPr>
          <a:xfrm>
            <a:off x="4361688" y="2423160"/>
            <a:ext cx="3383280" cy="320040"/>
          </a:xfrm>
          <a:prstGeom prst="rect">
            <a:avLst/>
          </a:prstGeom>
          <a:noFill/>
        </p:spPr>
        <p:txBody>
          <a:bodyPr wrap="square" anchor="t" lIns="0" rIns="0" tIns="0" bIns="0">
            <a:noAutofit/>
          </a:bodyPr>
          <a:lstStyle/>
          <a:p>
            <a:pPr algn="l">
              <a:lnSpc>
                <a:spcPct val="105000"/>
              </a:lnSpc>
              <a:spcBef>
                <a:spcPts val="0"/>
              </a:spcBef>
            </a:pPr>
            <a:r>
              <a:rPr sz="900" b="0" i="0">
                <a:solidFill>
                  <a:srgbClr val="00C9A7"/>
                </a:solidFill>
                <a:latin typeface="Calibri"/>
              </a:rPr>
              <a:t>★ 486  |  2025-10-07</a:t>
            </a:r>
          </a:p>
        </p:txBody>
      </p:sp>
      <p:sp>
        <p:nvSpPr>
          <p:cNvPr id="18" name="TextBox 17"/>
          <p:cNvSpPr txBox="1"/>
          <p:nvPr/>
        </p:nvSpPr>
        <p:spPr>
          <a:xfrm>
            <a:off x="4361688" y="2743200"/>
            <a:ext cx="3383280" cy="457200"/>
          </a:xfrm>
          <a:prstGeom prst="rect">
            <a:avLst/>
          </a:prstGeom>
          <a:noFill/>
        </p:spPr>
        <p:txBody>
          <a:bodyPr wrap="square" anchor="t" lIns="0" rIns="0" tIns="0" bIns="0">
            <a:normAutofit/>
          </a:bodyPr>
          <a:lstStyle/>
          <a:p>
            <a:pPr algn="l">
              <a:lnSpc>
                <a:spcPct val="105000"/>
              </a:lnSpc>
              <a:spcBef>
                <a:spcPts val="0"/>
              </a:spcBef>
            </a:pPr>
            <a:r>
              <a:rPr sz="850" b="0" i="0">
                <a:solidFill>
                  <a:srgbClr val="5B6B7C"/>
                </a:solidFill>
                <a:latin typeface="Calibri"/>
              </a:rPr>
              <a:t>Language: Python</a:t>
            </a:r>
          </a:p>
        </p:txBody>
      </p:sp>
      <p:sp>
        <p:nvSpPr>
          <p:cNvPr id="19" name="Rounded Rectangle 18"/>
          <p:cNvSpPr/>
          <p:nvPr/>
        </p:nvSpPr>
        <p:spPr>
          <a:xfrm>
            <a:off x="8083296" y="1371600"/>
            <a:ext cx="3657600" cy="19659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83296" y="1371600"/>
            <a:ext cx="3657600"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0456" y="1481328"/>
            <a:ext cx="3383280" cy="365760"/>
          </a:xfrm>
          <a:prstGeom prst="rect">
            <a:avLst/>
          </a:prstGeom>
          <a:noFill/>
        </p:spPr>
        <p:txBody>
          <a:bodyPr wrap="square" anchor="t" lIns="0" rIns="0" tIns="0" bIns="0">
            <a:normAutofit/>
          </a:bodyPr>
          <a:lstStyle/>
          <a:p>
            <a:pPr algn="l">
              <a:lnSpc>
                <a:spcPct val="105000"/>
              </a:lnSpc>
              <a:spcBef>
                <a:spcPts val="0"/>
              </a:spcBef>
            </a:pPr>
            <a:r>
              <a:rPr sz="1200" b="1" i="0">
                <a:solidFill>
                  <a:srgbClr val="1B2B3C"/>
                </a:solidFill>
                <a:latin typeface="Calibri"/>
              </a:rPr>
              <a:t>AmpliGraph</a:t>
            </a:r>
          </a:p>
        </p:txBody>
      </p:sp>
      <p:sp>
        <p:nvSpPr>
          <p:cNvPr id="22" name="TextBox 21"/>
          <p:cNvSpPr txBox="1"/>
          <p:nvPr/>
        </p:nvSpPr>
        <p:spPr>
          <a:xfrm>
            <a:off x="8220456" y="1874520"/>
            <a:ext cx="3383280" cy="5029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Python library for Representation Learning on Knowledge Graphs https://docs.ampl…</a:t>
            </a:r>
          </a:p>
        </p:txBody>
      </p:sp>
      <p:sp>
        <p:nvSpPr>
          <p:cNvPr id="23" name="TextBox 22"/>
          <p:cNvSpPr txBox="1"/>
          <p:nvPr/>
        </p:nvSpPr>
        <p:spPr>
          <a:xfrm>
            <a:off x="8220456" y="2423160"/>
            <a:ext cx="3383280" cy="320040"/>
          </a:xfrm>
          <a:prstGeom prst="rect">
            <a:avLst/>
          </a:prstGeom>
          <a:noFill/>
        </p:spPr>
        <p:txBody>
          <a:bodyPr wrap="square" anchor="t" lIns="0" rIns="0" tIns="0" bIns="0">
            <a:noAutofit/>
          </a:bodyPr>
          <a:lstStyle/>
          <a:p>
            <a:pPr algn="l">
              <a:lnSpc>
                <a:spcPct val="105000"/>
              </a:lnSpc>
              <a:spcBef>
                <a:spcPts val="0"/>
              </a:spcBef>
            </a:pPr>
            <a:r>
              <a:rPr sz="900" b="0" i="0">
                <a:solidFill>
                  <a:srgbClr val="00C9A7"/>
                </a:solidFill>
                <a:latin typeface="Calibri"/>
              </a:rPr>
              <a:t>★ 2,237  |  2024-11-22</a:t>
            </a:r>
          </a:p>
        </p:txBody>
      </p:sp>
      <p:sp>
        <p:nvSpPr>
          <p:cNvPr id="24" name="TextBox 23"/>
          <p:cNvSpPr txBox="1"/>
          <p:nvPr/>
        </p:nvSpPr>
        <p:spPr>
          <a:xfrm>
            <a:off x="8220456" y="2743200"/>
            <a:ext cx="3383280" cy="457200"/>
          </a:xfrm>
          <a:prstGeom prst="rect">
            <a:avLst/>
          </a:prstGeom>
          <a:noFill/>
        </p:spPr>
        <p:txBody>
          <a:bodyPr wrap="square" anchor="t" lIns="0" rIns="0" tIns="0" bIns="0">
            <a:normAutofit/>
          </a:bodyPr>
          <a:lstStyle/>
          <a:p>
            <a:pPr algn="l">
              <a:lnSpc>
                <a:spcPct val="105000"/>
              </a:lnSpc>
              <a:spcBef>
                <a:spcPts val="0"/>
              </a:spcBef>
            </a:pPr>
            <a:r>
              <a:rPr sz="850" b="0" i="0">
                <a:solidFill>
                  <a:srgbClr val="5B6B7C"/>
                </a:solidFill>
                <a:latin typeface="Calibri"/>
              </a:rPr>
              <a:t>Latest: 2.1.0 · 14 releases / 60mo</a:t>
            </a:r>
          </a:p>
        </p:txBody>
      </p:sp>
      <p:sp>
        <p:nvSpPr>
          <p:cNvPr id="25" name="Rounded Rectangle 24"/>
          <p:cNvSpPr/>
          <p:nvPr/>
        </p:nvSpPr>
        <p:spPr>
          <a:xfrm>
            <a:off x="365760" y="3538728"/>
            <a:ext cx="3657600" cy="19659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3538728"/>
            <a:ext cx="3657600"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3648456"/>
            <a:ext cx="3383280" cy="365760"/>
          </a:xfrm>
          <a:prstGeom prst="rect">
            <a:avLst/>
          </a:prstGeom>
          <a:noFill/>
        </p:spPr>
        <p:txBody>
          <a:bodyPr wrap="square" anchor="t" lIns="0" rIns="0" tIns="0" bIns="0">
            <a:normAutofit/>
          </a:bodyPr>
          <a:lstStyle/>
          <a:p>
            <a:pPr algn="l">
              <a:lnSpc>
                <a:spcPct val="105000"/>
              </a:lnSpc>
              <a:spcBef>
                <a:spcPts val="0"/>
              </a:spcBef>
            </a:pPr>
            <a:r>
              <a:rPr sz="1200" b="1" i="0">
                <a:solidFill>
                  <a:srgbClr val="1B2B3C"/>
                </a:solidFill>
                <a:latin typeface="Calibri"/>
              </a:rPr>
              <a:t>VulFi</a:t>
            </a:r>
          </a:p>
        </p:txBody>
      </p:sp>
      <p:sp>
        <p:nvSpPr>
          <p:cNvPr id="28" name="TextBox 27"/>
          <p:cNvSpPr txBox="1"/>
          <p:nvPr/>
        </p:nvSpPr>
        <p:spPr>
          <a:xfrm>
            <a:off x="502920" y="4041648"/>
            <a:ext cx="3383280" cy="5029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IDA Pro plugin for query based searching within the binary useful mainly for vul…</a:t>
            </a:r>
          </a:p>
        </p:txBody>
      </p:sp>
      <p:sp>
        <p:nvSpPr>
          <p:cNvPr id="29" name="TextBox 28"/>
          <p:cNvSpPr txBox="1"/>
          <p:nvPr/>
        </p:nvSpPr>
        <p:spPr>
          <a:xfrm>
            <a:off x="502920" y="4590288"/>
            <a:ext cx="3383280" cy="320040"/>
          </a:xfrm>
          <a:prstGeom prst="rect">
            <a:avLst/>
          </a:prstGeom>
          <a:noFill/>
        </p:spPr>
        <p:txBody>
          <a:bodyPr wrap="square" anchor="t" lIns="0" rIns="0" tIns="0" bIns="0">
            <a:noAutofit/>
          </a:bodyPr>
          <a:lstStyle/>
          <a:p>
            <a:pPr algn="l">
              <a:lnSpc>
                <a:spcPct val="105000"/>
              </a:lnSpc>
              <a:spcBef>
                <a:spcPts val="0"/>
              </a:spcBef>
            </a:pPr>
            <a:r>
              <a:rPr sz="900" b="0" i="0">
                <a:solidFill>
                  <a:srgbClr val="00C9A7"/>
                </a:solidFill>
                <a:latin typeface="Calibri"/>
              </a:rPr>
              <a:t>★ 664  |  2025-05-13</a:t>
            </a:r>
          </a:p>
        </p:txBody>
      </p:sp>
      <p:sp>
        <p:nvSpPr>
          <p:cNvPr id="30" name="TextBox 29"/>
          <p:cNvSpPr txBox="1"/>
          <p:nvPr/>
        </p:nvSpPr>
        <p:spPr>
          <a:xfrm>
            <a:off x="502920" y="4910328"/>
            <a:ext cx="3383280" cy="457200"/>
          </a:xfrm>
          <a:prstGeom prst="rect">
            <a:avLst/>
          </a:prstGeom>
          <a:noFill/>
        </p:spPr>
        <p:txBody>
          <a:bodyPr wrap="square" anchor="t" lIns="0" rIns="0" tIns="0" bIns="0">
            <a:normAutofit/>
          </a:bodyPr>
          <a:lstStyle/>
          <a:p>
            <a:pPr algn="l">
              <a:lnSpc>
                <a:spcPct val="105000"/>
              </a:lnSpc>
              <a:spcBef>
                <a:spcPts val="0"/>
              </a:spcBef>
            </a:pPr>
            <a:r>
              <a:rPr sz="850" b="0" i="0">
                <a:solidFill>
                  <a:srgbClr val="5B6B7C"/>
                </a:solidFill>
                <a:latin typeface="Calibri"/>
              </a:rPr>
              <a:t>Latest: 8.4-compatibility · 1 releases / 0mo</a:t>
            </a:r>
          </a:p>
        </p:txBody>
      </p:sp>
      <p:sp>
        <p:nvSpPr>
          <p:cNvPr id="31" name="Rounded Rectangle 30"/>
          <p:cNvSpPr/>
          <p:nvPr/>
        </p:nvSpPr>
        <p:spPr>
          <a:xfrm>
            <a:off x="4224528" y="3538728"/>
            <a:ext cx="3657600" cy="19659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224528" y="3538728"/>
            <a:ext cx="3657600"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61688" y="3648456"/>
            <a:ext cx="3383280" cy="365760"/>
          </a:xfrm>
          <a:prstGeom prst="rect">
            <a:avLst/>
          </a:prstGeom>
          <a:noFill/>
        </p:spPr>
        <p:txBody>
          <a:bodyPr wrap="square" anchor="t" lIns="0" rIns="0" tIns="0" bIns="0">
            <a:normAutofit/>
          </a:bodyPr>
          <a:lstStyle/>
          <a:p>
            <a:pPr algn="l">
              <a:lnSpc>
                <a:spcPct val="105000"/>
              </a:lnSpc>
              <a:spcBef>
                <a:spcPts val="0"/>
              </a:spcBef>
            </a:pPr>
            <a:r>
              <a:rPr sz="1200" b="1" i="0">
                <a:solidFill>
                  <a:srgbClr val="1B2B3C"/>
                </a:solidFill>
                <a:latin typeface="Calibri"/>
              </a:rPr>
              <a:t>Spartacus</a:t>
            </a:r>
          </a:p>
        </p:txBody>
      </p:sp>
      <p:sp>
        <p:nvSpPr>
          <p:cNvPr id="34" name="TextBox 33"/>
          <p:cNvSpPr txBox="1"/>
          <p:nvPr/>
        </p:nvSpPr>
        <p:spPr>
          <a:xfrm>
            <a:off x="4361688" y="4041648"/>
            <a:ext cx="3383280" cy="5029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Spartacus DLL/COM Hijacking Toolkit</a:t>
            </a:r>
          </a:p>
        </p:txBody>
      </p:sp>
      <p:sp>
        <p:nvSpPr>
          <p:cNvPr id="35" name="TextBox 34"/>
          <p:cNvSpPr txBox="1"/>
          <p:nvPr/>
        </p:nvSpPr>
        <p:spPr>
          <a:xfrm>
            <a:off x="4361688" y="4590288"/>
            <a:ext cx="3383280" cy="320040"/>
          </a:xfrm>
          <a:prstGeom prst="rect">
            <a:avLst/>
          </a:prstGeom>
          <a:noFill/>
        </p:spPr>
        <p:txBody>
          <a:bodyPr wrap="square" anchor="t" lIns="0" rIns="0" tIns="0" bIns="0">
            <a:noAutofit/>
          </a:bodyPr>
          <a:lstStyle/>
          <a:p>
            <a:pPr algn="l">
              <a:lnSpc>
                <a:spcPct val="105000"/>
              </a:lnSpc>
              <a:spcBef>
                <a:spcPts val="0"/>
              </a:spcBef>
            </a:pPr>
            <a:r>
              <a:rPr sz="900" b="0" i="0">
                <a:solidFill>
                  <a:srgbClr val="00C9A7"/>
                </a:solidFill>
                <a:latin typeface="Calibri"/>
              </a:rPr>
              <a:t>★ 1,083  |  2024-02-01</a:t>
            </a:r>
          </a:p>
        </p:txBody>
      </p:sp>
      <p:sp>
        <p:nvSpPr>
          <p:cNvPr id="36" name="TextBox 35"/>
          <p:cNvSpPr txBox="1"/>
          <p:nvPr/>
        </p:nvSpPr>
        <p:spPr>
          <a:xfrm>
            <a:off x="4361688" y="4910328"/>
            <a:ext cx="3383280" cy="457200"/>
          </a:xfrm>
          <a:prstGeom prst="rect">
            <a:avLst/>
          </a:prstGeom>
          <a:noFill/>
        </p:spPr>
        <p:txBody>
          <a:bodyPr wrap="square" anchor="t" lIns="0" rIns="0" tIns="0" bIns="0">
            <a:normAutofit/>
          </a:bodyPr>
          <a:lstStyle/>
          <a:p>
            <a:pPr algn="l">
              <a:lnSpc>
                <a:spcPct val="105000"/>
              </a:lnSpc>
              <a:spcBef>
                <a:spcPts val="0"/>
              </a:spcBef>
            </a:pPr>
            <a:r>
              <a:rPr sz="850" b="0" i="0">
                <a:solidFill>
                  <a:srgbClr val="5B6B7C"/>
                </a:solidFill>
                <a:latin typeface="Calibri"/>
              </a:rPr>
              <a:t>Latest: v2.2.1 · 11 releases / 13mo</a:t>
            </a:r>
          </a:p>
        </p:txBody>
      </p:sp>
      <p:sp>
        <p:nvSpPr>
          <p:cNvPr id="37" name="Rounded Rectangle 36"/>
          <p:cNvSpPr/>
          <p:nvPr/>
        </p:nvSpPr>
        <p:spPr>
          <a:xfrm>
            <a:off x="8083296" y="3538728"/>
            <a:ext cx="3657600" cy="1965960"/>
          </a:xfrm>
          <a:prstGeom prst="roundRect">
            <a:avLst>
              <a:gd name="adj" fmla="val 6000"/>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83296" y="3538728"/>
            <a:ext cx="3657600" cy="5486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0456" y="3648456"/>
            <a:ext cx="3383280" cy="365760"/>
          </a:xfrm>
          <a:prstGeom prst="rect">
            <a:avLst/>
          </a:prstGeom>
          <a:noFill/>
        </p:spPr>
        <p:txBody>
          <a:bodyPr wrap="square" anchor="t" lIns="0" rIns="0" tIns="0" bIns="0">
            <a:normAutofit/>
          </a:bodyPr>
          <a:lstStyle/>
          <a:p>
            <a:pPr algn="l">
              <a:lnSpc>
                <a:spcPct val="105000"/>
              </a:lnSpc>
              <a:spcBef>
                <a:spcPts val="0"/>
              </a:spcBef>
            </a:pPr>
            <a:r>
              <a:rPr sz="1200" b="1" i="0">
                <a:solidFill>
                  <a:srgbClr val="1B2B3C"/>
                </a:solidFill>
                <a:latin typeface="Calibri"/>
              </a:rPr>
              <a:t>reactive-interaction-gateway</a:t>
            </a:r>
          </a:p>
        </p:txBody>
      </p:sp>
      <p:sp>
        <p:nvSpPr>
          <p:cNvPr id="40" name="TextBox 39"/>
          <p:cNvSpPr txBox="1"/>
          <p:nvPr/>
        </p:nvSpPr>
        <p:spPr>
          <a:xfrm>
            <a:off x="8220456" y="4041648"/>
            <a:ext cx="3383280" cy="50292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Create low-latency, interactive user experiences for stateless microservices.</a:t>
            </a:r>
          </a:p>
        </p:txBody>
      </p:sp>
      <p:sp>
        <p:nvSpPr>
          <p:cNvPr id="41" name="TextBox 40"/>
          <p:cNvSpPr txBox="1"/>
          <p:nvPr/>
        </p:nvSpPr>
        <p:spPr>
          <a:xfrm>
            <a:off x="8220456" y="4590288"/>
            <a:ext cx="3383280" cy="320040"/>
          </a:xfrm>
          <a:prstGeom prst="rect">
            <a:avLst/>
          </a:prstGeom>
          <a:noFill/>
        </p:spPr>
        <p:txBody>
          <a:bodyPr wrap="square" anchor="t" lIns="0" rIns="0" tIns="0" bIns="0">
            <a:noAutofit/>
          </a:bodyPr>
          <a:lstStyle/>
          <a:p>
            <a:pPr algn="l">
              <a:lnSpc>
                <a:spcPct val="105000"/>
              </a:lnSpc>
              <a:spcBef>
                <a:spcPts val="0"/>
              </a:spcBef>
            </a:pPr>
            <a:r>
              <a:rPr sz="900" b="0" i="0">
                <a:solidFill>
                  <a:srgbClr val="00C9A7"/>
                </a:solidFill>
                <a:latin typeface="Calibri"/>
              </a:rPr>
              <a:t>★ 601  |  2026-04-16</a:t>
            </a:r>
          </a:p>
        </p:txBody>
      </p:sp>
      <p:sp>
        <p:nvSpPr>
          <p:cNvPr id="42" name="TextBox 41"/>
          <p:cNvSpPr txBox="1"/>
          <p:nvPr/>
        </p:nvSpPr>
        <p:spPr>
          <a:xfrm>
            <a:off x="8220456" y="4910328"/>
            <a:ext cx="3383280" cy="457200"/>
          </a:xfrm>
          <a:prstGeom prst="rect">
            <a:avLst/>
          </a:prstGeom>
          <a:noFill/>
        </p:spPr>
        <p:txBody>
          <a:bodyPr wrap="square" anchor="t" lIns="0" rIns="0" tIns="0" bIns="0">
            <a:normAutofit/>
          </a:bodyPr>
          <a:lstStyle/>
          <a:p>
            <a:pPr algn="l">
              <a:lnSpc>
                <a:spcPct val="105000"/>
              </a:lnSpc>
              <a:spcBef>
                <a:spcPts val="0"/>
              </a:spcBef>
            </a:pPr>
            <a:r>
              <a:rPr sz="850" b="0" i="0">
                <a:solidFill>
                  <a:srgbClr val="5B6B7C"/>
                </a:solidFill>
                <a:latin typeface="Calibri"/>
              </a:rPr>
              <a:t>Latest: 3.0.0 · 25 releases / 45mo</a:t>
            </a:r>
          </a:p>
        </p:txBody>
      </p:sp>
      <p:sp>
        <p:nvSpPr>
          <p:cNvPr id="43" name="TextBox 4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Competitive Intelligence · June 2026 · Built from live pipeline data</a:t>
            </a:r>
          </a:p>
        </p:txBody>
      </p:sp>
      <p:sp>
        <p:nvSpPr>
          <p:cNvPr id="44" name="TextBox 4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Market Intelligence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Web research highlights via Exa (June 2026)</a:t>
            </a:r>
          </a:p>
        </p:txBody>
      </p:sp>
      <p:sp>
        <p:nvSpPr>
          <p:cNvPr id="7" name="Rounded Rectangle 6"/>
          <p:cNvSpPr/>
          <p:nvPr/>
        </p:nvSpPr>
        <p:spPr>
          <a:xfrm>
            <a:off x="365760" y="1371600"/>
            <a:ext cx="539496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63040"/>
            <a:ext cx="5120640" cy="457200"/>
          </a:xfrm>
          <a:prstGeom prst="rect">
            <a:avLst/>
          </a:prstGeom>
          <a:noFill/>
        </p:spPr>
        <p:txBody>
          <a:bodyPr wrap="square" anchor="t" lIns="0" rIns="0" tIns="0" bIns="0">
            <a:normAutofit/>
          </a:bodyPr>
          <a:lstStyle/>
          <a:p>
            <a:pPr algn="l">
              <a:lnSpc>
                <a:spcPct val="105000"/>
              </a:lnSpc>
              <a:spcBef>
                <a:spcPts val="0"/>
              </a:spcBef>
            </a:pPr>
            <a:r>
              <a:rPr sz="1100" b="1" i="0">
                <a:solidFill>
                  <a:srgbClr val="1B2B3C"/>
                </a:solidFill>
                <a:latin typeface="Calibri"/>
              </a:rPr>
              <a:t>Accenture Reports Fourth-Quarter and Full-Year Fiscal 2025 Results</a:t>
            </a:r>
          </a:p>
        </p:txBody>
      </p:sp>
      <p:sp>
        <p:nvSpPr>
          <p:cNvPr id="9" name="TextBox 8"/>
          <p:cNvSpPr txBox="1"/>
          <p:nvPr/>
        </p:nvSpPr>
        <p:spPr>
          <a:xfrm>
            <a:off x="502920" y="1965960"/>
            <a:ext cx="5120640" cy="86868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Accenture Reports Fourth-Quarter and Full-Year Fiscal 2025 Results
Sep 25, 2025 6:39 AM Eastern Daylight Time
# Accenture Reports Fourth-Quarter and Full-Year Fiscal 2025 Results
Share
---
Accent…</a:t>
            </a:r>
          </a:p>
        </p:txBody>
      </p:sp>
      <p:sp>
        <p:nvSpPr>
          <p:cNvPr id="10" name="TextBox 9"/>
          <p:cNvSpPr txBox="1"/>
          <p:nvPr/>
        </p:nvSpPr>
        <p:spPr>
          <a:xfrm>
            <a:off x="502920" y="2880360"/>
            <a:ext cx="1828800" cy="228600"/>
          </a:xfrm>
          <a:prstGeom prst="rect">
            <a:avLst/>
          </a:prstGeom>
          <a:noFill/>
        </p:spPr>
        <p:txBody>
          <a:bodyPr wrap="square" anchor="t" lIns="0" rIns="0" tIns="0" bIns="0">
            <a:noAutofit/>
          </a:bodyPr>
          <a:lstStyle/>
          <a:p>
            <a:pPr algn="l">
              <a:lnSpc>
                <a:spcPct val="105000"/>
              </a:lnSpc>
              <a:spcBef>
                <a:spcPts val="0"/>
              </a:spcBef>
            </a:pPr>
            <a:r>
              <a:rPr sz="800" b="0" i="0">
                <a:solidFill>
                  <a:srgbClr val="00C9A7"/>
                </a:solidFill>
                <a:latin typeface="Calibri"/>
              </a:rPr>
              <a:t>2025-09-25</a:t>
            </a:r>
          </a:p>
        </p:txBody>
      </p:sp>
      <p:sp>
        <p:nvSpPr>
          <p:cNvPr id="11" name="Rounded Rectangle 10"/>
          <p:cNvSpPr/>
          <p:nvPr/>
        </p:nvSpPr>
        <p:spPr>
          <a:xfrm>
            <a:off x="5961888" y="1371600"/>
            <a:ext cx="539496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8" y="1463040"/>
            <a:ext cx="5120640" cy="457200"/>
          </a:xfrm>
          <a:prstGeom prst="rect">
            <a:avLst/>
          </a:prstGeom>
          <a:noFill/>
        </p:spPr>
        <p:txBody>
          <a:bodyPr wrap="square" anchor="t" lIns="0" rIns="0" tIns="0" bIns="0">
            <a:normAutofit/>
          </a:bodyPr>
          <a:lstStyle/>
          <a:p>
            <a:pPr algn="l">
              <a:lnSpc>
                <a:spcPct val="105000"/>
              </a:lnSpc>
              <a:spcBef>
                <a:spcPts val="0"/>
              </a:spcBef>
            </a:pPr>
            <a:r>
              <a:rPr sz="1100" b="1" i="0">
                <a:solidFill>
                  <a:srgbClr val="1B2B3C"/>
                </a:solidFill>
                <a:latin typeface="Calibri"/>
              </a:rPr>
              <a:t>2025 Annual Report</a:t>
            </a:r>
          </a:p>
        </p:txBody>
      </p:sp>
      <p:sp>
        <p:nvSpPr>
          <p:cNvPr id="13" name="TextBox 12"/>
          <p:cNvSpPr txBox="1"/>
          <p:nvPr/>
        </p:nvSpPr>
        <p:spPr>
          <a:xfrm>
            <a:off x="6099048" y="1965960"/>
            <a:ext cx="5120640" cy="86868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i accenture
Nr
2025 Annual Report Reinventing Reinventing what’s possible what's possible
2025 Annual Report
Copyright© 2025 Accenture.All rights reserved. 
Accenture and its logo are registered t…</a:t>
            </a:r>
          </a:p>
        </p:txBody>
      </p:sp>
      <p:sp>
        <p:nvSpPr>
          <p:cNvPr id="14" name="Rounded Rectangle 13"/>
          <p:cNvSpPr/>
          <p:nvPr/>
        </p:nvSpPr>
        <p:spPr>
          <a:xfrm>
            <a:off x="365760" y="3264408"/>
            <a:ext cx="539496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355848"/>
            <a:ext cx="5120640" cy="457200"/>
          </a:xfrm>
          <a:prstGeom prst="rect">
            <a:avLst/>
          </a:prstGeom>
          <a:noFill/>
        </p:spPr>
        <p:txBody>
          <a:bodyPr wrap="square" anchor="t" lIns="0" rIns="0" tIns="0" bIns="0">
            <a:normAutofit/>
          </a:bodyPr>
          <a:lstStyle/>
          <a:p>
            <a:pPr algn="l">
              <a:lnSpc>
                <a:spcPct val="105000"/>
              </a:lnSpc>
              <a:spcBef>
                <a:spcPts val="0"/>
              </a:spcBef>
            </a:pPr>
            <a:r>
              <a:rPr sz="1100" b="1" i="0">
                <a:solidFill>
                  <a:srgbClr val="1B2B3C"/>
                </a:solidFill>
                <a:latin typeface="Calibri"/>
              </a:rPr>
              <a:t>Reinventing what’s possible | FY2025 Annual Report | Accenture</a:t>
            </a:r>
          </a:p>
        </p:txBody>
      </p:sp>
      <p:sp>
        <p:nvSpPr>
          <p:cNvPr id="16" name="TextBox 15"/>
          <p:cNvSpPr txBox="1"/>
          <p:nvPr/>
        </p:nvSpPr>
        <p:spPr>
          <a:xfrm>
            <a:off x="502920" y="3858768"/>
            <a:ext cx="5120640" cy="86868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 2025 Annual Report
In fiscal year 2025, Accenture further advanced our strategy to be the reinvention partner of choice for our clients, reflected in strong revenue growth, adjusted EPS growth and…</a:t>
            </a:r>
          </a:p>
        </p:txBody>
      </p:sp>
      <p:sp>
        <p:nvSpPr>
          <p:cNvPr id="17" name="Rounded Rectangle 16"/>
          <p:cNvSpPr/>
          <p:nvPr/>
        </p:nvSpPr>
        <p:spPr>
          <a:xfrm>
            <a:off x="5961888" y="3264408"/>
            <a:ext cx="539496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8" y="3355848"/>
            <a:ext cx="5120640" cy="457200"/>
          </a:xfrm>
          <a:prstGeom prst="rect">
            <a:avLst/>
          </a:prstGeom>
          <a:noFill/>
        </p:spPr>
        <p:txBody>
          <a:bodyPr wrap="square" anchor="t" lIns="0" rIns="0" tIns="0" bIns="0">
            <a:normAutofit/>
          </a:bodyPr>
          <a:lstStyle/>
          <a:p>
            <a:pPr algn="l">
              <a:lnSpc>
                <a:spcPct val="105000"/>
              </a:lnSpc>
              <a:spcBef>
                <a:spcPts val="0"/>
              </a:spcBef>
            </a:pPr>
            <a:r>
              <a:rPr sz="1100" b="1" i="0">
                <a:solidFill>
                  <a:srgbClr val="1B2B3C"/>
                </a:solidFill>
                <a:latin typeface="Calibri"/>
              </a:rPr>
              <a:t>Everest Group Artificial Intelligence (AI) and Generative AI Services PEAK …</a:t>
            </a:r>
          </a:p>
        </p:txBody>
      </p:sp>
      <p:sp>
        <p:nvSpPr>
          <p:cNvPr id="19" name="TextBox 18"/>
          <p:cNvSpPr txBox="1"/>
          <p:nvPr/>
        </p:nvSpPr>
        <p:spPr>
          <a:xfrm>
            <a:off x="6099048" y="3858768"/>
            <a:ext cx="5120640" cy="86868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Copyright © 2025 Everest Global, Inc. | this document has been licensed to Accenture
#### Everest Group Artificial Intelligence (AI) and Generative AI Services PEAK Matrix® Assessment 2025
November …</a:t>
            </a:r>
          </a:p>
        </p:txBody>
      </p:sp>
      <p:sp>
        <p:nvSpPr>
          <p:cNvPr id="20" name="Rounded Rectangle 19"/>
          <p:cNvSpPr/>
          <p:nvPr/>
        </p:nvSpPr>
        <p:spPr>
          <a:xfrm>
            <a:off x="365760" y="5157216"/>
            <a:ext cx="539496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248656"/>
            <a:ext cx="5120640" cy="457200"/>
          </a:xfrm>
          <a:prstGeom prst="rect">
            <a:avLst/>
          </a:prstGeom>
          <a:noFill/>
        </p:spPr>
        <p:txBody>
          <a:bodyPr wrap="square" anchor="t" lIns="0" rIns="0" tIns="0" bIns="0">
            <a:normAutofit/>
          </a:bodyPr>
          <a:lstStyle/>
          <a:p>
            <a:pPr algn="l">
              <a:lnSpc>
                <a:spcPct val="105000"/>
              </a:lnSpc>
              <a:spcBef>
                <a:spcPts val="0"/>
              </a:spcBef>
            </a:pPr>
            <a:r>
              <a:rPr sz="1100" b="1" i="0">
                <a:solidFill>
                  <a:srgbClr val="1B2B3C"/>
                </a:solidFill>
                <a:latin typeface="Calibri"/>
              </a:rPr>
              <a:t>Artificial Intelligence (AI) Consulting Services Market | 2035</a:t>
            </a:r>
          </a:p>
        </p:txBody>
      </p:sp>
      <p:sp>
        <p:nvSpPr>
          <p:cNvPr id="22" name="TextBox 21"/>
          <p:cNvSpPr txBox="1"/>
          <p:nvPr/>
        </p:nvSpPr>
        <p:spPr>
          <a:xfrm>
            <a:off x="502920" y="5751576"/>
            <a:ext cx="5120640" cy="86868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Artificial Intelligence (AI) Consulting Services Market | 2035
# Artificial Intelligence (AI) Consulting Services Market
Artificial Intelligence (AI) Consulting Services Market Research Report: Size…</a:t>
            </a:r>
          </a:p>
        </p:txBody>
      </p:sp>
      <p:sp>
        <p:nvSpPr>
          <p:cNvPr id="23" name="TextBox 22"/>
          <p:cNvSpPr txBox="1"/>
          <p:nvPr/>
        </p:nvSpPr>
        <p:spPr>
          <a:xfrm>
            <a:off x="502920" y="6665976"/>
            <a:ext cx="1828800" cy="228600"/>
          </a:xfrm>
          <a:prstGeom prst="rect">
            <a:avLst/>
          </a:prstGeom>
          <a:noFill/>
        </p:spPr>
        <p:txBody>
          <a:bodyPr wrap="square" anchor="t" lIns="0" rIns="0" tIns="0" bIns="0">
            <a:noAutofit/>
          </a:bodyPr>
          <a:lstStyle/>
          <a:p>
            <a:pPr algn="l">
              <a:lnSpc>
                <a:spcPct val="105000"/>
              </a:lnSpc>
              <a:spcBef>
                <a:spcPts val="0"/>
              </a:spcBef>
            </a:pPr>
            <a:r>
              <a:rPr sz="800" b="0" i="0">
                <a:solidFill>
                  <a:srgbClr val="00C9A7"/>
                </a:solidFill>
                <a:latin typeface="Calibri"/>
              </a:rPr>
              <a:t>2026-01-02</a:t>
            </a:r>
          </a:p>
        </p:txBody>
      </p:sp>
      <p:sp>
        <p:nvSpPr>
          <p:cNvPr id="24" name="Rounded Rectangle 23"/>
          <p:cNvSpPr/>
          <p:nvPr/>
        </p:nvSpPr>
        <p:spPr>
          <a:xfrm>
            <a:off x="5961888" y="5157216"/>
            <a:ext cx="539496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9048" y="5248656"/>
            <a:ext cx="5120640" cy="457200"/>
          </a:xfrm>
          <a:prstGeom prst="rect">
            <a:avLst/>
          </a:prstGeom>
          <a:noFill/>
        </p:spPr>
        <p:txBody>
          <a:bodyPr wrap="square" anchor="t" lIns="0" rIns="0" tIns="0" bIns="0">
            <a:normAutofit/>
          </a:bodyPr>
          <a:lstStyle/>
          <a:p>
            <a:pPr algn="l">
              <a:lnSpc>
                <a:spcPct val="105000"/>
              </a:lnSpc>
              <a:spcBef>
                <a:spcPts val="0"/>
              </a:spcBef>
            </a:pPr>
            <a:r>
              <a:rPr sz="1100" b="1" i="0">
                <a:solidFill>
                  <a:srgbClr val="1B2B3C"/>
                </a:solidFill>
                <a:latin typeface="Calibri"/>
              </a:rPr>
              <a:t>AI Consulting Market Growth Analysis - Size and Forecast 2025-2029 | Techna…</a:t>
            </a:r>
          </a:p>
        </p:txBody>
      </p:sp>
      <p:sp>
        <p:nvSpPr>
          <p:cNvPr id="26" name="TextBox 25"/>
          <p:cNvSpPr txBox="1"/>
          <p:nvPr/>
        </p:nvSpPr>
        <p:spPr>
          <a:xfrm>
            <a:off x="6099048" y="5751576"/>
            <a:ext cx="5120640" cy="868680"/>
          </a:xfrm>
          <a:prstGeom prst="rect">
            <a:avLst/>
          </a:prstGeom>
          <a:noFill/>
        </p:spPr>
        <p:txBody>
          <a:bodyPr wrap="square" anchor="t" lIns="0" rIns="0" tIns="0" bIns="0">
            <a:normAutofit/>
          </a:bodyPr>
          <a:lstStyle/>
          <a:p>
            <a:pPr algn="l">
              <a:lnSpc>
                <a:spcPct val="105000"/>
              </a:lnSpc>
              <a:spcBef>
                <a:spcPts val="0"/>
              </a:spcBef>
            </a:pPr>
            <a:r>
              <a:rPr sz="900" b="0" i="0">
                <a:solidFill>
                  <a:srgbClr val="5B6B7C"/>
                </a:solidFill>
                <a:latin typeface="Calibri"/>
              </a:rPr>
              <a:t>AI Consulting Market Growth Analysis - Size and Forecast 2025-2029 | Technavio | Technavio
Skip to main content
# AI Consulting Market Analysis, Size, and Forecast 2025-2029:North America (US, Canad…</a:t>
            </a:r>
          </a:p>
        </p:txBody>
      </p:sp>
      <p:sp>
        <p:nvSpPr>
          <p:cNvPr id="27" name="TextBox 26"/>
          <p:cNvSpPr txBox="1"/>
          <p:nvPr/>
        </p:nvSpPr>
        <p:spPr>
          <a:xfrm>
            <a:off x="6099048" y="6665976"/>
            <a:ext cx="1828800" cy="228600"/>
          </a:xfrm>
          <a:prstGeom prst="rect">
            <a:avLst/>
          </a:prstGeom>
          <a:noFill/>
        </p:spPr>
        <p:txBody>
          <a:bodyPr wrap="square" anchor="t" lIns="0" rIns="0" tIns="0" bIns="0">
            <a:noAutofit/>
          </a:bodyPr>
          <a:lstStyle/>
          <a:p>
            <a:pPr algn="l">
              <a:lnSpc>
                <a:spcPct val="105000"/>
              </a:lnSpc>
              <a:spcBef>
                <a:spcPts val="0"/>
              </a:spcBef>
            </a:pPr>
            <a:r>
              <a:rPr sz="800" b="0" i="0">
                <a:solidFill>
                  <a:srgbClr val="00C9A7"/>
                </a:solidFill>
                <a:latin typeface="Calibri"/>
              </a:rPr>
              <a:t>2025-07-22</a:t>
            </a:r>
          </a:p>
        </p:txBody>
      </p:sp>
      <p:sp>
        <p:nvSpPr>
          <p:cNvPr id="28" name="TextBox 2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Competitive Intelligence · June 2026 · Built from live pipeline data</a:t>
            </a:r>
          </a:p>
        </p:txBody>
      </p:sp>
      <p:sp>
        <p:nvSpPr>
          <p:cNvPr id="29" name="TextBox 2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058400" cy="457200"/>
          </a:xfrm>
          <a:prstGeom prst="rect">
            <a:avLst/>
          </a:prstGeom>
          <a:noFill/>
        </p:spPr>
        <p:txBody>
          <a:bodyPr wrap="square" anchor="t" lIns="0" rIns="0" tIns="0" bIns="0">
            <a:noAutofit/>
          </a:bodyPr>
          <a:lstStyle/>
          <a:p>
            <a:pPr algn="l">
              <a:lnSpc>
                <a:spcPct val="105000"/>
              </a:lnSpc>
              <a:spcBef>
                <a:spcPts val="0"/>
              </a:spcBef>
            </a:pPr>
            <a:r>
              <a:rPr sz="1300" b="1" i="0">
                <a:solidFill>
                  <a:srgbClr val="00C9A7"/>
                </a:solidFill>
                <a:latin typeface="Calibri"/>
              </a:rPr>
              <a:t>AI PLATFORM STRATEGY</a:t>
            </a:r>
          </a:p>
        </p:txBody>
      </p:sp>
      <p:sp>
        <p:nvSpPr>
          <p:cNvPr id="5" name="TextBox 4"/>
          <p:cNvSpPr txBox="1"/>
          <p:nvPr/>
        </p:nvSpPr>
        <p:spPr>
          <a:xfrm>
            <a:off x="457200" y="594360"/>
            <a:ext cx="10058400" cy="411480"/>
          </a:xfrm>
          <a:prstGeom prst="rect">
            <a:avLst/>
          </a:prstGeom>
          <a:noFill/>
        </p:spPr>
        <p:txBody>
          <a:bodyPr wrap="square" anchor="t" lIns="0" rIns="0" tIns="0" bIns="0">
            <a:noAutofit/>
          </a:bodyPr>
          <a:lstStyle/>
          <a:p>
            <a:pPr algn="l">
              <a:lnSpc>
                <a:spcPct val="105000"/>
              </a:lnSpc>
              <a:spcBef>
                <a:spcPts val="0"/>
              </a:spcBef>
            </a:pPr>
            <a:r>
              <a:rPr sz="1600" b="0" i="0">
                <a:solidFill>
                  <a:srgbClr val="FFFFFF"/>
                </a:solidFill>
                <a:latin typeface="Calibri"/>
              </a:rPr>
              <a:t>What ACCENTURE's open-source bets reveal about their AI direction</a:t>
            </a:r>
          </a:p>
        </p:txBody>
      </p:sp>
      <p:sp>
        <p:nvSpPr>
          <p:cNvPr id="6" name="Rounded Rectangle 5"/>
          <p:cNvSpPr/>
          <p:nvPr/>
        </p:nvSpPr>
        <p:spPr>
          <a:xfrm>
            <a:off x="365760" y="1234440"/>
            <a:ext cx="3566160" cy="3200400"/>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3566160" cy="640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3200400" cy="502920"/>
          </a:xfrm>
          <a:prstGeom prst="rect">
            <a:avLst/>
          </a:prstGeom>
          <a:noFill/>
        </p:spPr>
        <p:txBody>
          <a:bodyPr wrap="square" anchor="t" lIns="0" rIns="0" tIns="0" bIns="0">
            <a:normAutofit/>
          </a:bodyPr>
          <a:lstStyle/>
          <a:p>
            <a:pPr algn="l">
              <a:lnSpc>
                <a:spcPct val="105000"/>
              </a:lnSpc>
              <a:spcBef>
                <a:spcPts val="0"/>
              </a:spcBef>
            </a:pPr>
            <a:r>
              <a:rPr sz="1300" b="1" i="0">
                <a:solidFill>
                  <a:srgbClr val="00C9A7"/>
                </a:solidFill>
                <a:latin typeface="Calibri"/>
              </a:rPr>
              <a:t>AI Refinery Platform</a:t>
            </a:r>
          </a:p>
        </p:txBody>
      </p:sp>
      <p:sp>
        <p:nvSpPr>
          <p:cNvPr id="9" name="TextBox 8"/>
          <p:cNvSpPr txBox="1"/>
          <p:nvPr/>
        </p:nvSpPr>
        <p:spPr>
          <a:xfrm>
            <a:off x="548640" y="1920240"/>
            <a:ext cx="3200400" cy="1828800"/>
          </a:xfrm>
          <a:prstGeom prst="rect">
            <a:avLst/>
          </a:prstGeom>
          <a:noFill/>
        </p:spPr>
        <p:txBody>
          <a:bodyPr wrap="square" anchor="t" lIns="0" rIns="0" tIns="0" bIns="0">
            <a:normAutofit/>
          </a:bodyPr>
          <a:lstStyle/>
          <a:p>
            <a:pPr algn="l">
              <a:lnSpc>
                <a:spcPct val="105000"/>
              </a:lnSpc>
              <a:spcBef>
                <a:spcPts val="0"/>
              </a:spcBef>
            </a:pPr>
            <a:r>
              <a:rPr sz="1050" b="0" i="0">
                <a:solidFill>
                  <a:srgbClr val="FFFFFF"/>
                </a:solidFill>
                <a:latin typeface="Calibri"/>
              </a:rPr>
              <a:t>AI Refinery SDK v1.31.4 — 30 releases in 12 months — signals a production-grade enterprise AI orchestration platform. Bridges pre-built AI models with enterprise system integration.</a:t>
            </a:r>
          </a:p>
        </p:txBody>
      </p:sp>
      <p:sp>
        <p:nvSpPr>
          <p:cNvPr id="10" name="Rounded Rectangle 9"/>
          <p:cNvSpPr/>
          <p:nvPr/>
        </p:nvSpPr>
        <p:spPr>
          <a:xfrm>
            <a:off x="548640" y="3840480"/>
            <a:ext cx="3200400" cy="41148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867912"/>
            <a:ext cx="3017520" cy="347472"/>
          </a:xfrm>
          <a:prstGeom prst="rect">
            <a:avLst/>
          </a:prstGeom>
          <a:noFill/>
        </p:spPr>
        <p:txBody>
          <a:bodyPr wrap="square" anchor="t" lIns="0" rIns="0" tIns="0" bIns="0">
            <a:noAutofit/>
          </a:bodyPr>
          <a:lstStyle/>
          <a:p>
            <a:pPr algn="l">
              <a:lnSpc>
                <a:spcPct val="105000"/>
              </a:lnSpc>
              <a:spcBef>
                <a:spcPts val="0"/>
              </a:spcBef>
            </a:pPr>
            <a:r>
              <a:rPr sz="900" b="1" i="0">
                <a:solidFill>
                  <a:srgbClr val="FFB800"/>
                </a:solidFill>
                <a:latin typeface="Calibri"/>
              </a:rPr>
              <a:t>30 releases / 12 months</a:t>
            </a:r>
          </a:p>
        </p:txBody>
      </p:sp>
      <p:sp>
        <p:nvSpPr>
          <p:cNvPr id="12" name="Rounded Rectangle 11"/>
          <p:cNvSpPr/>
          <p:nvPr/>
        </p:nvSpPr>
        <p:spPr>
          <a:xfrm>
            <a:off x="4206240" y="1234440"/>
            <a:ext cx="3566160" cy="3200400"/>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06240" y="1234440"/>
            <a:ext cx="3566160" cy="640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1371600"/>
            <a:ext cx="3200400" cy="502920"/>
          </a:xfrm>
          <a:prstGeom prst="rect">
            <a:avLst/>
          </a:prstGeom>
          <a:noFill/>
        </p:spPr>
        <p:txBody>
          <a:bodyPr wrap="square" anchor="t" lIns="0" rIns="0" tIns="0" bIns="0">
            <a:normAutofit/>
          </a:bodyPr>
          <a:lstStyle/>
          <a:p>
            <a:pPr algn="l">
              <a:lnSpc>
                <a:spcPct val="105000"/>
              </a:lnSpc>
              <a:spcBef>
                <a:spcPts val="0"/>
              </a:spcBef>
            </a:pPr>
            <a:r>
              <a:rPr sz="1300" b="1" i="0">
                <a:solidFill>
                  <a:srgbClr val="00C9A7"/>
                </a:solidFill>
                <a:latin typeface="Calibri"/>
              </a:rPr>
              <a:t>MCP Benchmark Investment</a:t>
            </a:r>
          </a:p>
        </p:txBody>
      </p:sp>
      <p:sp>
        <p:nvSpPr>
          <p:cNvPr id="15" name="TextBox 14"/>
          <p:cNvSpPr txBox="1"/>
          <p:nvPr/>
        </p:nvSpPr>
        <p:spPr>
          <a:xfrm>
            <a:off x="4389120" y="1920240"/>
            <a:ext cx="3200400" cy="1828800"/>
          </a:xfrm>
          <a:prstGeom prst="rect">
            <a:avLst/>
          </a:prstGeom>
          <a:noFill/>
        </p:spPr>
        <p:txBody>
          <a:bodyPr wrap="square" anchor="t" lIns="0" rIns="0" tIns="0" bIns="0">
            <a:normAutofit/>
          </a:bodyPr>
          <a:lstStyle/>
          <a:p>
            <a:pPr algn="l">
              <a:lnSpc>
                <a:spcPct val="105000"/>
              </a:lnSpc>
              <a:spcBef>
                <a:spcPts val="0"/>
              </a:spcBef>
            </a:pPr>
            <a:r>
              <a:rPr sz="1050" b="0" i="0">
                <a:solidFill>
                  <a:srgbClr val="FFFFFF"/>
                </a:solidFill>
                <a:latin typeface="Calibri"/>
              </a:rPr>
              <a:t>mcp-bench positions Accenture as a neutral evaluator of AI tool protocols. Strategic value: credibility with enterprise clients evaluating AI infrastructure.</a:t>
            </a:r>
          </a:p>
        </p:txBody>
      </p:sp>
      <p:sp>
        <p:nvSpPr>
          <p:cNvPr id="16" name="Rounded Rectangle 15"/>
          <p:cNvSpPr/>
          <p:nvPr/>
        </p:nvSpPr>
        <p:spPr>
          <a:xfrm>
            <a:off x="4389120" y="3840480"/>
            <a:ext cx="3200400" cy="41148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3867912"/>
            <a:ext cx="3017520" cy="347472"/>
          </a:xfrm>
          <a:prstGeom prst="rect">
            <a:avLst/>
          </a:prstGeom>
          <a:noFill/>
        </p:spPr>
        <p:txBody>
          <a:bodyPr wrap="square" anchor="t" lIns="0" rIns="0" tIns="0" bIns="0">
            <a:noAutofit/>
          </a:bodyPr>
          <a:lstStyle/>
          <a:p>
            <a:pPr algn="l">
              <a:lnSpc>
                <a:spcPct val="105000"/>
              </a:lnSpc>
              <a:spcBef>
                <a:spcPts val="0"/>
              </a:spcBef>
            </a:pPr>
            <a:r>
              <a:rPr sz="900" b="1" i="0">
                <a:solidFill>
                  <a:srgbClr val="FFB800"/>
                </a:solidFill>
                <a:latin typeface="Calibri"/>
              </a:rPr>
              <a:t>Industry credibility play</a:t>
            </a:r>
          </a:p>
        </p:txBody>
      </p:sp>
      <p:sp>
        <p:nvSpPr>
          <p:cNvPr id="18" name="Rounded Rectangle 17"/>
          <p:cNvSpPr/>
          <p:nvPr/>
        </p:nvSpPr>
        <p:spPr>
          <a:xfrm>
            <a:off x="8046720" y="1234440"/>
            <a:ext cx="3566160" cy="3200400"/>
          </a:xfrm>
          <a:prstGeom prst="roundRect">
            <a:avLst>
              <a:gd name="adj" fmla="val 8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234440"/>
            <a:ext cx="3566160" cy="6400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1371600"/>
            <a:ext cx="3200400" cy="502920"/>
          </a:xfrm>
          <a:prstGeom prst="rect">
            <a:avLst/>
          </a:prstGeom>
          <a:noFill/>
        </p:spPr>
        <p:txBody>
          <a:bodyPr wrap="square" anchor="t" lIns="0" rIns="0" tIns="0" bIns="0">
            <a:normAutofit/>
          </a:bodyPr>
          <a:lstStyle/>
          <a:p>
            <a:pPr algn="l">
              <a:lnSpc>
                <a:spcPct val="105000"/>
              </a:lnSpc>
              <a:spcBef>
                <a:spcPts val="0"/>
              </a:spcBef>
            </a:pPr>
            <a:r>
              <a:rPr sz="1300" b="1" i="0">
                <a:solidFill>
                  <a:srgbClr val="00C9A7"/>
                </a:solidFill>
                <a:latin typeface="Calibri"/>
              </a:rPr>
              <a:t>Open Source as Business Dev</a:t>
            </a:r>
          </a:p>
        </p:txBody>
      </p:sp>
      <p:sp>
        <p:nvSpPr>
          <p:cNvPr id="21" name="TextBox 20"/>
          <p:cNvSpPr txBox="1"/>
          <p:nvPr/>
        </p:nvSpPr>
        <p:spPr>
          <a:xfrm>
            <a:off x="8229600" y="1920240"/>
            <a:ext cx="3200400" cy="1828800"/>
          </a:xfrm>
          <a:prstGeom prst="rect">
            <a:avLst/>
          </a:prstGeom>
          <a:noFill/>
        </p:spPr>
        <p:txBody>
          <a:bodyPr wrap="square" anchor="t" lIns="0" rIns="0" tIns="0" bIns="0">
            <a:normAutofit/>
          </a:bodyPr>
          <a:lstStyle/>
          <a:p>
            <a:pPr algn="l">
              <a:lnSpc>
                <a:spcPct val="105000"/>
              </a:lnSpc>
              <a:spcBef>
                <a:spcPts val="0"/>
              </a:spcBef>
            </a:pPr>
            <a:r>
              <a:rPr sz="1050" b="0" i="0">
                <a:solidFill>
                  <a:srgbClr val="FFFFFF"/>
                </a:solidFill>
                <a:latin typeface="Calibri"/>
              </a:rPr>
              <a:t>223 repos with focused AI investment (AmpliGraph knowledge graphs, VulFi security scanning) create consulting lead-gen through technical community presence.</a:t>
            </a:r>
          </a:p>
        </p:txBody>
      </p:sp>
      <p:sp>
        <p:nvSpPr>
          <p:cNvPr id="22" name="Rounded Rectangle 21"/>
          <p:cNvSpPr/>
          <p:nvPr/>
        </p:nvSpPr>
        <p:spPr>
          <a:xfrm>
            <a:off x="8229600" y="3840480"/>
            <a:ext cx="3200400" cy="411480"/>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0" y="3867912"/>
            <a:ext cx="3017520" cy="347472"/>
          </a:xfrm>
          <a:prstGeom prst="rect">
            <a:avLst/>
          </a:prstGeom>
          <a:noFill/>
        </p:spPr>
        <p:txBody>
          <a:bodyPr wrap="square" anchor="t" lIns="0" rIns="0" tIns="0" bIns="0">
            <a:noAutofit/>
          </a:bodyPr>
          <a:lstStyle/>
          <a:p>
            <a:pPr algn="l">
              <a:lnSpc>
                <a:spcPct val="105000"/>
              </a:lnSpc>
              <a:spcBef>
                <a:spcPts val="0"/>
              </a:spcBef>
            </a:pPr>
            <a:r>
              <a:rPr sz="900" b="1" i="0">
                <a:solidFill>
                  <a:srgbClr val="FFB800"/>
                </a:solidFill>
                <a:latin typeface="Calibri"/>
              </a:rPr>
              <a:t>223 repos · 10K stars</a:t>
            </a:r>
          </a:p>
        </p:txBody>
      </p:sp>
      <p:sp>
        <p:nvSpPr>
          <p:cNvPr id="24" name="TextBox 2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Accenture Competitive Intelligence · June 2026 · Built from live pipeline data</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Competitive Position</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AI consulting &amp; technology market landscape</a:t>
            </a:r>
          </a:p>
        </p:txBody>
      </p:sp>
      <p:sp>
        <p:nvSpPr>
          <p:cNvPr id="7" name="Rectangle 6"/>
          <p:cNvSpPr/>
          <p:nvPr/>
        </p:nvSpPr>
        <p:spPr>
          <a:xfrm>
            <a:off x="365760" y="1371600"/>
            <a:ext cx="10241280" cy="530352"/>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1463040"/>
            <a:ext cx="1828800" cy="438912"/>
          </a:xfrm>
          <a:prstGeom prst="rect">
            <a:avLst/>
          </a:prstGeom>
          <a:noFill/>
        </p:spPr>
        <p:txBody>
          <a:bodyPr wrap="square" anchor="t" lIns="0" rIns="0" tIns="0" bIns="0">
            <a:noAutofit/>
          </a:bodyPr>
          <a:lstStyle/>
          <a:p>
            <a:pPr algn="l">
              <a:lnSpc>
                <a:spcPct val="105000"/>
              </a:lnSpc>
              <a:spcBef>
                <a:spcPts val="0"/>
              </a:spcBef>
            </a:pPr>
            <a:r>
              <a:rPr sz="1000" b="1" i="0">
                <a:solidFill>
                  <a:srgbClr val="FFFFFF"/>
                </a:solidFill>
                <a:latin typeface="Calibri"/>
              </a:rPr>
              <a:t>Company</a:t>
            </a:r>
          </a:p>
        </p:txBody>
      </p:sp>
      <p:sp>
        <p:nvSpPr>
          <p:cNvPr id="9" name="TextBox 8"/>
          <p:cNvSpPr txBox="1"/>
          <p:nvPr/>
        </p:nvSpPr>
        <p:spPr>
          <a:xfrm>
            <a:off x="2359152" y="1463040"/>
            <a:ext cx="1097280" cy="438912"/>
          </a:xfrm>
          <a:prstGeom prst="rect">
            <a:avLst/>
          </a:prstGeom>
          <a:noFill/>
        </p:spPr>
        <p:txBody>
          <a:bodyPr wrap="square" anchor="t" lIns="0" rIns="0" tIns="0" bIns="0">
            <a:noAutofit/>
          </a:bodyPr>
          <a:lstStyle/>
          <a:p>
            <a:pPr algn="l">
              <a:lnSpc>
                <a:spcPct val="105000"/>
              </a:lnSpc>
              <a:spcBef>
                <a:spcPts val="0"/>
              </a:spcBef>
            </a:pPr>
            <a:r>
              <a:rPr sz="1000" b="1" i="0">
                <a:solidFill>
                  <a:srgbClr val="FFFFFF"/>
                </a:solidFill>
                <a:latin typeface="Calibri"/>
              </a:rPr>
              <a:t>FY Revenue</a:t>
            </a:r>
          </a:p>
        </p:txBody>
      </p:sp>
      <p:sp>
        <p:nvSpPr>
          <p:cNvPr id="10" name="TextBox 9"/>
          <p:cNvSpPr txBox="1"/>
          <p:nvPr/>
        </p:nvSpPr>
        <p:spPr>
          <a:xfrm>
            <a:off x="3547872" y="1463040"/>
            <a:ext cx="2103120" cy="438912"/>
          </a:xfrm>
          <a:prstGeom prst="rect">
            <a:avLst/>
          </a:prstGeom>
          <a:noFill/>
        </p:spPr>
        <p:txBody>
          <a:bodyPr wrap="square" anchor="t" lIns="0" rIns="0" tIns="0" bIns="0">
            <a:noAutofit/>
          </a:bodyPr>
          <a:lstStyle/>
          <a:p>
            <a:pPr algn="l">
              <a:lnSpc>
                <a:spcPct val="105000"/>
              </a:lnSpc>
              <a:spcBef>
                <a:spcPts val="0"/>
              </a:spcBef>
            </a:pPr>
            <a:r>
              <a:rPr sz="1000" b="1" i="0">
                <a:solidFill>
                  <a:srgbClr val="FFFFFF"/>
                </a:solidFill>
                <a:latin typeface="Calibri"/>
              </a:rPr>
              <a:t>AI Posture</a:t>
            </a:r>
          </a:p>
        </p:txBody>
      </p:sp>
      <p:sp>
        <p:nvSpPr>
          <p:cNvPr id="11" name="TextBox 10"/>
          <p:cNvSpPr txBox="1"/>
          <p:nvPr/>
        </p:nvSpPr>
        <p:spPr>
          <a:xfrm>
            <a:off x="5742432" y="1463040"/>
            <a:ext cx="2560320" cy="438912"/>
          </a:xfrm>
          <a:prstGeom prst="rect">
            <a:avLst/>
          </a:prstGeom>
          <a:noFill/>
        </p:spPr>
        <p:txBody>
          <a:bodyPr wrap="square" anchor="t" lIns="0" rIns="0" tIns="0" bIns="0">
            <a:noAutofit/>
          </a:bodyPr>
          <a:lstStyle/>
          <a:p>
            <a:pPr algn="l">
              <a:lnSpc>
                <a:spcPct val="105000"/>
              </a:lnSpc>
              <a:spcBef>
                <a:spcPts val="0"/>
              </a:spcBef>
            </a:pPr>
            <a:r>
              <a:rPr sz="1000" b="1" i="0">
                <a:solidFill>
                  <a:srgbClr val="FFFFFF"/>
                </a:solidFill>
                <a:latin typeface="Calibri"/>
              </a:rPr>
              <a:t>Key AI Platform</a:t>
            </a:r>
          </a:p>
        </p:txBody>
      </p:sp>
      <p:sp>
        <p:nvSpPr>
          <p:cNvPr id="12" name="TextBox 11"/>
          <p:cNvSpPr txBox="1"/>
          <p:nvPr/>
        </p:nvSpPr>
        <p:spPr>
          <a:xfrm>
            <a:off x="8394192" y="1463040"/>
            <a:ext cx="2194560" cy="438912"/>
          </a:xfrm>
          <a:prstGeom prst="rect">
            <a:avLst/>
          </a:prstGeom>
          <a:noFill/>
        </p:spPr>
        <p:txBody>
          <a:bodyPr wrap="square" anchor="t" lIns="0" rIns="0" tIns="0" bIns="0">
            <a:noAutofit/>
          </a:bodyPr>
          <a:lstStyle/>
          <a:p>
            <a:pPr algn="l">
              <a:lnSpc>
                <a:spcPct val="105000"/>
              </a:lnSpc>
              <a:spcBef>
                <a:spcPts val="0"/>
              </a:spcBef>
            </a:pPr>
            <a:r>
              <a:rPr sz="1000" b="1" i="0">
                <a:solidFill>
                  <a:srgbClr val="FFFFFF"/>
                </a:solidFill>
                <a:latin typeface="Calibri"/>
              </a:rPr>
              <a:t>Open Source Signal</a:t>
            </a:r>
          </a:p>
        </p:txBody>
      </p:sp>
      <p:sp>
        <p:nvSpPr>
          <p:cNvPr id="13" name="Rectangle 12"/>
          <p:cNvSpPr/>
          <p:nvPr/>
        </p:nvSpPr>
        <p:spPr>
          <a:xfrm>
            <a:off x="365760" y="1901952"/>
            <a:ext cx="10241280" cy="530352"/>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993392"/>
            <a:ext cx="1828800" cy="438912"/>
          </a:xfrm>
          <a:prstGeom prst="rect">
            <a:avLst/>
          </a:prstGeom>
          <a:noFill/>
        </p:spPr>
        <p:txBody>
          <a:bodyPr wrap="square" anchor="t" lIns="0" rIns="0" tIns="0" bIns="0">
            <a:noAutofit/>
          </a:bodyPr>
          <a:lstStyle/>
          <a:p>
            <a:pPr algn="l">
              <a:lnSpc>
                <a:spcPct val="105000"/>
              </a:lnSpc>
              <a:spcBef>
                <a:spcPts val="0"/>
              </a:spcBef>
            </a:pPr>
            <a:r>
              <a:rPr sz="950" b="1" i="0">
                <a:solidFill>
                  <a:srgbClr val="1B2B3C"/>
                </a:solidFill>
                <a:latin typeface="Calibri"/>
              </a:rPr>
              <a:t>Accenture ◀</a:t>
            </a:r>
          </a:p>
        </p:txBody>
      </p:sp>
      <p:sp>
        <p:nvSpPr>
          <p:cNvPr id="15" name="TextBox 14"/>
          <p:cNvSpPr txBox="1"/>
          <p:nvPr/>
        </p:nvSpPr>
        <p:spPr>
          <a:xfrm>
            <a:off x="2359152" y="1993392"/>
            <a:ext cx="1097280" cy="438912"/>
          </a:xfrm>
          <a:prstGeom prst="rect">
            <a:avLst/>
          </a:prstGeom>
          <a:noFill/>
        </p:spPr>
        <p:txBody>
          <a:bodyPr wrap="square" anchor="t" lIns="0" rIns="0" tIns="0" bIns="0">
            <a:noAutofit/>
          </a:bodyPr>
          <a:lstStyle/>
          <a:p>
            <a:pPr algn="l">
              <a:lnSpc>
                <a:spcPct val="105000"/>
              </a:lnSpc>
              <a:spcBef>
                <a:spcPts val="0"/>
              </a:spcBef>
            </a:pPr>
            <a:r>
              <a:rPr sz="950" b="1" i="0">
                <a:solidFill>
                  <a:srgbClr val="1B2B3C"/>
                </a:solidFill>
                <a:latin typeface="Calibri"/>
              </a:rPr>
              <a:t>$69.7B</a:t>
            </a:r>
          </a:p>
        </p:txBody>
      </p:sp>
      <p:sp>
        <p:nvSpPr>
          <p:cNvPr id="16" name="TextBox 15"/>
          <p:cNvSpPr txBox="1"/>
          <p:nvPr/>
        </p:nvSpPr>
        <p:spPr>
          <a:xfrm>
            <a:off x="3547872" y="1993392"/>
            <a:ext cx="2103120" cy="438912"/>
          </a:xfrm>
          <a:prstGeom prst="rect">
            <a:avLst/>
          </a:prstGeom>
          <a:noFill/>
        </p:spPr>
        <p:txBody>
          <a:bodyPr wrap="square" anchor="t" lIns="0" rIns="0" tIns="0" bIns="0">
            <a:noAutofit/>
          </a:bodyPr>
          <a:lstStyle/>
          <a:p>
            <a:pPr algn="l">
              <a:lnSpc>
                <a:spcPct val="105000"/>
              </a:lnSpc>
              <a:spcBef>
                <a:spcPts val="0"/>
              </a:spcBef>
            </a:pPr>
            <a:r>
              <a:rPr sz="950" b="1" i="0">
                <a:solidFill>
                  <a:srgbClr val="1B2B3C"/>
                </a:solidFill>
                <a:latin typeface="Calibri"/>
              </a:rPr>
              <a:t>AI-first integrator</a:t>
            </a:r>
          </a:p>
        </p:txBody>
      </p:sp>
      <p:sp>
        <p:nvSpPr>
          <p:cNvPr id="17" name="TextBox 16"/>
          <p:cNvSpPr txBox="1"/>
          <p:nvPr/>
        </p:nvSpPr>
        <p:spPr>
          <a:xfrm>
            <a:off x="5742432" y="1993392"/>
            <a:ext cx="2560320" cy="438912"/>
          </a:xfrm>
          <a:prstGeom prst="rect">
            <a:avLst/>
          </a:prstGeom>
          <a:noFill/>
        </p:spPr>
        <p:txBody>
          <a:bodyPr wrap="square" anchor="t" lIns="0" rIns="0" tIns="0" bIns="0">
            <a:noAutofit/>
          </a:bodyPr>
          <a:lstStyle/>
          <a:p>
            <a:pPr algn="l">
              <a:lnSpc>
                <a:spcPct val="105000"/>
              </a:lnSpc>
              <a:spcBef>
                <a:spcPts val="0"/>
              </a:spcBef>
            </a:pPr>
            <a:r>
              <a:rPr sz="950" b="1" i="0">
                <a:solidFill>
                  <a:srgbClr val="1B2B3C"/>
                </a:solidFill>
                <a:latin typeface="Calibri"/>
              </a:rPr>
              <a:t>AI Refinery SDK</a:t>
            </a:r>
          </a:p>
        </p:txBody>
      </p:sp>
      <p:sp>
        <p:nvSpPr>
          <p:cNvPr id="18" name="TextBox 17"/>
          <p:cNvSpPr txBox="1"/>
          <p:nvPr/>
        </p:nvSpPr>
        <p:spPr>
          <a:xfrm>
            <a:off x="8394192" y="1993392"/>
            <a:ext cx="2194560" cy="438912"/>
          </a:xfrm>
          <a:prstGeom prst="rect">
            <a:avLst/>
          </a:prstGeom>
          <a:noFill/>
        </p:spPr>
        <p:txBody>
          <a:bodyPr wrap="square" anchor="t" lIns="0" rIns="0" tIns="0" bIns="0">
            <a:noAutofit/>
          </a:bodyPr>
          <a:lstStyle/>
          <a:p>
            <a:pPr algn="l">
              <a:lnSpc>
                <a:spcPct val="105000"/>
              </a:lnSpc>
              <a:spcBef>
                <a:spcPts val="0"/>
              </a:spcBef>
            </a:pPr>
            <a:r>
              <a:rPr sz="950" b="1" i="0">
                <a:solidFill>
                  <a:srgbClr val="1B2B3C"/>
                </a:solidFill>
                <a:latin typeface="Calibri"/>
              </a:rPr>
              <a:t>223 repos / 10K★</a:t>
            </a:r>
          </a:p>
        </p:txBody>
      </p:sp>
      <p:sp>
        <p:nvSpPr>
          <p:cNvPr id="19" name="Rectangle 18"/>
          <p:cNvSpPr/>
          <p:nvPr/>
        </p:nvSpPr>
        <p:spPr>
          <a:xfrm>
            <a:off x="365760" y="2432304"/>
            <a:ext cx="1024128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2523744"/>
            <a:ext cx="182880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IBM</a:t>
            </a:r>
          </a:p>
        </p:txBody>
      </p:sp>
      <p:sp>
        <p:nvSpPr>
          <p:cNvPr id="21" name="TextBox 20"/>
          <p:cNvSpPr txBox="1"/>
          <p:nvPr/>
        </p:nvSpPr>
        <p:spPr>
          <a:xfrm>
            <a:off x="2359152" y="2523744"/>
            <a:ext cx="109728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$67.5B</a:t>
            </a:r>
          </a:p>
        </p:txBody>
      </p:sp>
      <p:sp>
        <p:nvSpPr>
          <p:cNvPr id="22" name="TextBox 21"/>
          <p:cNvSpPr txBox="1"/>
          <p:nvPr/>
        </p:nvSpPr>
        <p:spPr>
          <a:xfrm>
            <a:off x="3547872" y="2523744"/>
            <a:ext cx="210312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Platform + consulting</a:t>
            </a:r>
          </a:p>
        </p:txBody>
      </p:sp>
      <p:sp>
        <p:nvSpPr>
          <p:cNvPr id="23" name="TextBox 22"/>
          <p:cNvSpPr txBox="1"/>
          <p:nvPr/>
        </p:nvSpPr>
        <p:spPr>
          <a:xfrm>
            <a:off x="5742432" y="2523744"/>
            <a:ext cx="256032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watsonx</a:t>
            </a:r>
          </a:p>
        </p:txBody>
      </p:sp>
      <p:sp>
        <p:nvSpPr>
          <p:cNvPr id="24" name="TextBox 23"/>
          <p:cNvSpPr txBox="1"/>
          <p:nvPr/>
        </p:nvSpPr>
        <p:spPr>
          <a:xfrm>
            <a:off x="8394192" y="2523744"/>
            <a:ext cx="219456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3,905 repos / 119K★</a:t>
            </a:r>
          </a:p>
        </p:txBody>
      </p:sp>
      <p:sp>
        <p:nvSpPr>
          <p:cNvPr id="25" name="Rectangle 24"/>
          <p:cNvSpPr/>
          <p:nvPr/>
        </p:nvSpPr>
        <p:spPr>
          <a:xfrm>
            <a:off x="365760" y="2962656"/>
            <a:ext cx="10241280" cy="530352"/>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3054096"/>
            <a:ext cx="182880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Microsoft</a:t>
            </a:r>
          </a:p>
        </p:txBody>
      </p:sp>
      <p:sp>
        <p:nvSpPr>
          <p:cNvPr id="27" name="TextBox 26"/>
          <p:cNvSpPr txBox="1"/>
          <p:nvPr/>
        </p:nvSpPr>
        <p:spPr>
          <a:xfrm>
            <a:off x="2359152" y="3054096"/>
            <a:ext cx="109728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$245B</a:t>
            </a:r>
          </a:p>
        </p:txBody>
      </p:sp>
      <p:sp>
        <p:nvSpPr>
          <p:cNvPr id="28" name="TextBox 27"/>
          <p:cNvSpPr txBox="1"/>
          <p:nvPr/>
        </p:nvSpPr>
        <p:spPr>
          <a:xfrm>
            <a:off x="3547872" y="3054096"/>
            <a:ext cx="210312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Platform &amp; infra</a:t>
            </a:r>
          </a:p>
        </p:txBody>
      </p:sp>
      <p:sp>
        <p:nvSpPr>
          <p:cNvPr id="29" name="TextBox 28"/>
          <p:cNvSpPr txBox="1"/>
          <p:nvPr/>
        </p:nvSpPr>
        <p:spPr>
          <a:xfrm>
            <a:off x="5742432" y="3054096"/>
            <a:ext cx="256032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Azure OpenAI / Copilot</a:t>
            </a:r>
          </a:p>
        </p:txBody>
      </p:sp>
      <p:sp>
        <p:nvSpPr>
          <p:cNvPr id="30" name="TextBox 29"/>
          <p:cNvSpPr txBox="1"/>
          <p:nvPr/>
        </p:nvSpPr>
        <p:spPr>
          <a:xfrm>
            <a:off x="8394192" y="3054096"/>
            <a:ext cx="219456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High — GitHub + VS Code</a:t>
            </a:r>
          </a:p>
        </p:txBody>
      </p:sp>
      <p:sp>
        <p:nvSpPr>
          <p:cNvPr id="31" name="Rectangle 30"/>
          <p:cNvSpPr/>
          <p:nvPr/>
        </p:nvSpPr>
        <p:spPr>
          <a:xfrm>
            <a:off x="365760" y="3493008"/>
            <a:ext cx="1024128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3584448"/>
            <a:ext cx="182880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Google</a:t>
            </a:r>
          </a:p>
        </p:txBody>
      </p:sp>
      <p:sp>
        <p:nvSpPr>
          <p:cNvPr id="33" name="TextBox 32"/>
          <p:cNvSpPr txBox="1"/>
          <p:nvPr/>
        </p:nvSpPr>
        <p:spPr>
          <a:xfrm>
            <a:off x="2359152" y="3584448"/>
            <a:ext cx="109728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$350B</a:t>
            </a:r>
          </a:p>
        </p:txBody>
      </p:sp>
      <p:sp>
        <p:nvSpPr>
          <p:cNvPr id="34" name="TextBox 33"/>
          <p:cNvSpPr txBox="1"/>
          <p:nvPr/>
        </p:nvSpPr>
        <p:spPr>
          <a:xfrm>
            <a:off x="3547872" y="3584448"/>
            <a:ext cx="210312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Model + cloud</a:t>
            </a:r>
          </a:p>
        </p:txBody>
      </p:sp>
      <p:sp>
        <p:nvSpPr>
          <p:cNvPr id="35" name="TextBox 34"/>
          <p:cNvSpPr txBox="1"/>
          <p:nvPr/>
        </p:nvSpPr>
        <p:spPr>
          <a:xfrm>
            <a:off x="5742432" y="3584448"/>
            <a:ext cx="256032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Gemini / Vertex AI</a:t>
            </a:r>
          </a:p>
        </p:txBody>
      </p:sp>
      <p:sp>
        <p:nvSpPr>
          <p:cNvPr id="36" name="TextBox 35"/>
          <p:cNvSpPr txBox="1"/>
          <p:nvPr/>
        </p:nvSpPr>
        <p:spPr>
          <a:xfrm>
            <a:off x="8394192" y="3584448"/>
            <a:ext cx="219456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High — TensorFlow etc</a:t>
            </a:r>
          </a:p>
        </p:txBody>
      </p:sp>
      <p:sp>
        <p:nvSpPr>
          <p:cNvPr id="37" name="Rectangle 36"/>
          <p:cNvSpPr/>
          <p:nvPr/>
        </p:nvSpPr>
        <p:spPr>
          <a:xfrm>
            <a:off x="365760" y="4023360"/>
            <a:ext cx="10241280" cy="530352"/>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8912" y="4114800"/>
            <a:ext cx="182880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BCG</a:t>
            </a:r>
          </a:p>
        </p:txBody>
      </p:sp>
      <p:sp>
        <p:nvSpPr>
          <p:cNvPr id="39" name="TextBox 38"/>
          <p:cNvSpPr txBox="1"/>
          <p:nvPr/>
        </p:nvSpPr>
        <p:spPr>
          <a:xfrm>
            <a:off x="2359152" y="4114800"/>
            <a:ext cx="109728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~$12B</a:t>
            </a:r>
          </a:p>
        </p:txBody>
      </p:sp>
      <p:sp>
        <p:nvSpPr>
          <p:cNvPr id="40" name="TextBox 39"/>
          <p:cNvSpPr txBox="1"/>
          <p:nvPr/>
        </p:nvSpPr>
        <p:spPr>
          <a:xfrm>
            <a:off x="3547872" y="4114800"/>
            <a:ext cx="210312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Pure consulting</a:t>
            </a:r>
          </a:p>
        </p:txBody>
      </p:sp>
      <p:sp>
        <p:nvSpPr>
          <p:cNvPr id="41" name="TextBox 40"/>
          <p:cNvSpPr txBox="1"/>
          <p:nvPr/>
        </p:nvSpPr>
        <p:spPr>
          <a:xfrm>
            <a:off x="5742432" y="4114800"/>
            <a:ext cx="256032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Fabriq</a:t>
            </a:r>
          </a:p>
        </p:txBody>
      </p:sp>
      <p:sp>
        <p:nvSpPr>
          <p:cNvPr id="42" name="TextBox 41"/>
          <p:cNvSpPr txBox="1"/>
          <p:nvPr/>
        </p:nvSpPr>
        <p:spPr>
          <a:xfrm>
            <a:off x="8394192" y="4114800"/>
            <a:ext cx="219456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Low</a:t>
            </a:r>
          </a:p>
        </p:txBody>
      </p:sp>
      <p:sp>
        <p:nvSpPr>
          <p:cNvPr id="43" name="Rectangle 42"/>
          <p:cNvSpPr/>
          <p:nvPr/>
        </p:nvSpPr>
        <p:spPr>
          <a:xfrm>
            <a:off x="365760" y="4553712"/>
            <a:ext cx="10241280"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8912" y="4645152"/>
            <a:ext cx="182880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McKinsey</a:t>
            </a:r>
          </a:p>
        </p:txBody>
      </p:sp>
      <p:sp>
        <p:nvSpPr>
          <p:cNvPr id="45" name="TextBox 44"/>
          <p:cNvSpPr txBox="1"/>
          <p:nvPr/>
        </p:nvSpPr>
        <p:spPr>
          <a:xfrm>
            <a:off x="2359152" y="4645152"/>
            <a:ext cx="109728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~$16B</a:t>
            </a:r>
          </a:p>
        </p:txBody>
      </p:sp>
      <p:sp>
        <p:nvSpPr>
          <p:cNvPr id="46" name="TextBox 45"/>
          <p:cNvSpPr txBox="1"/>
          <p:nvPr/>
        </p:nvSpPr>
        <p:spPr>
          <a:xfrm>
            <a:off x="3547872" y="4645152"/>
            <a:ext cx="210312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Pure consulting</a:t>
            </a:r>
          </a:p>
        </p:txBody>
      </p:sp>
      <p:sp>
        <p:nvSpPr>
          <p:cNvPr id="47" name="TextBox 46"/>
          <p:cNvSpPr txBox="1"/>
          <p:nvPr/>
        </p:nvSpPr>
        <p:spPr>
          <a:xfrm>
            <a:off x="5742432" y="4645152"/>
            <a:ext cx="256032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Lilli</a:t>
            </a:r>
          </a:p>
        </p:txBody>
      </p:sp>
      <p:sp>
        <p:nvSpPr>
          <p:cNvPr id="48" name="TextBox 47"/>
          <p:cNvSpPr txBox="1"/>
          <p:nvPr/>
        </p:nvSpPr>
        <p:spPr>
          <a:xfrm>
            <a:off x="8394192" y="4645152"/>
            <a:ext cx="2194560" cy="438912"/>
          </a:xfrm>
          <a:prstGeom prst="rect">
            <a:avLst/>
          </a:prstGeom>
          <a:noFill/>
        </p:spPr>
        <p:txBody>
          <a:bodyPr wrap="square" anchor="t" lIns="0" rIns="0" tIns="0" bIns="0">
            <a:noAutofit/>
          </a:bodyPr>
          <a:lstStyle/>
          <a:p>
            <a:pPr algn="l">
              <a:lnSpc>
                <a:spcPct val="105000"/>
              </a:lnSpc>
              <a:spcBef>
                <a:spcPts val="0"/>
              </a:spcBef>
            </a:pPr>
            <a:r>
              <a:rPr sz="950" b="0" i="0">
                <a:solidFill>
                  <a:srgbClr val="1B2B3C"/>
                </a:solidFill>
                <a:latin typeface="Calibri"/>
              </a:rPr>
              <a:t>Low</a:t>
            </a:r>
          </a:p>
        </p:txBody>
      </p:sp>
      <p:sp>
        <p:nvSpPr>
          <p:cNvPr id="49" name="TextBox 4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Competitive Intelligence · June 2026 · Built from live pipeline data</a:t>
            </a:r>
          </a:p>
        </p:txBody>
      </p:sp>
      <p:sp>
        <p:nvSpPr>
          <p:cNvPr id="50" name="TextBox 4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Strategic Themes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Key signals from pipeline intelligence</a:t>
            </a:r>
          </a:p>
        </p:txBody>
      </p:sp>
      <p:sp>
        <p:nvSpPr>
          <p:cNvPr id="7" name="Rounded Rectangle 6"/>
          <p:cNvSpPr/>
          <p:nvPr/>
        </p:nvSpPr>
        <p:spPr>
          <a:xfrm>
            <a:off x="365760" y="1371600"/>
            <a:ext cx="5394960" cy="1828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371600"/>
            <a:ext cx="457200" cy="1828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874520"/>
            <a:ext cx="365760" cy="64008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1</a:t>
            </a:r>
          </a:p>
        </p:txBody>
      </p:sp>
      <p:sp>
        <p:nvSpPr>
          <p:cNvPr id="10" name="TextBox 9"/>
          <p:cNvSpPr txBox="1"/>
          <p:nvPr/>
        </p:nvSpPr>
        <p:spPr>
          <a:xfrm>
            <a:off x="914400" y="1463040"/>
            <a:ext cx="4709160" cy="502920"/>
          </a:xfrm>
          <a:prstGeom prst="rect">
            <a:avLst/>
          </a:prstGeom>
          <a:noFill/>
        </p:spPr>
        <p:txBody>
          <a:bodyPr wrap="square" anchor="t" lIns="0" rIns="0" tIns="0" bIns="0">
            <a:normAutofit/>
          </a:bodyPr>
          <a:lstStyle/>
          <a:p>
            <a:pPr algn="l">
              <a:lnSpc>
                <a:spcPct val="105000"/>
              </a:lnSpc>
              <a:spcBef>
                <a:spcPts val="0"/>
              </a:spcBef>
            </a:pPr>
            <a:r>
              <a:rPr sz="1200" b="1" i="0">
                <a:solidFill>
                  <a:srgbClr val="1B2B3C"/>
                </a:solidFill>
                <a:latin typeface="Calibri"/>
              </a:rPr>
              <a:t>AI-Native Delivery at Scale</a:t>
            </a:r>
          </a:p>
        </p:txBody>
      </p:sp>
      <p:sp>
        <p:nvSpPr>
          <p:cNvPr id="11" name="TextBox 10"/>
          <p:cNvSpPr txBox="1"/>
          <p:nvPr/>
        </p:nvSpPr>
        <p:spPr>
          <a:xfrm>
            <a:off x="914400" y="2011680"/>
            <a:ext cx="4709160" cy="777240"/>
          </a:xfrm>
          <a:prstGeom prst="rect">
            <a:avLst/>
          </a:prstGeom>
          <a:noFill/>
        </p:spPr>
        <p:txBody>
          <a:bodyPr wrap="square" anchor="t" lIns="0" rIns="0" tIns="0" bIns="0">
            <a:normAutofit/>
          </a:bodyPr>
          <a:lstStyle/>
          <a:p>
            <a:pPr algn="l">
              <a:lnSpc>
                <a:spcPct val="105000"/>
              </a:lnSpc>
              <a:spcBef>
                <a:spcPts val="0"/>
              </a:spcBef>
            </a:pPr>
            <a:r>
              <a:rPr sz="950" b="0" i="0">
                <a:solidFill>
                  <a:srgbClr val="5B6B7C"/>
                </a:solidFill>
                <a:latin typeface="Calibri"/>
              </a:rPr>
              <a:t>AI Refinery v1.31.4 + 30 releases in 12 months = Accenture is shipping a real product, not a demo. This SDK is likely the core of their $3B+ AI revenue book. Watch for enterprise licensing announcements.</a:t>
            </a:r>
          </a:p>
        </p:txBody>
      </p:sp>
      <p:sp>
        <p:nvSpPr>
          <p:cNvPr id="12" name="TextBox 11"/>
          <p:cNvSpPr txBox="1"/>
          <p:nvPr/>
        </p:nvSpPr>
        <p:spPr>
          <a:xfrm>
            <a:off x="914400" y="2880360"/>
            <a:ext cx="4709160" cy="256032"/>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+7.4% revenue growth</a:t>
            </a:r>
          </a:p>
        </p:txBody>
      </p:sp>
      <p:sp>
        <p:nvSpPr>
          <p:cNvPr id="13" name="Rounded Rectangle 12"/>
          <p:cNvSpPr/>
          <p:nvPr/>
        </p:nvSpPr>
        <p:spPr>
          <a:xfrm>
            <a:off x="5989320" y="1371600"/>
            <a:ext cx="5394960" cy="1828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89320" y="1371600"/>
            <a:ext cx="457200" cy="1828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1874520"/>
            <a:ext cx="365760" cy="64008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2</a:t>
            </a:r>
          </a:p>
        </p:txBody>
      </p:sp>
      <p:sp>
        <p:nvSpPr>
          <p:cNvPr id="16" name="TextBox 15"/>
          <p:cNvSpPr txBox="1"/>
          <p:nvPr/>
        </p:nvSpPr>
        <p:spPr>
          <a:xfrm>
            <a:off x="6537960" y="1463040"/>
            <a:ext cx="4709160" cy="502920"/>
          </a:xfrm>
          <a:prstGeom prst="rect">
            <a:avLst/>
          </a:prstGeom>
          <a:noFill/>
        </p:spPr>
        <p:txBody>
          <a:bodyPr wrap="square" anchor="t" lIns="0" rIns="0" tIns="0" bIns="0">
            <a:normAutofit/>
          </a:bodyPr>
          <a:lstStyle/>
          <a:p>
            <a:pPr algn="l">
              <a:lnSpc>
                <a:spcPct val="105000"/>
              </a:lnSpc>
              <a:spcBef>
                <a:spcPts val="0"/>
              </a:spcBef>
            </a:pPr>
            <a:r>
              <a:rPr sz="1200" b="1" i="0">
                <a:solidFill>
                  <a:srgbClr val="1B2B3C"/>
                </a:solidFill>
                <a:latin typeface="Calibri"/>
              </a:rPr>
              <a:t>Protocol-Level AI Positioning</a:t>
            </a:r>
          </a:p>
        </p:txBody>
      </p:sp>
      <p:sp>
        <p:nvSpPr>
          <p:cNvPr id="17" name="TextBox 16"/>
          <p:cNvSpPr txBox="1"/>
          <p:nvPr/>
        </p:nvSpPr>
        <p:spPr>
          <a:xfrm>
            <a:off x="6537960" y="2011680"/>
            <a:ext cx="4709160" cy="777240"/>
          </a:xfrm>
          <a:prstGeom prst="rect">
            <a:avLst/>
          </a:prstGeom>
          <a:noFill/>
        </p:spPr>
        <p:txBody>
          <a:bodyPr wrap="square" anchor="t" lIns="0" rIns="0" tIns="0" bIns="0">
            <a:normAutofit/>
          </a:bodyPr>
          <a:lstStyle/>
          <a:p>
            <a:pPr algn="l">
              <a:lnSpc>
                <a:spcPct val="105000"/>
              </a:lnSpc>
              <a:spcBef>
                <a:spcPts val="0"/>
              </a:spcBef>
            </a:pPr>
            <a:r>
              <a:rPr sz="950" b="0" i="0">
                <a:solidFill>
                  <a:srgbClr val="5B6B7C"/>
                </a:solidFill>
                <a:latin typeface="Calibri"/>
              </a:rPr>
              <a:t>mcp-bench signals Accenture positioning as a neutral AI protocol evaluator — a classic consulting land-and-expand: help clients choose AI tool standards, then implement them.</a:t>
            </a:r>
          </a:p>
        </p:txBody>
      </p:sp>
      <p:sp>
        <p:nvSpPr>
          <p:cNvPr id="18" name="TextBox 17"/>
          <p:cNvSpPr txBox="1"/>
          <p:nvPr/>
        </p:nvSpPr>
        <p:spPr>
          <a:xfrm>
            <a:off x="6537960" y="2880360"/>
            <a:ext cx="4709160" cy="256032"/>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MCP standard bet</a:t>
            </a:r>
          </a:p>
        </p:txBody>
      </p:sp>
      <p:sp>
        <p:nvSpPr>
          <p:cNvPr id="19" name="Rounded Rectangle 18"/>
          <p:cNvSpPr/>
          <p:nvPr/>
        </p:nvSpPr>
        <p:spPr>
          <a:xfrm>
            <a:off x="365760" y="3429000"/>
            <a:ext cx="5394960" cy="1828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3429000"/>
            <a:ext cx="457200" cy="1828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3931920"/>
            <a:ext cx="365760" cy="64008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3</a:t>
            </a:r>
          </a:p>
        </p:txBody>
      </p:sp>
      <p:sp>
        <p:nvSpPr>
          <p:cNvPr id="22" name="TextBox 21"/>
          <p:cNvSpPr txBox="1"/>
          <p:nvPr/>
        </p:nvSpPr>
        <p:spPr>
          <a:xfrm>
            <a:off x="914400" y="3520440"/>
            <a:ext cx="4709160" cy="502920"/>
          </a:xfrm>
          <a:prstGeom prst="rect">
            <a:avLst/>
          </a:prstGeom>
          <a:noFill/>
        </p:spPr>
        <p:txBody>
          <a:bodyPr wrap="square" anchor="t" lIns="0" rIns="0" tIns="0" bIns="0">
            <a:normAutofit/>
          </a:bodyPr>
          <a:lstStyle/>
          <a:p>
            <a:pPr algn="l">
              <a:lnSpc>
                <a:spcPct val="105000"/>
              </a:lnSpc>
              <a:spcBef>
                <a:spcPts val="0"/>
              </a:spcBef>
            </a:pPr>
            <a:r>
              <a:rPr sz="1200" b="1" i="0">
                <a:solidFill>
                  <a:srgbClr val="1B2B3C"/>
                </a:solidFill>
                <a:latin typeface="Calibri"/>
              </a:rPr>
              <a:t>Open Source as Client Pipeline</a:t>
            </a:r>
          </a:p>
        </p:txBody>
      </p:sp>
      <p:sp>
        <p:nvSpPr>
          <p:cNvPr id="23" name="TextBox 22"/>
          <p:cNvSpPr txBox="1"/>
          <p:nvPr/>
        </p:nvSpPr>
        <p:spPr>
          <a:xfrm>
            <a:off x="914400" y="4069080"/>
            <a:ext cx="4709160" cy="777240"/>
          </a:xfrm>
          <a:prstGeom prst="rect">
            <a:avLst/>
          </a:prstGeom>
          <a:noFill/>
        </p:spPr>
        <p:txBody>
          <a:bodyPr wrap="square" anchor="t" lIns="0" rIns="0" tIns="0" bIns="0">
            <a:normAutofit/>
          </a:bodyPr>
          <a:lstStyle/>
          <a:p>
            <a:pPr algn="l">
              <a:lnSpc>
                <a:spcPct val="105000"/>
              </a:lnSpc>
              <a:spcBef>
                <a:spcPts val="0"/>
              </a:spcBef>
            </a:pPr>
            <a:r>
              <a:rPr sz="950" b="0" i="0">
                <a:solidFill>
                  <a:srgbClr val="5B6B7C"/>
                </a:solidFill>
                <a:latin typeface="Calibri"/>
              </a:rPr>
              <a:t>AmpliGraph (knowledge graphs) and VulFi (security scanning) are consulting-adjacent tools that attract enterprise developers into Accenture's orbit — a low-CAC lead generation strategy.</a:t>
            </a:r>
          </a:p>
        </p:txBody>
      </p:sp>
      <p:sp>
        <p:nvSpPr>
          <p:cNvPr id="24" name="TextBox 23"/>
          <p:cNvSpPr txBox="1"/>
          <p:nvPr/>
        </p:nvSpPr>
        <p:spPr>
          <a:xfrm>
            <a:off x="914400" y="4937760"/>
            <a:ext cx="4709160" cy="256032"/>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223 repos · 10K stars</a:t>
            </a:r>
          </a:p>
        </p:txBody>
      </p:sp>
      <p:sp>
        <p:nvSpPr>
          <p:cNvPr id="25" name="Rounded Rectangle 24"/>
          <p:cNvSpPr/>
          <p:nvPr/>
        </p:nvSpPr>
        <p:spPr>
          <a:xfrm>
            <a:off x="5989320" y="3429000"/>
            <a:ext cx="5394960" cy="18288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89320" y="3429000"/>
            <a:ext cx="457200" cy="18288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0" y="3931920"/>
            <a:ext cx="365760" cy="640080"/>
          </a:xfrm>
          <a:prstGeom prst="rect">
            <a:avLst/>
          </a:prstGeom>
          <a:noFill/>
        </p:spPr>
        <p:txBody>
          <a:bodyPr wrap="square" anchor="t" lIns="0" rIns="0" tIns="0" bIns="0">
            <a:noAutofit/>
          </a:bodyPr>
          <a:lstStyle/>
          <a:p>
            <a:pPr algn="l">
              <a:lnSpc>
                <a:spcPct val="105000"/>
              </a:lnSpc>
              <a:spcBef>
                <a:spcPts val="0"/>
              </a:spcBef>
            </a:pPr>
            <a:r>
              <a:rPr sz="2200" b="1" i="0">
                <a:solidFill>
                  <a:srgbClr val="FFFFFF"/>
                </a:solidFill>
                <a:latin typeface="Calibri"/>
              </a:rPr>
              <a:t>4</a:t>
            </a:r>
          </a:p>
        </p:txBody>
      </p:sp>
      <p:sp>
        <p:nvSpPr>
          <p:cNvPr id="28" name="TextBox 27"/>
          <p:cNvSpPr txBox="1"/>
          <p:nvPr/>
        </p:nvSpPr>
        <p:spPr>
          <a:xfrm>
            <a:off x="6537960" y="3520440"/>
            <a:ext cx="4709160" cy="502920"/>
          </a:xfrm>
          <a:prstGeom prst="rect">
            <a:avLst/>
          </a:prstGeom>
          <a:noFill/>
        </p:spPr>
        <p:txBody>
          <a:bodyPr wrap="square" anchor="t" lIns="0" rIns="0" tIns="0" bIns="0">
            <a:normAutofit/>
          </a:bodyPr>
          <a:lstStyle/>
          <a:p>
            <a:pPr algn="l">
              <a:lnSpc>
                <a:spcPct val="105000"/>
              </a:lnSpc>
              <a:spcBef>
                <a:spcPts val="0"/>
              </a:spcBef>
            </a:pPr>
            <a:r>
              <a:rPr sz="1200" b="1" i="0">
                <a:solidFill>
                  <a:srgbClr val="1B2B3C"/>
                </a:solidFill>
                <a:latin typeface="Calibri"/>
              </a:rPr>
              <a:t>Revenue Acceleration vs Peers</a:t>
            </a:r>
          </a:p>
        </p:txBody>
      </p:sp>
      <p:sp>
        <p:nvSpPr>
          <p:cNvPr id="29" name="TextBox 28"/>
          <p:cNvSpPr txBox="1"/>
          <p:nvPr/>
        </p:nvSpPr>
        <p:spPr>
          <a:xfrm>
            <a:off x="6537960" y="4069080"/>
            <a:ext cx="4709160" cy="777240"/>
          </a:xfrm>
          <a:prstGeom prst="rect">
            <a:avLst/>
          </a:prstGeom>
          <a:noFill/>
        </p:spPr>
        <p:txBody>
          <a:bodyPr wrap="square" anchor="t" lIns="0" rIns="0" tIns="0" bIns="0">
            <a:normAutofit/>
          </a:bodyPr>
          <a:lstStyle/>
          <a:p>
            <a:pPr algn="l">
              <a:lnSpc>
                <a:spcPct val="105000"/>
              </a:lnSpc>
              <a:spcBef>
                <a:spcPts val="0"/>
              </a:spcBef>
            </a:pPr>
            <a:r>
              <a:rPr sz="950" b="0" i="0">
                <a:solidFill>
                  <a:srgbClr val="5B6B7C"/>
                </a:solidFill>
                <a:latin typeface="Calibri"/>
              </a:rPr>
              <a:t>+7.4% YoY on a $69.7B base is materially stronger than the IT services sector average. GenAI bookings of $3B+ are pulling ahead of IBM consulting segment growth.</a:t>
            </a:r>
          </a:p>
        </p:txBody>
      </p:sp>
      <p:sp>
        <p:nvSpPr>
          <p:cNvPr id="30" name="TextBox 29"/>
          <p:cNvSpPr txBox="1"/>
          <p:nvPr/>
        </p:nvSpPr>
        <p:spPr>
          <a:xfrm>
            <a:off x="6537960" y="4937760"/>
            <a:ext cx="4709160" cy="256032"/>
          </a:xfrm>
          <a:prstGeom prst="rect">
            <a:avLst/>
          </a:prstGeom>
          <a:noFill/>
        </p:spPr>
        <p:txBody>
          <a:bodyPr wrap="square" anchor="t" lIns="0" rIns="0" tIns="0" bIns="0">
            <a:noAutofit/>
          </a:bodyPr>
          <a:lstStyle/>
          <a:p>
            <a:pPr algn="l">
              <a:lnSpc>
                <a:spcPct val="105000"/>
              </a:lnSpc>
              <a:spcBef>
                <a:spcPts val="0"/>
              </a:spcBef>
            </a:pPr>
            <a:r>
              <a:rPr sz="900" b="1" i="0">
                <a:solidFill>
                  <a:srgbClr val="00C9A7"/>
                </a:solidFill>
                <a:latin typeface="Calibri"/>
              </a:rPr>
              <a:t>$69.7B FY2025</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Accenture Competitive Intelligence · June 2026 · Built from live pipeline data</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058400" cy="457200"/>
          </a:xfrm>
          <a:prstGeom prst="rect">
            <a:avLst/>
          </a:prstGeom>
          <a:noFill/>
        </p:spPr>
        <p:txBody>
          <a:bodyPr wrap="square" anchor="t" lIns="0" rIns="0" tIns="0" bIns="0">
            <a:noAutofit/>
          </a:bodyPr>
          <a:lstStyle/>
          <a:p>
            <a:pPr algn="l">
              <a:lnSpc>
                <a:spcPct val="105000"/>
              </a:lnSpc>
              <a:spcBef>
                <a:spcPts val="0"/>
              </a:spcBef>
            </a:pPr>
            <a:r>
              <a:rPr sz="1300" b="1" i="0">
                <a:solidFill>
                  <a:srgbClr val="0A1628"/>
                </a:solidFill>
                <a:latin typeface="Calibri"/>
              </a:rPr>
              <a:t>STRATEGIC RECOMMENDATIONS</a:t>
            </a:r>
          </a:p>
        </p:txBody>
      </p:sp>
      <p:sp>
        <p:nvSpPr>
          <p:cNvPr id="5" name="TextBox 4"/>
          <p:cNvSpPr txBox="1"/>
          <p:nvPr/>
        </p:nvSpPr>
        <p:spPr>
          <a:xfrm>
            <a:off x="457200" y="594360"/>
            <a:ext cx="10058400" cy="411480"/>
          </a:xfrm>
          <a:prstGeom prst="rect">
            <a:avLst/>
          </a:prstGeom>
          <a:noFill/>
        </p:spPr>
        <p:txBody>
          <a:bodyPr wrap="square" anchor="t" lIns="0" rIns="0" tIns="0" bIns="0">
            <a:noAutofit/>
          </a:bodyPr>
          <a:lstStyle/>
          <a:p>
            <a:pPr algn="l">
              <a:lnSpc>
                <a:spcPct val="105000"/>
              </a:lnSpc>
              <a:spcBef>
                <a:spcPts val="0"/>
              </a:spcBef>
            </a:pPr>
            <a:r>
              <a:rPr sz="1600" b="0" i="0">
                <a:solidFill>
                  <a:srgbClr val="0A1628"/>
                </a:solidFill>
                <a:latin typeface="Calibri"/>
              </a:rPr>
              <a:t>Actions for teams tracking ACCENTURE</a:t>
            </a:r>
          </a:p>
        </p:txBody>
      </p:sp>
      <p:sp>
        <p:nvSpPr>
          <p:cNvPr id="6" name="Rounded Rectangle 5"/>
          <p:cNvSpPr/>
          <p:nvPr/>
        </p:nvSpPr>
        <p:spPr>
          <a:xfrm>
            <a:off x="365760" y="1325880"/>
            <a:ext cx="777240" cy="868680"/>
          </a:xfrm>
          <a:prstGeom prst="roundRect">
            <a:avLst>
              <a:gd name="adj" fmla="val 6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08760"/>
            <a:ext cx="777240" cy="457200"/>
          </a:xfrm>
          <a:prstGeom prst="rect">
            <a:avLst/>
          </a:prstGeom>
          <a:noFill/>
        </p:spPr>
        <p:txBody>
          <a:bodyPr wrap="square" anchor="t" lIns="0" rIns="0" tIns="0" bIns="0">
            <a:noAutofit/>
          </a:bodyPr>
          <a:lstStyle/>
          <a:p>
            <a:pPr algn="ctr">
              <a:lnSpc>
                <a:spcPct val="105000"/>
              </a:lnSpc>
              <a:spcBef>
                <a:spcPts val="0"/>
              </a:spcBef>
            </a:pPr>
            <a:r>
              <a:rPr sz="900" b="1" i="0">
                <a:solidFill>
                  <a:srgbClr val="FFFFFF"/>
                </a:solidFill>
                <a:latin typeface="Calibri"/>
              </a:rPr>
              <a:t>WATCH</a:t>
            </a:r>
          </a:p>
        </p:txBody>
      </p:sp>
      <p:sp>
        <p:nvSpPr>
          <p:cNvPr id="8" name="TextBox 7"/>
          <p:cNvSpPr txBox="1"/>
          <p:nvPr/>
        </p:nvSpPr>
        <p:spPr>
          <a:xfrm>
            <a:off x="1280160" y="1325880"/>
            <a:ext cx="9601200" cy="411480"/>
          </a:xfrm>
          <a:prstGeom prst="rect">
            <a:avLst/>
          </a:prstGeom>
          <a:noFill/>
        </p:spPr>
        <p:txBody>
          <a:bodyPr wrap="square" anchor="t" lIns="0" rIns="0" tIns="0" bIns="0">
            <a:normAutofit/>
          </a:bodyPr>
          <a:lstStyle/>
          <a:p>
            <a:pPr algn="l">
              <a:lnSpc>
                <a:spcPct val="105000"/>
              </a:lnSpc>
              <a:spcBef>
                <a:spcPts val="0"/>
              </a:spcBef>
            </a:pPr>
            <a:r>
              <a:rPr sz="1200" b="1" i="0">
                <a:solidFill>
                  <a:srgbClr val="FFFFFF"/>
                </a:solidFill>
                <a:latin typeface="Calibri"/>
              </a:rPr>
              <a:t>Track AI Refinery SDK releases monthly</a:t>
            </a:r>
          </a:p>
        </p:txBody>
      </p:sp>
      <p:sp>
        <p:nvSpPr>
          <p:cNvPr id="9" name="TextBox 8"/>
          <p:cNvSpPr txBox="1"/>
          <p:nvPr/>
        </p:nvSpPr>
        <p:spPr>
          <a:xfrm>
            <a:off x="1280160" y="1764792"/>
            <a:ext cx="9601200" cy="548640"/>
          </a:xfrm>
          <a:prstGeom prst="rect">
            <a:avLst/>
          </a:prstGeom>
          <a:noFill/>
        </p:spPr>
        <p:txBody>
          <a:bodyPr wrap="square" anchor="t" lIns="0" rIns="0" tIns="0" bIns="0">
            <a:normAutofit/>
          </a:bodyPr>
          <a:lstStyle/>
          <a:p>
            <a:pPr algn="l">
              <a:lnSpc>
                <a:spcPct val="105000"/>
              </a:lnSpc>
              <a:spcBef>
                <a:spcPts val="0"/>
              </a:spcBef>
            </a:pPr>
            <a:r>
              <a:rPr sz="1000" b="0" i="0">
                <a:solidFill>
                  <a:srgbClr val="5B6B7C"/>
                </a:solidFill>
                <a:latin typeface="Calibri"/>
              </a:rPr>
              <a:t>Next major version (v2.x) will signal whether Accenture is productizing for third-party licensing or keeping it consulting-internal.</a:t>
            </a:r>
          </a:p>
        </p:txBody>
      </p:sp>
      <p:sp>
        <p:nvSpPr>
          <p:cNvPr id="10" name="Rounded Rectangle 9"/>
          <p:cNvSpPr/>
          <p:nvPr/>
        </p:nvSpPr>
        <p:spPr>
          <a:xfrm>
            <a:off x="365760" y="2423160"/>
            <a:ext cx="777240" cy="868680"/>
          </a:xfrm>
          <a:prstGeom prst="roundRect">
            <a:avLst>
              <a:gd name="adj" fmla="val 6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606040"/>
            <a:ext cx="777240" cy="457200"/>
          </a:xfrm>
          <a:prstGeom prst="rect">
            <a:avLst/>
          </a:prstGeom>
          <a:noFill/>
        </p:spPr>
        <p:txBody>
          <a:bodyPr wrap="square" anchor="t" lIns="0" rIns="0" tIns="0" bIns="0">
            <a:noAutofit/>
          </a:bodyPr>
          <a:lstStyle/>
          <a:p>
            <a:pPr algn="ctr">
              <a:lnSpc>
                <a:spcPct val="105000"/>
              </a:lnSpc>
              <a:spcBef>
                <a:spcPts val="0"/>
              </a:spcBef>
            </a:pPr>
            <a:r>
              <a:rPr sz="900" b="1" i="0">
                <a:solidFill>
                  <a:srgbClr val="FFFFFF"/>
                </a:solidFill>
                <a:latin typeface="Calibri"/>
              </a:rPr>
              <a:t>ENGAGE</a:t>
            </a:r>
          </a:p>
        </p:txBody>
      </p:sp>
      <p:sp>
        <p:nvSpPr>
          <p:cNvPr id="12" name="TextBox 11"/>
          <p:cNvSpPr txBox="1"/>
          <p:nvPr/>
        </p:nvSpPr>
        <p:spPr>
          <a:xfrm>
            <a:off x="1280160" y="2423160"/>
            <a:ext cx="9601200" cy="411480"/>
          </a:xfrm>
          <a:prstGeom prst="rect">
            <a:avLst/>
          </a:prstGeom>
          <a:noFill/>
        </p:spPr>
        <p:txBody>
          <a:bodyPr wrap="square" anchor="t" lIns="0" rIns="0" tIns="0" bIns="0">
            <a:normAutofit/>
          </a:bodyPr>
          <a:lstStyle/>
          <a:p>
            <a:pPr algn="l">
              <a:lnSpc>
                <a:spcPct val="105000"/>
              </a:lnSpc>
              <a:spcBef>
                <a:spcPts val="0"/>
              </a:spcBef>
            </a:pPr>
            <a:r>
              <a:rPr sz="1200" b="1" i="0">
                <a:solidFill>
                  <a:srgbClr val="FFFFFF"/>
                </a:solidFill>
                <a:latin typeface="Calibri"/>
              </a:rPr>
              <a:t>Benchmark mcp-bench against your MCP evaluation needs</a:t>
            </a:r>
          </a:p>
        </p:txBody>
      </p:sp>
      <p:sp>
        <p:nvSpPr>
          <p:cNvPr id="13" name="TextBox 12"/>
          <p:cNvSpPr txBox="1"/>
          <p:nvPr/>
        </p:nvSpPr>
        <p:spPr>
          <a:xfrm>
            <a:off x="1280160" y="2862072"/>
            <a:ext cx="9601200" cy="548640"/>
          </a:xfrm>
          <a:prstGeom prst="rect">
            <a:avLst/>
          </a:prstGeom>
          <a:noFill/>
        </p:spPr>
        <p:txBody>
          <a:bodyPr wrap="square" anchor="t" lIns="0" rIns="0" tIns="0" bIns="0">
            <a:normAutofit/>
          </a:bodyPr>
          <a:lstStyle/>
          <a:p>
            <a:pPr algn="l">
              <a:lnSpc>
                <a:spcPct val="105000"/>
              </a:lnSpc>
              <a:spcBef>
                <a:spcPts val="0"/>
              </a:spcBef>
            </a:pPr>
            <a:r>
              <a:rPr sz="1000" b="0" i="0">
                <a:solidFill>
                  <a:srgbClr val="5B6B7C"/>
                </a:solidFill>
                <a:latin typeface="Calibri"/>
              </a:rPr>
              <a:t>Accenture's neutral positioning creates an opportunity to co-develop benchmarks — a foot in the door for their consulting pipeline.</a:t>
            </a:r>
          </a:p>
        </p:txBody>
      </p:sp>
      <p:sp>
        <p:nvSpPr>
          <p:cNvPr id="14" name="Rounded Rectangle 13"/>
          <p:cNvSpPr/>
          <p:nvPr/>
        </p:nvSpPr>
        <p:spPr>
          <a:xfrm>
            <a:off x="365760" y="3520440"/>
            <a:ext cx="777240" cy="868680"/>
          </a:xfrm>
          <a:prstGeom prst="roundRect">
            <a:avLst>
              <a:gd name="adj" fmla="val 6000"/>
            </a:avLst>
          </a:prstGeom>
          <a:solidFill>
            <a:srgbClr val="E05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703320"/>
            <a:ext cx="777240" cy="457200"/>
          </a:xfrm>
          <a:prstGeom prst="rect">
            <a:avLst/>
          </a:prstGeom>
          <a:noFill/>
        </p:spPr>
        <p:txBody>
          <a:bodyPr wrap="square" anchor="t" lIns="0" rIns="0" tIns="0" bIns="0">
            <a:noAutofit/>
          </a:bodyPr>
          <a:lstStyle/>
          <a:p>
            <a:pPr algn="ctr">
              <a:lnSpc>
                <a:spcPct val="105000"/>
              </a:lnSpc>
              <a:spcBef>
                <a:spcPts val="0"/>
              </a:spcBef>
            </a:pPr>
            <a:r>
              <a:rPr sz="900" b="1" i="0">
                <a:solidFill>
                  <a:srgbClr val="FFFFFF"/>
                </a:solidFill>
                <a:latin typeface="Calibri"/>
              </a:rPr>
              <a:t>COMPETE</a:t>
            </a:r>
          </a:p>
        </p:txBody>
      </p:sp>
      <p:sp>
        <p:nvSpPr>
          <p:cNvPr id="16" name="TextBox 15"/>
          <p:cNvSpPr txBox="1"/>
          <p:nvPr/>
        </p:nvSpPr>
        <p:spPr>
          <a:xfrm>
            <a:off x="1280160" y="3520440"/>
            <a:ext cx="9601200" cy="411480"/>
          </a:xfrm>
          <a:prstGeom prst="rect">
            <a:avLst/>
          </a:prstGeom>
          <a:noFill/>
        </p:spPr>
        <p:txBody>
          <a:bodyPr wrap="square" anchor="t" lIns="0" rIns="0" tIns="0" bIns="0">
            <a:normAutofit/>
          </a:bodyPr>
          <a:lstStyle/>
          <a:p>
            <a:pPr algn="l">
              <a:lnSpc>
                <a:spcPct val="105000"/>
              </a:lnSpc>
              <a:spcBef>
                <a:spcPts val="0"/>
              </a:spcBef>
            </a:pPr>
            <a:r>
              <a:rPr sz="1200" b="1" i="0">
                <a:solidFill>
                  <a:srgbClr val="FFFFFF"/>
                </a:solidFill>
                <a:latin typeface="Calibri"/>
              </a:rPr>
              <a:t>Match their AI-first messaging with proof points</a:t>
            </a:r>
          </a:p>
        </p:txBody>
      </p:sp>
      <p:sp>
        <p:nvSpPr>
          <p:cNvPr id="17" name="TextBox 16"/>
          <p:cNvSpPr txBox="1"/>
          <p:nvPr/>
        </p:nvSpPr>
        <p:spPr>
          <a:xfrm>
            <a:off x="1280160" y="3959352"/>
            <a:ext cx="9601200" cy="548640"/>
          </a:xfrm>
          <a:prstGeom prst="rect">
            <a:avLst/>
          </a:prstGeom>
          <a:noFill/>
        </p:spPr>
        <p:txBody>
          <a:bodyPr wrap="square" anchor="t" lIns="0" rIns="0" tIns="0" bIns="0">
            <a:normAutofit/>
          </a:bodyPr>
          <a:lstStyle/>
          <a:p>
            <a:pPr algn="l">
              <a:lnSpc>
                <a:spcPct val="105000"/>
              </a:lnSpc>
              <a:spcBef>
                <a:spcPts val="0"/>
              </a:spcBef>
            </a:pPr>
            <a:r>
              <a:rPr sz="1000" b="0" i="0">
                <a:solidFill>
                  <a:srgbClr val="5B6B7C"/>
                </a:solidFill>
                <a:latin typeface="Calibri"/>
              </a:rPr>
              <a:t>Accenture's +7.4% growth is being driven by AI bookings narrative. Competitors need concrete case studies and published ROI numbers to match.</a:t>
            </a:r>
          </a:p>
        </p:txBody>
      </p:sp>
      <p:sp>
        <p:nvSpPr>
          <p:cNvPr id="18" name="Rounded Rectangle 17"/>
          <p:cNvSpPr/>
          <p:nvPr/>
        </p:nvSpPr>
        <p:spPr>
          <a:xfrm>
            <a:off x="365760" y="4617720"/>
            <a:ext cx="777240" cy="868680"/>
          </a:xfrm>
          <a:prstGeom prst="roundRect">
            <a:avLst>
              <a:gd name="adj" fmla="val 6000"/>
            </a:avLst>
          </a:prstGeom>
          <a:solidFill>
            <a:srgbClr val="009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800600"/>
            <a:ext cx="777240" cy="457200"/>
          </a:xfrm>
          <a:prstGeom prst="rect">
            <a:avLst/>
          </a:prstGeom>
          <a:noFill/>
        </p:spPr>
        <p:txBody>
          <a:bodyPr wrap="square" anchor="t" lIns="0" rIns="0" tIns="0" bIns="0">
            <a:noAutofit/>
          </a:bodyPr>
          <a:lstStyle/>
          <a:p>
            <a:pPr algn="ctr">
              <a:lnSpc>
                <a:spcPct val="105000"/>
              </a:lnSpc>
              <a:spcBef>
                <a:spcPts val="0"/>
              </a:spcBef>
            </a:pPr>
            <a:r>
              <a:rPr sz="900" b="1" i="0">
                <a:solidFill>
                  <a:srgbClr val="FFFFFF"/>
                </a:solidFill>
                <a:latin typeface="Calibri"/>
              </a:rPr>
              <a:t>PARTNER</a:t>
            </a:r>
          </a:p>
        </p:txBody>
      </p:sp>
      <p:sp>
        <p:nvSpPr>
          <p:cNvPr id="20" name="TextBox 19"/>
          <p:cNvSpPr txBox="1"/>
          <p:nvPr/>
        </p:nvSpPr>
        <p:spPr>
          <a:xfrm>
            <a:off x="1280160" y="4617720"/>
            <a:ext cx="9601200" cy="411480"/>
          </a:xfrm>
          <a:prstGeom prst="rect">
            <a:avLst/>
          </a:prstGeom>
          <a:noFill/>
        </p:spPr>
        <p:txBody>
          <a:bodyPr wrap="square" anchor="t" lIns="0" rIns="0" tIns="0" bIns="0">
            <a:normAutofit/>
          </a:bodyPr>
          <a:lstStyle/>
          <a:p>
            <a:pPr algn="l">
              <a:lnSpc>
                <a:spcPct val="105000"/>
              </a:lnSpc>
              <a:spcBef>
                <a:spcPts val="0"/>
              </a:spcBef>
            </a:pPr>
            <a:r>
              <a:rPr sz="1200" b="1" i="0">
                <a:solidFill>
                  <a:srgbClr val="FFFFFF"/>
                </a:solidFill>
                <a:latin typeface="Calibri"/>
              </a:rPr>
              <a:t>Explore AI Refinery SDK as an integration target</a:t>
            </a:r>
          </a:p>
        </p:txBody>
      </p:sp>
      <p:sp>
        <p:nvSpPr>
          <p:cNvPr id="21" name="TextBox 20"/>
          <p:cNvSpPr txBox="1"/>
          <p:nvPr/>
        </p:nvSpPr>
        <p:spPr>
          <a:xfrm>
            <a:off x="1280160" y="5056632"/>
            <a:ext cx="9601200" cy="548640"/>
          </a:xfrm>
          <a:prstGeom prst="rect">
            <a:avLst/>
          </a:prstGeom>
          <a:noFill/>
        </p:spPr>
        <p:txBody>
          <a:bodyPr wrap="square" anchor="t" lIns="0" rIns="0" tIns="0" bIns="0">
            <a:normAutofit/>
          </a:bodyPr>
          <a:lstStyle/>
          <a:p>
            <a:pPr algn="l">
              <a:lnSpc>
                <a:spcPct val="105000"/>
              </a:lnSpc>
              <a:spcBef>
                <a:spcPts val="0"/>
              </a:spcBef>
            </a:pPr>
            <a:r>
              <a:rPr sz="1000" b="0" i="0">
                <a:solidFill>
                  <a:srgbClr val="5B6B7C"/>
                </a:solidFill>
                <a:latin typeface="Calibri"/>
              </a:rPr>
              <a:t>If building enterprise AI agents, integrating with AI Refinery SDK creates market reach via Accenture's enterprise client base.</a:t>
            </a:r>
          </a:p>
        </p:txBody>
      </p:sp>
      <p:sp>
        <p:nvSpPr>
          <p:cNvPr id="22" name="TextBox 21"/>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Accenture Competitive Intelligence · June 2026 · Built from live pipeline data</a:t>
            </a:r>
          </a:p>
        </p:txBody>
      </p:sp>
      <p:sp>
        <p:nvSpPr>
          <p:cNvPr id="23" name="TextBox 22"/>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