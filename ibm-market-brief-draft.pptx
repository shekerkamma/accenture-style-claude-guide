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0" b="1" i="0">
                <a:solidFill>
                  <a:srgbClr val="FFFFFF"/>
                </a:solidFill>
                <a:latin typeface="Calibri"/>
              </a:rPr>
              <a:t>IBM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The $12.5B AI Book of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Hybrid cloud + enterprise AI platform · FY2024/2025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880360"/>
            <a:ext cx="10515600" cy="36576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$62.8B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FY2024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+1% (+3% CC)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$12.5B+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Book (Q4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from $5B a year ago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~45%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Software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highest-margin segment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$6.4B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HashiCorp Acquired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February 27,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10058400" cy="301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June 2026 · Sources: 12 months ended Dec 31, 2024 earnings, Everest Group, IoT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IBM · FY2024 Key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$62.8B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FY2024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+1% (+3% CC)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3716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61888" y="137160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44475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$12.5B+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130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Book (Q4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432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inception-to-date since Q3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46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0779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~45%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93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Software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highest-margin segment · 32% gross margin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1888" y="28346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61888" y="283464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90779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$12.7B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593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Free Cash Flow (FY2024)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+$1.5B vs prior 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7083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~80%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56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Revenue: Multi-Segment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58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clients buying Software + Consulting + Infra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61888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429768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37083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$1.4B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5056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OpenShift ARR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358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up 13x since Red Hat acquisition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Revenue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5-year trajectory from SEC EDGAR XBRL</a:t>
            </a:r>
          </a:p>
        </p:txBody>
      </p:sp>
      <p:pic>
        <p:nvPicPr>
          <p:cNvPr id="7" name="Picture 6" descr="re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371600"/>
            <a:ext cx="9601200" cy="3769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486400"/>
            <a:ext cx="11247120" cy="4114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IBM revenue stabilized after Kyndryl (2021) and Watson Health (2022) divestitures. Software-led growth resuming.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Revenue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Segment &amp; industry mix driving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247120" cy="457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63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FY2024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% of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630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Growth (CC)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4630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Gross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11247120" cy="6583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842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984247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$27.1B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84247"/>
            <a:ext cx="16459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842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+8.3% (+9% CC)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84247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32.1%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19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700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Consulting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670047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$20.7B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670047"/>
            <a:ext cx="16459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700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-0.9% (+0.6% CC)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70047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46119"/>
            <a:ext cx="11247120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355847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$14.0B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355847"/>
            <a:ext cx="16459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3558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-3.9% (-2.7% CC)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355847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17.5%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19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416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Financing/Other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041647"/>
            <a:ext cx="2194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$1.0B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041647"/>
            <a:ext cx="16459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041647"/>
            <a:ext cx="256032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041647"/>
            <a:ext cx="22860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7091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0060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KEY INSIGHT: IBM's transformation thesis — Software (45% of revenue, 32% margin) carries growth while Consulting recovers. Infrastructure declining ~3% is "in line with product cycle" expectations. Red Hat (Software) is the acquisition that changed IBM's trajectory.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 PLATFORM &amp;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How IBM is monetizing the AI 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$12.5B+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GenAI Book (Q4'25)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from $5B a year 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+22%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Automation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Q3 2025 incl. HashiCorp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2472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$1.4B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OpenShift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13x since Red Hat acqn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Fortune 500 on IBM HC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hybrid cloud penetration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69748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697480"/>
            <a:ext cx="111556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788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The 'AI for Regulated Enterprise' Niche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IBM is not competing with OpenAI or Google on frontier models. Its thesis: regulated enterprises (banking, healthcare, government, defense) cannot send data to public cloud AI. IBM's Granite models are 90% more cost-efficient than frontier alternatives and can run on-premise. watsonx GenAI book grew from $5B to $12.5B in 12 months — 150% growth. The IBM 'Client Zero' story (490 workflows, $3.5B savings, -3% to +5% revenue) is the proof point for 500+ consulting deals.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What's changed and 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63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Software-Led Portfolio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Software is now 45% of IBM revenue (vs ~35% in 2020). Gross margin expanded 130bps to 58% in FY2024. The shift from services-heavy to software-led is the core Arvind Krishna thesis — now executing.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7160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HashiCorp: Infrastructure IaC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9339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$6.4B acquisition closed Feb 2025. Terraform (+Ansible) = end-to-end infrastructure-as-code. Vault + OpenShift = secrets management for hybrid cloud. Automation segment hit +22% in Q3 2025 partly driven by HashiCorp.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watsonx: AI for Regulated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8795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watsonx GenAI book grew $5B → $12.5B in 18 months. Granite models 90% more cost-efficient than frontier alternatives. Key differentiator: on-premise deployment for banking, healthcare, government — sectors where cloud-only AI (OpenAI, Google) cannot serve.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56616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Client Zero Credibility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18795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IBM 'ate its own cooking': decomposed 490 internal workflows, instrumented ~70 with digital workers, claims $3.5B internal productivity gains. Revenue inflection: –3% to +5% CAGR. Used as proof point in 500+ IBM Consulting Advantage deals.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consulting &amp; enterprise technology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IBM's Competitive Niche: Not competing on market share in GenAI services (2% vs Accenture 7%). Competing on infrastructure + platform: 93% of Fortune 500 on IBM hybrid cloud. Regulated industries (banking, healthcare, government) = IBM's defensible moat.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155680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8600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GenAI Mkt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AI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Analyst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80"/>
            <a:ext cx="11155680" cy="56692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IBM 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88920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$62.8B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88920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8892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watsonx + Red Hat + HashiCorp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74136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Accenture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7413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$69.7B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74136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374136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Reinvention Services + AI Refinery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37413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67912"/>
            <a:ext cx="11155680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9352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Microsoft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959352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$245B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959352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N/A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959352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Azure OpenAI / M365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59352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53128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44568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Deloitte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544568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~$65B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544568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544568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Deloitte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544568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38344"/>
            <a:ext cx="11155680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29784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Capgemini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129784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~$23B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12978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&lt;1%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129784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AI Lab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129784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623560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1500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Red 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715000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Internal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715000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71500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OpenShift / RHEL AI / Ansible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7150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Acquired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Key Risks &amp; Headwinds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could derail the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" cy="1965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9496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Consulting Growth 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Consulting -0.9% FY2024 vs Accenture +6%. IBM Consulting (~38% of revenue) trails Accenture, Deloitte, McKinsey on GenAI services market share (2% vs 7%). Needs reacceleration or Software must carry more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71600"/>
            <a:ext cx="365760" cy="1965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53949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Microsoft Copilot + Azure OpenAI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Microsoft has demonstrably larger enterprise AI distribution. IBM's $12.5B GenAI book vs OpenAI ~$20B 2025 revenue. Microsoft's enterprise reach via M365 seat base gives structural advantage.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65760" cy="1965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39496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Granite vs Frontier Model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8795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IBM Granite models are cost-efficient but capability-trailing vs GPT-5, Claude 4.x, Gemini 3.0. If enterprises shift production workloads to frontier models, IBM's 'AI for business' niche narrows.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566160"/>
            <a:ext cx="365760" cy="196596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566160"/>
            <a:ext cx="5394960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HashiCorp Product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8795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Terraform vs Ansible, OpenShift vs Waypoint: significant product overlap unresolved. Partner ecosystem confused about when to use IBM Z + Terraform vs Ansible. Long-term roadmap still unclear as of June 2025.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Signal synthesis from market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Software Is Now The Growth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Software at 45% of revenue with 32% gross margin — the highest-margin segment and the fastest growing (+9% CC). Red Hat is the acquisition thesis validated: OpenShift ARR at $1.4B (13x since acquisition). IBM's 'software-led, integrated enterprise' model is now reality, not aspiration.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45% software mix · +9% CC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watsonx GenAI Book: $5B → $12.5B in 12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96596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$12.5B GenAI book of business (Q4 2025) from $5B a year prior = 150% growth. 25% of the $32B revenue backlog is GenAI. Annualized GenAI consulting run rate: $3.6B. IBM is not winning on market share vs Accenture — but it's winning in regulated enterprise where cloud-only AI cannot 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4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08152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$12.5B book · +150% YoY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HashiCorp Makes IBM The Infrastructure IaC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$6.4B HashiCorp (closed Feb 2025) adds Terraform + Vault to IBM's stack. Terraform + Ansible + Red Hat = end-to-end infrastructure-as-code. Automation segment hit +22% in Q3 2025. Deployment time cuts from 45 min to 3 min = CFO-level ROI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$6.4B acquisition · +22% 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61188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61188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Consulting Must Reaccelerate Or Thesis Breaks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20624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IBM Consulting was -0.9% in FY2024 (vs Accenture +6%). Returned to growth in H2 2025 (+2%). If Consulting cannot sustain mid-single-digit growth, total revenue caps at +5%. The 'Client Zero' story and Consulting Advantage platform are IBM's mechanisms for reacceleration.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30352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3218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Consulting -0.9% FY24 → needs +5%+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A1628"/>
                </a:solidFill>
                <a:latin typeface="Calibri"/>
              </a:rPr>
              <a:t>Strategic actions for teams tracking IBM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25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Track Consulting return to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IBM Consulting was -0.9% in FY2024, returned to +2% in H2 2025. If it cannot sustain +5%+ in FY2026, the software-led thesis faces a 38%-of-revenue deadweight problem. Watch Q1 2026 earnings.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COMPETE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Counter watsonx in regulated industries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IBM's on-premise AI moat is in banking, healthcare, government. Competitors must choose: match IBM's hybrid capability (expensive) or concede regulated industries and focus on cloud-native enterprises.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11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67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Evaluate HashiCorp Terraform integration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HashiCorp just shifted strategy from SaaS-first to hybrid cloud. Partners can build practices around Terraform + Ansible + OpenShift. The IBM channel stamp adds credibility for GSI partnerships.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754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010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Watch Granite model adoption vs frontier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If enterprises choose GPT-5 / Claude 4 over Granite for production AI workloads, IBM's 'AI for business' niche shrinks. Q2/Q3 2026 will show whether the GenAI book converts to revenue at the claimed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IBM Market Intelligence Brief · June 2026 · Sources: Earnings, Everest Group, IoT Analytics, Exa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