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IBM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COMPETITIVE INTELLIGENCE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Technology Strategy · Financial Performance · Open-Source Footprint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$67.5B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FY2025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840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977639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+7.6%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57200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YoY 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39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3,905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7200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GitHub Repos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38404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977639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119,098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57200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Total Stars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June 2026 · Data from SEC EDGAR, GitHub API, Exa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IBM · Live Data —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09728" cy="1737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1B2B3C"/>
                </a:solidFill>
                <a:latin typeface="Calibri"/>
              </a:rPr>
              <a:t>$67.5B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FY2025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1576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+7.6% vs prior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1732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417320"/>
            <a:ext cx="109728" cy="1737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544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1B2B3C"/>
                </a:solidFill>
                <a:latin typeface="Calibri"/>
              </a:rPr>
              <a:t>$10.6B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77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Net Income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71576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Annual from EDGAR 10-K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8328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83280"/>
            <a:ext cx="109728" cy="1737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1B2B3C"/>
                </a:solidFill>
                <a:latin typeface="Calibri"/>
              </a:rPr>
              <a:t>3,905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GitHub Repos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817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Org: IBM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38328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3383280"/>
            <a:ext cx="109728" cy="1737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52044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1B2B3C"/>
                </a:solidFill>
                <a:latin typeface="Calibri"/>
              </a:rPr>
              <a:t>119,098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434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Total Stars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6817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Community engagement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Competitive Intelligence · June 2026 · Built from live pipeline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Financial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Revenue trajectory (SEC EDGAR XBRL)</a:t>
            </a:r>
          </a:p>
        </p:txBody>
      </p:sp>
      <p:pic>
        <p:nvPicPr>
          <p:cNvPr id="7" name="Picture 6" descr="rev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371600"/>
            <a:ext cx="8686800" cy="38000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Competitive Intelligence · June 2026 · Built from live pipeline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GitHub Technical Footprint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Open-source presence &amp; community engagement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65836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TOP REPOSITORIES BY STARS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★ 12,492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024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sarama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48840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Sarama is a Go library for Apache Kafka.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20240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2026-06-12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32304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★ 11,426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32304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60904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package of IBM’s typeface, IBM Plex.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432304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2026-06-12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44368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★ 3,885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944368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mcp-context-forge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17296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An AI Gateway, registry, and proxy that sits in front o…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944368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2026-06-14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56432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★ 2,225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5643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css-gridish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85032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Automatically build your grid design’s CSS Grid code, C…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456432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2019-04-18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968496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★ 1,994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96849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fp-go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197096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Functional programming library for Go 1.24+, inspired b…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968496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2026-06-15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80560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★ 1,986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4805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mcp-cli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709160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480560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2026-06-12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992624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★ 1,786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992624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AssetOpsBench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221224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AssetOpsBench - Industry 4.0: A unified benchmark and f…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4992624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2026-06-14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504688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★ 1,683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504688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Project_CodeNet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73328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This repository is to support contributions for tools f…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5504688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2025-12-21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0" y="1371600"/>
            <a:ext cx="438912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15087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LANGUAGE BREAKDOWN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2029968"/>
            <a:ext cx="878685" cy="2011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480" y="192024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Python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192024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956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2423160"/>
            <a:ext cx="656256" cy="20116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231343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Other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231343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714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80" y="2816352"/>
            <a:ext cx="395224" cy="2011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9480" y="270662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JavaScript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2706624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430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69480" y="3209544"/>
            <a:ext cx="271142" cy="2011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80" y="3099816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Jupyter Notebook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3099816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295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69480" y="3602736"/>
            <a:ext cx="259193" cy="20116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69480" y="349300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Java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349300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282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69480" y="3995928"/>
            <a:ext cx="234377" cy="20116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69480" y="3886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Go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388620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255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69480" y="4389120"/>
            <a:ext cx="195774" cy="2011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69480" y="427939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Shell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427939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213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9480" y="4782312"/>
            <a:ext cx="133273" cy="20116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69480" y="467258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HTML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4672584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145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69480" y="5175504"/>
            <a:ext cx="116729" cy="2011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69480" y="5065776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TypeScript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5065776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127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69480" y="5568696"/>
            <a:ext cx="91440" cy="201168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69480" y="545896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HCL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45896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65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Competitive Intelligence · June 2026 · Built from live pipeline data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Key AI &amp; Technology Repositories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Deep-dive: strategic open-source bets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mcp-context-forge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2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An AI Gateway, registry, and proxy that sits in front of any MCP, A2A, or REST/g…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00C9A7"/>
                </a:solidFill>
                <a:latin typeface="Calibri"/>
              </a:rPr>
              <a:t>★ 3,885  |  2026-06-14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5B6B7C"/>
                </a:solidFill>
                <a:latin typeface="Calibri"/>
              </a:rPr>
              <a:t>Latest: v1.0.3 · 20 releases / 12mo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37160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371600"/>
            <a:ext cx="3657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4813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mcp-cli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87452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42316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00C9A7"/>
                </a:solidFill>
                <a:latin typeface="Calibri"/>
              </a:rPr>
              <a:t>★ 1,986  |  2026-06-12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5B6B7C"/>
                </a:solidFill>
                <a:latin typeface="Calibri"/>
              </a:rPr>
              <a:t>Language: 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37160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371600"/>
            <a:ext cx="3657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14813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AssetOpsBench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187452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AssetOpsBench - Industry 4.0: A unified benchmark and framework for building, or…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42316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00C9A7"/>
                </a:solidFill>
                <a:latin typeface="Calibri"/>
              </a:rPr>
              <a:t>★ 1,786  |  2026-06-14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27432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5B6B7C"/>
                </a:solidFill>
                <a:latin typeface="Calibri"/>
              </a:rPr>
              <a:t>Language: Python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538728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538728"/>
            <a:ext cx="3657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64845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sarama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04164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Sarama is a Go library for Apache Kafka.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90288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00C9A7"/>
                </a:solidFill>
                <a:latin typeface="Calibri"/>
              </a:rPr>
              <a:t>★ 12,492  |  2026-06-12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91032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5B6B7C"/>
                </a:solidFill>
                <a:latin typeface="Calibri"/>
              </a:rPr>
              <a:t>Latest: v1.50.2 · 90 releases / 136mo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24528" y="3538728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24528" y="3538728"/>
            <a:ext cx="3657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8" y="364845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Project_CodeNet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404164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This repository is to support contributions for tools for the Project CodeNet da…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4590288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00C9A7"/>
                </a:solidFill>
                <a:latin typeface="Calibri"/>
              </a:rPr>
              <a:t>★ 1,683  |  2025-12-21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491032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5B6B7C"/>
                </a:solidFill>
                <a:latin typeface="Calibri"/>
              </a:rPr>
              <a:t>Latest: initial · 1 releases / 0mo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3296" y="3538728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83296" y="3538728"/>
            <a:ext cx="3657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364845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fp-go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404164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Functional programming library for Go 1.24+, inspired by fp-ts. Uses generic typ…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4590288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00C9A7"/>
                </a:solidFill>
                <a:latin typeface="Calibri"/>
              </a:rPr>
              <a:t>★ 1,994  |  2026-06-15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491032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5B6B7C"/>
                </a:solidFill>
                <a:latin typeface="Calibri"/>
              </a:rPr>
              <a:t>Latest: v2.3.40 · 100 releases / 3mo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Competitive Intelligence · June 2026 · Built from live pipeline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Market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Web research highlights via Exa (June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IBM-4Q24 Earnings Press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### IBM RELEASES FOURTH-QUARTER RESULTS Double-digit Software revenue growth; Free cash flow well-exceeds full-year expectation
ARMONK, N.Y., January 29, 2025 . . . IBM (NYSE: IBM) today announced fo…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61888" y="137160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IBM RELEASES FOURTH-QUARTER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965960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RELEASES FOURTH-QUARTER RESULTS
# All press releases
# IBM RELEASES FOURTH-QUARTER RESULTS
Double-digit Software revenue growth; Free cash flow well-exceeds full-year expectation
Jan 29, 2025
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288036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00C9A7"/>
                </a:solidFill>
                <a:latin typeface="Calibri"/>
              </a:rPr>
              <a:t>2025-01-29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64408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558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IBM: $9.5-Billion AI Book Of Business Drives Q3 Growth Across Software, Har…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58768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IBM: $9.5-Billion AI Book Of Business Drives Q3 Growth Across Software, Hardware And Consulting
# IBM: $9.5-Billion AI Book Of Business Drives Q3 Growth Across Software, Hardware And Consulting
IBM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1888" y="3264408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33558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Let’s Create Smarter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3858768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2025 Annual Report I
2025 Annual Report
Let’s Create Smarter Business
II IBM 2025 Annual Report 1
Dear IBM Investor:
IBM’s strategy is built on two technology foundations: hybrid cloud and AI…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157216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486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Artificial Intelligence (AI) Consulting Services Market | 2035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51576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Artificial Intelligence (AI) Consulting Services Market | 2035
# Artificial Intelligence (AI) Consulting Services Market
Artificial Intelligence (AI) Consulting Services Market Research Report: Size…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665976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00C9A7"/>
                </a:solidFill>
                <a:latin typeface="Calibri"/>
              </a:rPr>
              <a:t>2026-01-02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61888" y="5157216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8" y="52486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AI Consulting Services Market Research Report 2034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5751576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Services Market Research Report 2034
- Report Description
- Table Of Content
- Methodology
# AI Consulting Services Market
Segments - by Service Type (Strategy Development, Implementa…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6665976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00C9A7"/>
                </a:solidFill>
                <a:latin typeface="Calibri"/>
              </a:rPr>
              <a:t>2024-10-05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Competitive Intelligence · June 2026 · Built from live pipeline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AI PLATFORM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What IBM's open-source bets reveal about their AI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5661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MCP Context Forge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mcp-context-forge v1.0.3 — 3,885 stars, 20 releases in 12mo — IBM's MCP gateway product. Launched in response to Anthropic's MCP standard. Active weekly commits as of June 14.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3200400" cy="4114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6791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3,885 stars · 20 releases/12mo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23444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234440"/>
            <a:ext cx="35661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37160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watsonx AI Book of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2024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IBM reports $9.5B AI book-of-business as of Q3 2024. watsonx platform anchors enterprise AI sales — differentiated by on-premise/private cloud deployment for regulated industries.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40480"/>
            <a:ext cx="3200400" cy="4114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86791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$9.5B AI book of business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3444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35661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37160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Infrastructure Heritage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3200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sarama (12,492★ Kafka Go client) and fp-go (100 releases in 3mo, June 15) reveal IBM's enterprise infrastructure DNA — battle-tested Go tooling underpinning hybrid cloud offerings.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840480"/>
            <a:ext cx="3200400" cy="4114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86791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12,492★ Kafka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IBM Competitive Intelligence · June 2026 · Built from live pipeline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Competitive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 consulting &amp; technology market landscape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0241280" cy="53035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63040"/>
            <a:ext cx="1828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1463040"/>
            <a:ext cx="10972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FY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463040"/>
            <a:ext cx="21031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AI Posture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1463040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AI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Open Source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01952"/>
            <a:ext cx="10241280" cy="530352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993392"/>
            <a:ext cx="1828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IBM 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1993392"/>
            <a:ext cx="10972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$67.5B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993392"/>
            <a:ext cx="21031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Platform + consulting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2" y="1993392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watsonx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993392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3,905 repos / 119K★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32304"/>
            <a:ext cx="102412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523744"/>
            <a:ext cx="1828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Accenture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2" y="2523744"/>
            <a:ext cx="10972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$69.7B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523744"/>
            <a:ext cx="21031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AI-first integrator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2523744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AI Refinery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523744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223 repos / 10K★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62656"/>
            <a:ext cx="10241280" cy="53035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054096"/>
            <a:ext cx="1828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Microsoft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2" y="3054096"/>
            <a:ext cx="10972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$245B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3054096"/>
            <a:ext cx="21031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Platform &amp; infra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2" y="3054096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Azure OpenAI / 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054096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High — GitHub + VS Code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93008"/>
            <a:ext cx="102412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584448"/>
            <a:ext cx="1828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Google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152" y="3584448"/>
            <a:ext cx="10972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$350B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3584448"/>
            <a:ext cx="21031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Model +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2432" y="3584448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Gemini / Vertex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584448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023360"/>
            <a:ext cx="10241280" cy="53035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114800"/>
            <a:ext cx="1828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HPE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9152" y="4114800"/>
            <a:ext cx="10972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$29B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47872" y="4114800"/>
            <a:ext cx="21031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Infra &amp; consulting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42432" y="4114800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Private Cloud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4114800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553712"/>
            <a:ext cx="102412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4645152"/>
            <a:ext cx="1828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Salesforce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59152" y="4645152"/>
            <a:ext cx="10972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$36B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47872" y="4645152"/>
            <a:ext cx="21031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CRM + AI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42432" y="4645152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Agentforce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4645152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Competitive Intelligence · June 2026 · Built from live pipeline 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Strategic Themes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Key signals from pipeline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57200" cy="1828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74520"/>
            <a:ext cx="3657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MCP as Enterprise Gateway 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mcp-context-forge (3,885★, v1.0.3, weekly commits) is IBM's bet on MCP becoming the de-facto enterprise AI integration standard. IBM is positioning watsonx as the MCP orchestration layer for regulated enterprise 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3,885★ · 20 releases/12mo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716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457200" cy="1828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874520"/>
            <a:ext cx="3657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463040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watsonx AI Book of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11680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$9.5B AI book of business (Q3 2024) is the strongest signal IBM has turned around. Regulated industries (banking, healthcare, government) are the TAM — on-premise matters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80360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$9.5B AI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429000"/>
            <a:ext cx="457200" cy="1828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931920"/>
            <a:ext cx="3657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20440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Infrastructure Heritage = Moat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sarama's 12,492 stars (Kafka Go client) and fp-go's 100 releases in 3 months reveal IBM's enterprise infrastructure depth. These libraries underpin hybrid cloud decisions at 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12,492★ · 90 releases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4290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3429000"/>
            <a:ext cx="457200" cy="1828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931920"/>
            <a:ext cx="3657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520440"/>
            <a:ext cx="47091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HashiCorp Acquisition Multiplier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069080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HashiCorp acquisition (closed 2024) gives IBM infrastructure automation at scale. Terraform + watsonx + MCP = a plausible enterprise AI infrastructure stack.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37760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HashiCorp + watsonx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Competitive Intelligence · June 2026 · Built from live pipeline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0A1628"/>
                </a:solidFill>
                <a:latin typeface="Calibri"/>
              </a:rPr>
              <a:t>Actions for teams tracking IBM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777240" cy="86868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258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Monitor mcp-context-forge adoption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6479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Weekly commits + 3,885★ in &lt;12 months = this is IBM's fastest-growing strategic asset. Adoption by enterprise AI teams determines whether watsonx wins the MCP gateway race.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23160"/>
            <a:ext cx="777240" cy="86868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0604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COMPETE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2316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Counter watsonx with cloud-native vs. on-premise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6207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IBM's moat is regulated industries needing on-premise. Cloud-native competitors should compete on speed, ecosystem richness, and price — not infrastructure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520440"/>
            <a:ext cx="777240" cy="86868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ENGAGE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2044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Leverage sarama in Kafka integration stories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5935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12,492★ Kafka Go client is the entry point for IBM's hybrid cloud narrative. Enterprise teams using sarama are a proven IBM customer profile.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617720"/>
            <a:ext cx="777240" cy="86868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0060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1772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HashiCorp + watsonx is the enterprise AI infra stack to beat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566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Terraform-managed infrastructure + watsonx AI = IBM's pitch to regulated enterprises. Evaluate whether to build interoperability or competing integration.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IBM Competitive Intelligence · June 2026 · Built from live pipeline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