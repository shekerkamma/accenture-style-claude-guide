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235440" y="0"/>
            <a:ext cx="2956255"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22960"/>
            <a:ext cx="8229600" cy="292608"/>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ACCENTURE  ·  STRATEGY ANALYSIS</a:t>
            </a:r>
          </a:p>
        </p:txBody>
      </p:sp>
      <p:sp>
        <p:nvSpPr>
          <p:cNvPr id="7" name="TextBox 6"/>
          <p:cNvSpPr txBox="1"/>
          <p:nvPr/>
        </p:nvSpPr>
        <p:spPr>
          <a:xfrm>
            <a:off x="594360" y="1234440"/>
            <a:ext cx="8412480" cy="1920240"/>
          </a:xfrm>
          <a:prstGeom prst="rect">
            <a:avLst/>
          </a:prstGeom>
          <a:noFill/>
        </p:spPr>
        <p:txBody>
          <a:bodyPr wrap="square" anchor="t" lIns="0" rIns="0" tIns="0" bIns="0">
            <a:normAutofit/>
          </a:bodyPr>
          <a:lstStyle/>
          <a:p>
            <a:pPr algn="l">
              <a:lnSpc>
                <a:spcPct val="110000"/>
              </a:lnSpc>
              <a:spcBef>
                <a:spcPts val="0"/>
              </a:spcBef>
            </a:pPr>
            <a:r>
              <a:rPr sz="4800" b="1" i="0">
                <a:solidFill>
                  <a:srgbClr val="FFFFFF"/>
                </a:solidFill>
                <a:latin typeface="Calibri"/>
              </a:rPr>
              <a:t>Accenture Strategy
Analysis 2026</a:t>
            </a:r>
          </a:p>
        </p:txBody>
      </p:sp>
      <p:sp>
        <p:nvSpPr>
          <p:cNvPr id="8" name="Rectangle 7"/>
          <p:cNvSpPr/>
          <p:nvPr/>
        </p:nvSpPr>
        <p:spPr>
          <a:xfrm>
            <a:off x="594360" y="3246120"/>
            <a:ext cx="2743200" cy="640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429000"/>
            <a:ext cx="8046720" cy="685800"/>
          </a:xfrm>
          <a:prstGeom prst="rect">
            <a:avLst/>
          </a:prstGeom>
          <a:noFill/>
        </p:spPr>
        <p:txBody>
          <a:bodyPr wrap="square" anchor="t" lIns="0" rIns="0" tIns="0" bIns="0">
            <a:noAutofit/>
          </a:bodyPr>
          <a:lstStyle/>
          <a:p>
            <a:pPr algn="l">
              <a:lnSpc>
                <a:spcPct val="130000"/>
              </a:lnSpc>
              <a:spcBef>
                <a:spcPts val="0"/>
              </a:spcBef>
            </a:pPr>
            <a:r>
              <a:rPr sz="1600" b="0" i="0">
                <a:solidFill>
                  <a:srgbClr val="E0F7F1"/>
                </a:solidFill>
                <a:latin typeface="Calibri"/>
              </a:rPr>
              <a:t>21 consulting frameworks  ·  Applied to Accenture FY2025 data
Powered by the Accenture-Style Claude Skills Guide</a:t>
            </a:r>
          </a:p>
        </p:txBody>
      </p:sp>
      <p:sp>
        <p:nvSpPr>
          <p:cNvPr id="10" name="Rounded Rectangle 9"/>
          <p:cNvSpPr/>
          <p:nvPr/>
        </p:nvSpPr>
        <p:spPr>
          <a:xfrm>
            <a:off x="594360" y="4297680"/>
            <a:ext cx="1920240" cy="822960"/>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4352544"/>
            <a:ext cx="1828800" cy="420624"/>
          </a:xfrm>
          <a:prstGeom prst="rect">
            <a:avLst/>
          </a:prstGeom>
          <a:noFill/>
        </p:spPr>
        <p:txBody>
          <a:bodyPr wrap="square" anchor="t" lIns="0" rIns="0" tIns="0" bIns="0">
            <a:noAutofit/>
          </a:bodyPr>
          <a:lstStyle/>
          <a:p>
            <a:pPr algn="l">
              <a:lnSpc>
                <a:spcPct val="105000"/>
              </a:lnSpc>
              <a:spcBef>
                <a:spcPts val="0"/>
              </a:spcBef>
            </a:pPr>
            <a:r>
              <a:rPr sz="2600" b="1" i="0">
                <a:solidFill>
                  <a:srgbClr val="FFB800"/>
                </a:solidFill>
                <a:latin typeface="Calibri"/>
              </a:rPr>
              <a:t>$69.7B</a:t>
            </a:r>
          </a:p>
        </p:txBody>
      </p:sp>
      <p:sp>
        <p:nvSpPr>
          <p:cNvPr id="12" name="TextBox 11"/>
          <p:cNvSpPr txBox="1"/>
          <p:nvPr/>
        </p:nvSpPr>
        <p:spPr>
          <a:xfrm>
            <a:off x="704088" y="4773168"/>
            <a:ext cx="1737360" cy="256032"/>
          </a:xfrm>
          <a:prstGeom prst="rect">
            <a:avLst/>
          </a:prstGeom>
          <a:noFill/>
        </p:spPr>
        <p:txBody>
          <a:bodyPr wrap="square" anchor="t" lIns="0" rIns="0" tIns="0" bIns="0">
            <a:noAutofit/>
          </a:bodyPr>
          <a:lstStyle/>
          <a:p>
            <a:pPr algn="l">
              <a:lnSpc>
                <a:spcPct val="105000"/>
              </a:lnSpc>
              <a:spcBef>
                <a:spcPts val="0"/>
              </a:spcBef>
            </a:pPr>
            <a:r>
              <a:rPr sz="1050" b="0" i="0">
                <a:solidFill>
                  <a:srgbClr val="5B6B7C"/>
                </a:solidFill>
                <a:latin typeface="Calibri"/>
              </a:rPr>
              <a:t>FY2025 Revenue</a:t>
            </a:r>
          </a:p>
        </p:txBody>
      </p:sp>
      <p:sp>
        <p:nvSpPr>
          <p:cNvPr id="13" name="Rounded Rectangle 12"/>
          <p:cNvSpPr/>
          <p:nvPr/>
        </p:nvSpPr>
        <p:spPr>
          <a:xfrm>
            <a:off x="2679191" y="4297680"/>
            <a:ext cx="1920240" cy="822960"/>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19" y="4352544"/>
            <a:ext cx="1828800" cy="420624"/>
          </a:xfrm>
          <a:prstGeom prst="rect">
            <a:avLst/>
          </a:prstGeom>
          <a:noFill/>
        </p:spPr>
        <p:txBody>
          <a:bodyPr wrap="square" anchor="t" lIns="0" rIns="0" tIns="0" bIns="0">
            <a:noAutofit/>
          </a:bodyPr>
          <a:lstStyle/>
          <a:p>
            <a:pPr algn="l">
              <a:lnSpc>
                <a:spcPct val="105000"/>
              </a:lnSpc>
              <a:spcBef>
                <a:spcPts val="0"/>
              </a:spcBef>
            </a:pPr>
            <a:r>
              <a:rPr sz="2600" b="1" i="0">
                <a:solidFill>
                  <a:srgbClr val="FFB800"/>
                </a:solidFill>
                <a:latin typeface="Calibri"/>
              </a:rPr>
              <a:t>$2.7B</a:t>
            </a:r>
          </a:p>
        </p:txBody>
      </p:sp>
      <p:sp>
        <p:nvSpPr>
          <p:cNvPr id="15" name="TextBox 14"/>
          <p:cNvSpPr txBox="1"/>
          <p:nvPr/>
        </p:nvSpPr>
        <p:spPr>
          <a:xfrm>
            <a:off x="2788919" y="4773168"/>
            <a:ext cx="1737360" cy="256032"/>
          </a:xfrm>
          <a:prstGeom prst="rect">
            <a:avLst/>
          </a:prstGeom>
          <a:noFill/>
        </p:spPr>
        <p:txBody>
          <a:bodyPr wrap="square" anchor="t" lIns="0" rIns="0" tIns="0" bIns="0">
            <a:noAutofit/>
          </a:bodyPr>
          <a:lstStyle/>
          <a:p>
            <a:pPr algn="l">
              <a:lnSpc>
                <a:spcPct val="105000"/>
              </a:lnSpc>
              <a:spcBef>
                <a:spcPts val="0"/>
              </a:spcBef>
            </a:pPr>
            <a:r>
              <a:rPr sz="1050" b="0" i="0">
                <a:solidFill>
                  <a:srgbClr val="5B6B7C"/>
                </a:solidFill>
                <a:latin typeface="Calibri"/>
              </a:rPr>
              <a:t>GenAI Revenue</a:t>
            </a:r>
          </a:p>
        </p:txBody>
      </p:sp>
      <p:sp>
        <p:nvSpPr>
          <p:cNvPr id="16" name="Rounded Rectangle 15"/>
          <p:cNvSpPr/>
          <p:nvPr/>
        </p:nvSpPr>
        <p:spPr>
          <a:xfrm>
            <a:off x="4764022" y="4297680"/>
            <a:ext cx="1920240" cy="822960"/>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73750" y="4352544"/>
            <a:ext cx="1828800" cy="420624"/>
          </a:xfrm>
          <a:prstGeom prst="rect">
            <a:avLst/>
          </a:prstGeom>
          <a:noFill/>
        </p:spPr>
        <p:txBody>
          <a:bodyPr wrap="square" anchor="t" lIns="0" rIns="0" tIns="0" bIns="0">
            <a:noAutofit/>
          </a:bodyPr>
          <a:lstStyle/>
          <a:p>
            <a:pPr algn="l">
              <a:lnSpc>
                <a:spcPct val="105000"/>
              </a:lnSpc>
              <a:spcBef>
                <a:spcPts val="0"/>
              </a:spcBef>
            </a:pPr>
            <a:r>
              <a:rPr sz="2600" b="1" i="0">
                <a:solidFill>
                  <a:srgbClr val="FFB800"/>
                </a:solidFill>
                <a:latin typeface="Calibri"/>
              </a:rPr>
              <a:t>7%</a:t>
            </a:r>
          </a:p>
        </p:txBody>
      </p:sp>
      <p:sp>
        <p:nvSpPr>
          <p:cNvPr id="18" name="TextBox 17"/>
          <p:cNvSpPr txBox="1"/>
          <p:nvPr/>
        </p:nvSpPr>
        <p:spPr>
          <a:xfrm>
            <a:off x="4873750" y="4773168"/>
            <a:ext cx="1737360" cy="256032"/>
          </a:xfrm>
          <a:prstGeom prst="rect">
            <a:avLst/>
          </a:prstGeom>
          <a:noFill/>
        </p:spPr>
        <p:txBody>
          <a:bodyPr wrap="square" anchor="t" lIns="0" rIns="0" tIns="0" bIns="0">
            <a:noAutofit/>
          </a:bodyPr>
          <a:lstStyle/>
          <a:p>
            <a:pPr algn="l">
              <a:lnSpc>
                <a:spcPct val="105000"/>
              </a:lnSpc>
              <a:spcBef>
                <a:spcPts val="0"/>
              </a:spcBef>
            </a:pPr>
            <a:r>
              <a:rPr sz="1050" b="0" i="0">
                <a:solidFill>
                  <a:srgbClr val="5B6B7C"/>
                </a:solidFill>
                <a:latin typeface="Calibri"/>
              </a:rPr>
              <a:t>Revenue Growth</a:t>
            </a:r>
          </a:p>
        </p:txBody>
      </p:sp>
      <p:sp>
        <p:nvSpPr>
          <p:cNvPr id="19" name="Rounded Rectangle 18"/>
          <p:cNvSpPr/>
          <p:nvPr/>
        </p:nvSpPr>
        <p:spPr>
          <a:xfrm>
            <a:off x="6848853" y="4297680"/>
            <a:ext cx="1920240" cy="822960"/>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58581" y="4352544"/>
            <a:ext cx="1828800" cy="420624"/>
          </a:xfrm>
          <a:prstGeom prst="rect">
            <a:avLst/>
          </a:prstGeom>
          <a:noFill/>
        </p:spPr>
        <p:txBody>
          <a:bodyPr wrap="square" anchor="t" lIns="0" rIns="0" tIns="0" bIns="0">
            <a:noAutofit/>
          </a:bodyPr>
          <a:lstStyle/>
          <a:p>
            <a:pPr algn="l">
              <a:lnSpc>
                <a:spcPct val="105000"/>
              </a:lnSpc>
              <a:spcBef>
                <a:spcPts val="0"/>
              </a:spcBef>
            </a:pPr>
            <a:r>
              <a:rPr sz="2600" b="1" i="0">
                <a:solidFill>
                  <a:srgbClr val="FFB800"/>
                </a:solidFill>
                <a:latin typeface="Calibri"/>
              </a:rPr>
              <a:t>$5.9B</a:t>
            </a:r>
          </a:p>
        </p:txBody>
      </p:sp>
      <p:sp>
        <p:nvSpPr>
          <p:cNvPr id="21" name="TextBox 20"/>
          <p:cNvSpPr txBox="1"/>
          <p:nvPr/>
        </p:nvSpPr>
        <p:spPr>
          <a:xfrm>
            <a:off x="6958581" y="4773168"/>
            <a:ext cx="1737360" cy="256032"/>
          </a:xfrm>
          <a:prstGeom prst="rect">
            <a:avLst/>
          </a:prstGeom>
          <a:noFill/>
        </p:spPr>
        <p:txBody>
          <a:bodyPr wrap="square" anchor="t" lIns="0" rIns="0" tIns="0" bIns="0">
            <a:noAutofit/>
          </a:bodyPr>
          <a:lstStyle/>
          <a:p>
            <a:pPr algn="l">
              <a:lnSpc>
                <a:spcPct val="105000"/>
              </a:lnSpc>
              <a:spcBef>
                <a:spcPts val="0"/>
              </a:spcBef>
            </a:pPr>
            <a:r>
              <a:rPr sz="1050" b="0" i="0">
                <a:solidFill>
                  <a:srgbClr val="5B6B7C"/>
                </a:solidFill>
                <a:latin typeface="Calibri"/>
              </a:rPr>
              <a:t>GenAI Bookings</a:t>
            </a:r>
          </a:p>
        </p:txBody>
      </p:sp>
      <p:sp>
        <p:nvSpPr>
          <p:cNvPr id="22" name="TextBox 21"/>
          <p:cNvSpPr txBox="1"/>
          <p:nvPr/>
        </p:nvSpPr>
        <p:spPr>
          <a:xfrm>
            <a:off x="9418320" y="1280160"/>
            <a:ext cx="2468880" cy="502920"/>
          </a:xfrm>
          <a:prstGeom prst="rect">
            <a:avLst/>
          </a:prstGeom>
          <a:noFill/>
        </p:spPr>
        <p:txBody>
          <a:bodyPr wrap="square" anchor="t" lIns="0" rIns="0" tIns="0" bIns="0">
            <a:noAutofit/>
          </a:bodyPr>
          <a:lstStyle/>
          <a:p>
            <a:pPr algn="ctr">
              <a:lnSpc>
                <a:spcPct val="105000"/>
              </a:lnSpc>
              <a:spcBef>
                <a:spcPts val="0"/>
              </a:spcBef>
            </a:pPr>
            <a:r>
              <a:rPr sz="1100" b="0" i="0">
                <a:solidFill>
                  <a:srgbClr val="5B6B7C"/>
                </a:solidFill>
                <a:latin typeface="Calibri"/>
              </a:rPr>
              <a:t>GITHUB SIGNALS
github.com/Accenture</a:t>
            </a:r>
          </a:p>
        </p:txBody>
      </p:sp>
      <p:sp>
        <p:nvSpPr>
          <p:cNvPr id="23" name="TextBox 22"/>
          <p:cNvSpPr txBox="1"/>
          <p:nvPr/>
        </p:nvSpPr>
        <p:spPr>
          <a:xfrm>
            <a:off x="9418320" y="1920240"/>
            <a:ext cx="2468880" cy="347472"/>
          </a:xfrm>
          <a:prstGeom prst="rect">
            <a:avLst/>
          </a:prstGeom>
          <a:noFill/>
        </p:spPr>
        <p:txBody>
          <a:bodyPr wrap="square" anchor="t" lIns="0" rIns="0" tIns="0" bIns="0">
            <a:noAutofit/>
          </a:bodyPr>
          <a:lstStyle/>
          <a:p>
            <a:pPr algn="ctr">
              <a:lnSpc>
                <a:spcPct val="105000"/>
              </a:lnSpc>
              <a:spcBef>
                <a:spcPts val="0"/>
              </a:spcBef>
            </a:pPr>
            <a:r>
              <a:rPr sz="1050" b="0" i="0">
                <a:solidFill>
                  <a:srgbClr val="5B6B7C"/>
                </a:solidFill>
                <a:latin typeface="Calibri"/>
              </a:rPr>
              <a:t>223 public repos</a:t>
            </a:r>
          </a:p>
        </p:txBody>
      </p:sp>
      <p:sp>
        <p:nvSpPr>
          <p:cNvPr id="24" name="TextBox 23"/>
          <p:cNvSpPr txBox="1"/>
          <p:nvPr/>
        </p:nvSpPr>
        <p:spPr>
          <a:xfrm>
            <a:off x="9418320" y="2377440"/>
            <a:ext cx="2468880" cy="347472"/>
          </a:xfrm>
          <a:prstGeom prst="rect">
            <a:avLst/>
          </a:prstGeom>
          <a:noFill/>
        </p:spPr>
        <p:txBody>
          <a:bodyPr wrap="square" anchor="t" lIns="0" rIns="0" tIns="0" bIns="0">
            <a:noAutofit/>
          </a:bodyPr>
          <a:lstStyle/>
          <a:p>
            <a:pPr algn="ctr">
              <a:lnSpc>
                <a:spcPct val="105000"/>
              </a:lnSpc>
              <a:spcBef>
                <a:spcPts val="0"/>
              </a:spcBef>
            </a:pPr>
            <a:r>
              <a:rPr sz="1050" b="0" i="0">
                <a:solidFill>
                  <a:srgbClr val="5B6B7C"/>
                </a:solidFill>
                <a:latin typeface="Calibri"/>
              </a:rPr>
              <a:t>AI Refinery SDK v1.31</a:t>
            </a:r>
          </a:p>
        </p:txBody>
      </p:sp>
      <p:sp>
        <p:nvSpPr>
          <p:cNvPr id="25" name="TextBox 24"/>
          <p:cNvSpPr txBox="1"/>
          <p:nvPr/>
        </p:nvSpPr>
        <p:spPr>
          <a:xfrm>
            <a:off x="9418320" y="2834640"/>
            <a:ext cx="2468880" cy="347472"/>
          </a:xfrm>
          <a:prstGeom prst="rect">
            <a:avLst/>
          </a:prstGeom>
          <a:noFill/>
        </p:spPr>
        <p:txBody>
          <a:bodyPr wrap="square" anchor="t" lIns="0" rIns="0" tIns="0" bIns="0">
            <a:noAutofit/>
          </a:bodyPr>
          <a:lstStyle/>
          <a:p>
            <a:pPr algn="ctr">
              <a:lnSpc>
                <a:spcPct val="105000"/>
              </a:lnSpc>
              <a:spcBef>
                <a:spcPts val="0"/>
              </a:spcBef>
            </a:pPr>
            <a:r>
              <a:rPr sz="1050" b="0" i="0">
                <a:solidFill>
                  <a:srgbClr val="5B6B7C"/>
                </a:solidFill>
                <a:latin typeface="Calibri"/>
              </a:rPr>
              <a:t>mcp-bench NeurIPS25</a:t>
            </a:r>
          </a:p>
        </p:txBody>
      </p:sp>
      <p:sp>
        <p:nvSpPr>
          <p:cNvPr id="26" name="TextBox 25"/>
          <p:cNvSpPr txBox="1"/>
          <p:nvPr/>
        </p:nvSpPr>
        <p:spPr>
          <a:xfrm>
            <a:off x="9418320" y="3291840"/>
            <a:ext cx="2468880" cy="347472"/>
          </a:xfrm>
          <a:prstGeom prst="rect">
            <a:avLst/>
          </a:prstGeom>
          <a:noFill/>
        </p:spPr>
        <p:txBody>
          <a:bodyPr wrap="square" anchor="t" lIns="0" rIns="0" tIns="0" bIns="0">
            <a:noAutofit/>
          </a:bodyPr>
          <a:lstStyle/>
          <a:p>
            <a:pPr algn="ctr">
              <a:lnSpc>
                <a:spcPct val="105000"/>
              </a:lnSpc>
              <a:spcBef>
                <a:spcPts val="0"/>
              </a:spcBef>
            </a:pPr>
            <a:r>
              <a:rPr sz="1050" b="0" i="0">
                <a:solidFill>
                  <a:srgbClr val="5B6B7C"/>
                </a:solidFill>
                <a:latin typeface="Calibri"/>
              </a:rPr>
              <a:t>AmpliGraph 2.2K stars</a:t>
            </a:r>
          </a:p>
        </p:txBody>
      </p:sp>
      <p:sp>
        <p:nvSpPr>
          <p:cNvPr id="27" name="TextBox 26"/>
          <p:cNvSpPr txBox="1"/>
          <p:nvPr/>
        </p:nvSpPr>
        <p:spPr>
          <a:xfrm>
            <a:off x="9418320" y="3749040"/>
            <a:ext cx="2468880" cy="347472"/>
          </a:xfrm>
          <a:prstGeom prst="rect">
            <a:avLst/>
          </a:prstGeom>
          <a:noFill/>
        </p:spPr>
        <p:txBody>
          <a:bodyPr wrap="square" anchor="t" lIns="0" rIns="0" tIns="0" bIns="0">
            <a:noAutofit/>
          </a:bodyPr>
          <a:lstStyle/>
          <a:p>
            <a:pPr algn="ctr">
              <a:lnSpc>
                <a:spcPct val="105000"/>
              </a:lnSpc>
              <a:spcBef>
                <a:spcPts val="0"/>
              </a:spcBef>
            </a:pPr>
            <a:r>
              <a:rPr sz="1050" b="0" i="0">
                <a:solidFill>
                  <a:srgbClr val="5B6B7C"/>
                </a:solidFill>
                <a:latin typeface="Calibri"/>
              </a:rPr>
              <a:t>Federated Learning Lab</a:t>
            </a:r>
          </a:p>
        </p:txBody>
      </p:sp>
      <p:sp>
        <p:nvSpPr>
          <p:cNvPr id="28" name="TextBox 27"/>
          <p:cNvSpPr txBox="1"/>
          <p:nvPr/>
        </p:nvSpPr>
        <p:spPr>
          <a:xfrm>
            <a:off x="9418320" y="4206240"/>
            <a:ext cx="2468880" cy="347472"/>
          </a:xfrm>
          <a:prstGeom prst="rect">
            <a:avLst/>
          </a:prstGeom>
          <a:noFill/>
        </p:spPr>
        <p:txBody>
          <a:bodyPr wrap="square" anchor="t" lIns="0" rIns="0" tIns="0" bIns="0">
            <a:noAutofit/>
          </a:bodyPr>
          <a:lstStyle/>
          <a:p>
            <a:pPr algn="ctr">
              <a:lnSpc>
                <a:spcPct val="105000"/>
              </a:lnSpc>
              <a:spcBef>
                <a:spcPts val="0"/>
              </a:spcBef>
            </a:pPr>
            <a:r>
              <a:rPr sz="1050" b="0" i="0">
                <a:solidFill>
                  <a:srgbClr val="5B6B7C"/>
                </a:solidFill>
                <a:latin typeface="Calibri"/>
              </a:rPr>
              <a:t>Python-first AI stack</a:t>
            </a:r>
          </a:p>
        </p:txBody>
      </p:sp>
      <p:sp>
        <p:nvSpPr>
          <p:cNvPr id="29" name="TextBox 28"/>
          <p:cNvSpPr txBox="1"/>
          <p:nvPr/>
        </p:nvSpPr>
        <p:spPr>
          <a:xfrm>
            <a:off x="9418320" y="4663440"/>
            <a:ext cx="2468880" cy="347472"/>
          </a:xfrm>
          <a:prstGeom prst="rect">
            <a:avLst/>
          </a:prstGeom>
          <a:noFill/>
        </p:spPr>
        <p:txBody>
          <a:bodyPr wrap="square" anchor="t" lIns="0" rIns="0" tIns="0" bIns="0">
            <a:noAutofit/>
          </a:bodyPr>
          <a:lstStyle/>
          <a:p>
            <a:pPr algn="ctr">
              <a:lnSpc>
                <a:spcPct val="105000"/>
              </a:lnSpc>
              <a:spcBef>
                <a:spcPts val="0"/>
              </a:spcBef>
            </a:pPr>
            <a:r>
              <a:rPr sz="1050" b="0" i="0">
                <a:solidFill>
                  <a:srgbClr val="5B6B7C"/>
                </a:solidFill>
                <a:latin typeface="Calibri"/>
              </a:rPr>
              <a:t>Apache 2.0 licensed</a:t>
            </a:r>
          </a:p>
        </p:txBody>
      </p:sp>
      <p:sp>
        <p:nvSpPr>
          <p:cNvPr id="30" name="TextBox 29"/>
          <p:cNvSpPr txBox="1"/>
          <p:nvPr/>
        </p:nvSpPr>
        <p:spPr>
          <a:xfrm>
            <a:off x="9418320" y="5120640"/>
            <a:ext cx="2468880" cy="347472"/>
          </a:xfrm>
          <a:prstGeom prst="rect">
            <a:avLst/>
          </a:prstGeom>
          <a:noFill/>
        </p:spPr>
        <p:txBody>
          <a:bodyPr wrap="square" anchor="t" lIns="0" rIns="0" tIns="0" bIns="0">
            <a:noAutofit/>
          </a:bodyPr>
          <a:lstStyle/>
          <a:p>
            <a:pPr algn="ctr">
              <a:lnSpc>
                <a:spcPct val="105000"/>
              </a:lnSpc>
              <a:spcBef>
                <a:spcPts val="0"/>
              </a:spcBef>
            </a:pPr>
            <a:r>
              <a:rPr sz="1050" b="0" i="0">
                <a:solidFill>
                  <a:srgbClr val="5B6B7C"/>
                </a:solidFill>
                <a:latin typeface="Calibri"/>
              </a:rPr>
              <a:t>Active since 2015</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Accenture Strategy Analysis  |  Sources: FY2025 10-K + GitHub:Accenture (223 repos)  |  June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594360"/>
          </a:xfrm>
          <a:prstGeom prst="rect">
            <a:avLst/>
          </a:prstGeom>
          <a:noFill/>
        </p:spPr>
        <p:txBody>
          <a:bodyPr wrap="square" anchor="t" lIns="0" rIns="0" tIns="0" bIns="0">
            <a:noAutofit/>
          </a:bodyPr>
          <a:lstStyle/>
          <a:p>
            <a:pPr algn="l">
              <a:lnSpc>
                <a:spcPct val="105000"/>
              </a:lnSpc>
              <a:spcBef>
                <a:spcPts val="0"/>
              </a:spcBef>
            </a:pPr>
            <a:r>
              <a:rPr sz="2800" b="1" i="0">
                <a:solidFill>
                  <a:srgbClr val="0A1628"/>
                </a:solidFill>
                <a:latin typeface="Calibri"/>
              </a:rPr>
              <a:t>Executive Overview: Accenture FY2025 Snapshot</a:t>
            </a:r>
          </a:p>
        </p:txBody>
      </p:sp>
      <p:sp>
        <p:nvSpPr>
          <p:cNvPr id="6" name="TextBox 5"/>
          <p:cNvSpPr txBox="1"/>
          <p:nvPr/>
        </p:nvSpPr>
        <p:spPr>
          <a:xfrm>
            <a:off x="594360" y="914400"/>
            <a:ext cx="10515600" cy="320040"/>
          </a:xfrm>
          <a:prstGeom prst="rect">
            <a:avLst/>
          </a:prstGeom>
          <a:noFill/>
        </p:spPr>
        <p:txBody>
          <a:bodyPr wrap="square" anchor="t" lIns="0" rIns="0" tIns="0" bIns="0">
            <a:noAutofit/>
          </a:bodyPr>
          <a:lstStyle/>
          <a:p>
            <a:pPr algn="l">
              <a:lnSpc>
                <a:spcPct val="105000"/>
              </a:lnSpc>
              <a:spcBef>
                <a:spcPts val="0"/>
              </a:spcBef>
            </a:pPr>
            <a:r>
              <a:rPr sz="1350" b="0" i="1">
                <a:solidFill>
                  <a:srgbClr val="5B6B7C"/>
                </a:solidFill>
                <a:latin typeface="Calibri"/>
              </a:rPr>
              <a:t>The $3B AI bet is paying off — but structural headwinds require a second act</a:t>
            </a:r>
          </a:p>
        </p:txBody>
      </p:sp>
      <p:sp>
        <p:nvSpPr>
          <p:cNvPr id="7" name="Rectangle 6"/>
          <p:cNvSpPr/>
          <p:nvPr/>
        </p:nvSpPr>
        <p:spPr>
          <a:xfrm>
            <a:off x="594360" y="1280160"/>
            <a:ext cx="18288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508760"/>
            <a:ext cx="2651760" cy="100584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00200"/>
            <a:ext cx="2377440" cy="457200"/>
          </a:xfrm>
          <a:prstGeom prst="rect">
            <a:avLst/>
          </a:prstGeom>
          <a:noFill/>
        </p:spPr>
        <p:txBody>
          <a:bodyPr wrap="square" anchor="t" lIns="0" rIns="0" tIns="0" bIns="0">
            <a:noAutofit/>
          </a:bodyPr>
          <a:lstStyle/>
          <a:p>
            <a:pPr algn="l">
              <a:lnSpc>
                <a:spcPct val="105000"/>
              </a:lnSpc>
              <a:spcBef>
                <a:spcPts val="0"/>
              </a:spcBef>
            </a:pPr>
            <a:r>
              <a:rPr sz="2600" b="1" i="0">
                <a:solidFill>
                  <a:srgbClr val="FFB800"/>
                </a:solidFill>
                <a:latin typeface="Calibri"/>
              </a:rPr>
              <a:t>$69.7B</a:t>
            </a:r>
          </a:p>
        </p:txBody>
      </p:sp>
      <p:sp>
        <p:nvSpPr>
          <p:cNvPr id="10" name="TextBox 9"/>
          <p:cNvSpPr txBox="1"/>
          <p:nvPr/>
        </p:nvSpPr>
        <p:spPr>
          <a:xfrm>
            <a:off x="640080" y="2057400"/>
            <a:ext cx="2377440" cy="237744"/>
          </a:xfrm>
          <a:prstGeom prst="rect">
            <a:avLst/>
          </a:prstGeom>
          <a:noFill/>
        </p:spPr>
        <p:txBody>
          <a:bodyPr wrap="square" anchor="t" lIns="0" rIns="0" tIns="0" bIns="0">
            <a:noAutofit/>
          </a:bodyPr>
          <a:lstStyle/>
          <a:p>
            <a:pPr algn="l">
              <a:lnSpc>
                <a:spcPct val="105000"/>
              </a:lnSpc>
              <a:spcBef>
                <a:spcPts val="0"/>
              </a:spcBef>
            </a:pPr>
            <a:r>
              <a:rPr sz="1100" b="0" i="0">
                <a:solidFill>
                  <a:srgbClr val="FFFFFF"/>
                </a:solidFill>
                <a:latin typeface="Calibri"/>
              </a:rPr>
              <a:t>Total Revenue</a:t>
            </a:r>
          </a:p>
        </p:txBody>
      </p:sp>
      <p:sp>
        <p:nvSpPr>
          <p:cNvPr id="11" name="TextBox 10"/>
          <p:cNvSpPr txBox="1"/>
          <p:nvPr/>
        </p:nvSpPr>
        <p:spPr>
          <a:xfrm>
            <a:off x="640080" y="2276856"/>
            <a:ext cx="2377440" cy="18288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+7% YoY</a:t>
            </a:r>
          </a:p>
        </p:txBody>
      </p:sp>
      <p:sp>
        <p:nvSpPr>
          <p:cNvPr id="12" name="Rounded Rectangle 11"/>
          <p:cNvSpPr/>
          <p:nvPr/>
        </p:nvSpPr>
        <p:spPr>
          <a:xfrm>
            <a:off x="3264408" y="1508760"/>
            <a:ext cx="2651760" cy="100584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1600200"/>
            <a:ext cx="2377440" cy="457200"/>
          </a:xfrm>
          <a:prstGeom prst="rect">
            <a:avLst/>
          </a:prstGeom>
          <a:noFill/>
        </p:spPr>
        <p:txBody>
          <a:bodyPr wrap="square" anchor="t" lIns="0" rIns="0" tIns="0" bIns="0">
            <a:noAutofit/>
          </a:bodyPr>
          <a:lstStyle/>
          <a:p>
            <a:pPr algn="l">
              <a:lnSpc>
                <a:spcPct val="105000"/>
              </a:lnSpc>
              <a:spcBef>
                <a:spcPts val="0"/>
              </a:spcBef>
            </a:pPr>
            <a:r>
              <a:rPr sz="2600" b="1" i="0">
                <a:solidFill>
                  <a:srgbClr val="00C9A7"/>
                </a:solidFill>
                <a:latin typeface="Calibri"/>
              </a:rPr>
              <a:t>$2.7B</a:t>
            </a:r>
          </a:p>
        </p:txBody>
      </p:sp>
      <p:sp>
        <p:nvSpPr>
          <p:cNvPr id="14" name="TextBox 13"/>
          <p:cNvSpPr txBox="1"/>
          <p:nvPr/>
        </p:nvSpPr>
        <p:spPr>
          <a:xfrm>
            <a:off x="3401568" y="2057400"/>
            <a:ext cx="2377440" cy="237744"/>
          </a:xfrm>
          <a:prstGeom prst="rect">
            <a:avLst/>
          </a:prstGeom>
          <a:noFill/>
        </p:spPr>
        <p:txBody>
          <a:bodyPr wrap="square" anchor="t" lIns="0" rIns="0" tIns="0" bIns="0">
            <a:noAutofit/>
          </a:bodyPr>
          <a:lstStyle/>
          <a:p>
            <a:pPr algn="l">
              <a:lnSpc>
                <a:spcPct val="105000"/>
              </a:lnSpc>
              <a:spcBef>
                <a:spcPts val="0"/>
              </a:spcBef>
            </a:pPr>
            <a:r>
              <a:rPr sz="1100" b="0" i="0">
                <a:solidFill>
                  <a:srgbClr val="FFFFFF"/>
                </a:solidFill>
                <a:latin typeface="Calibri"/>
              </a:rPr>
              <a:t>GenAI Revenue</a:t>
            </a:r>
          </a:p>
        </p:txBody>
      </p:sp>
      <p:sp>
        <p:nvSpPr>
          <p:cNvPr id="15" name="TextBox 14"/>
          <p:cNvSpPr txBox="1"/>
          <p:nvPr/>
        </p:nvSpPr>
        <p:spPr>
          <a:xfrm>
            <a:off x="3401568" y="2276856"/>
            <a:ext cx="2377440" cy="18288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Tripled FY24→FY25</a:t>
            </a:r>
          </a:p>
        </p:txBody>
      </p:sp>
      <p:sp>
        <p:nvSpPr>
          <p:cNvPr id="16" name="Rounded Rectangle 15"/>
          <p:cNvSpPr/>
          <p:nvPr/>
        </p:nvSpPr>
        <p:spPr>
          <a:xfrm>
            <a:off x="6025896" y="1508760"/>
            <a:ext cx="2651760" cy="100584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3056" y="1600200"/>
            <a:ext cx="2377440" cy="457200"/>
          </a:xfrm>
          <a:prstGeom prst="rect">
            <a:avLst/>
          </a:prstGeom>
          <a:noFill/>
        </p:spPr>
        <p:txBody>
          <a:bodyPr wrap="square" anchor="t" lIns="0" rIns="0" tIns="0" bIns="0">
            <a:noAutofit/>
          </a:bodyPr>
          <a:lstStyle/>
          <a:p>
            <a:pPr algn="l">
              <a:lnSpc>
                <a:spcPct val="105000"/>
              </a:lnSpc>
              <a:spcBef>
                <a:spcPts val="0"/>
              </a:spcBef>
            </a:pPr>
            <a:r>
              <a:rPr sz="2600" b="1" i="0">
                <a:solidFill>
                  <a:srgbClr val="FFB800"/>
                </a:solidFill>
                <a:latin typeface="Calibri"/>
              </a:rPr>
              <a:t>$80.6B</a:t>
            </a:r>
          </a:p>
        </p:txBody>
      </p:sp>
      <p:sp>
        <p:nvSpPr>
          <p:cNvPr id="18" name="TextBox 17"/>
          <p:cNvSpPr txBox="1"/>
          <p:nvPr/>
        </p:nvSpPr>
        <p:spPr>
          <a:xfrm>
            <a:off x="6163056" y="2057400"/>
            <a:ext cx="2377440" cy="237744"/>
          </a:xfrm>
          <a:prstGeom prst="rect">
            <a:avLst/>
          </a:prstGeom>
          <a:noFill/>
        </p:spPr>
        <p:txBody>
          <a:bodyPr wrap="square" anchor="t" lIns="0" rIns="0" tIns="0" bIns="0">
            <a:noAutofit/>
          </a:bodyPr>
          <a:lstStyle/>
          <a:p>
            <a:pPr algn="l">
              <a:lnSpc>
                <a:spcPct val="105000"/>
              </a:lnSpc>
              <a:spcBef>
                <a:spcPts val="0"/>
              </a:spcBef>
            </a:pPr>
            <a:r>
              <a:rPr sz="1100" b="0" i="0">
                <a:solidFill>
                  <a:srgbClr val="FFFFFF"/>
                </a:solidFill>
                <a:latin typeface="Calibri"/>
              </a:rPr>
              <a:t>New Bookings</a:t>
            </a:r>
          </a:p>
        </p:txBody>
      </p:sp>
      <p:sp>
        <p:nvSpPr>
          <p:cNvPr id="19" name="TextBox 18"/>
          <p:cNvSpPr txBox="1"/>
          <p:nvPr/>
        </p:nvSpPr>
        <p:spPr>
          <a:xfrm>
            <a:off x="6163056" y="2276856"/>
            <a:ext cx="2377440" cy="18288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Record year</a:t>
            </a:r>
          </a:p>
        </p:txBody>
      </p:sp>
      <p:sp>
        <p:nvSpPr>
          <p:cNvPr id="20" name="Rounded Rectangle 19"/>
          <p:cNvSpPr/>
          <p:nvPr/>
        </p:nvSpPr>
        <p:spPr>
          <a:xfrm>
            <a:off x="8787384" y="1508760"/>
            <a:ext cx="2651760" cy="100584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24544" y="1600200"/>
            <a:ext cx="2377440" cy="457200"/>
          </a:xfrm>
          <a:prstGeom prst="rect">
            <a:avLst/>
          </a:prstGeom>
          <a:noFill/>
        </p:spPr>
        <p:txBody>
          <a:bodyPr wrap="square" anchor="t" lIns="0" rIns="0" tIns="0" bIns="0">
            <a:noAutofit/>
          </a:bodyPr>
          <a:lstStyle/>
          <a:p>
            <a:pPr algn="l">
              <a:lnSpc>
                <a:spcPct val="105000"/>
              </a:lnSpc>
              <a:spcBef>
                <a:spcPts val="0"/>
              </a:spcBef>
            </a:pPr>
            <a:r>
              <a:rPr sz="2600" b="1" i="0">
                <a:solidFill>
                  <a:srgbClr val="00C9A7"/>
                </a:solidFill>
                <a:latin typeface="Calibri"/>
              </a:rPr>
              <a:t>77,000</a:t>
            </a:r>
          </a:p>
        </p:txBody>
      </p:sp>
      <p:sp>
        <p:nvSpPr>
          <p:cNvPr id="22" name="TextBox 21"/>
          <p:cNvSpPr txBox="1"/>
          <p:nvPr/>
        </p:nvSpPr>
        <p:spPr>
          <a:xfrm>
            <a:off x="8924544" y="2057400"/>
            <a:ext cx="2377440" cy="237744"/>
          </a:xfrm>
          <a:prstGeom prst="rect">
            <a:avLst/>
          </a:prstGeom>
          <a:noFill/>
        </p:spPr>
        <p:txBody>
          <a:bodyPr wrap="square" anchor="t" lIns="0" rIns="0" tIns="0" bIns="0">
            <a:noAutofit/>
          </a:bodyPr>
          <a:lstStyle/>
          <a:p>
            <a:pPr algn="l">
              <a:lnSpc>
                <a:spcPct val="105000"/>
              </a:lnSpc>
              <a:spcBef>
                <a:spcPts val="0"/>
              </a:spcBef>
            </a:pPr>
            <a:r>
              <a:rPr sz="1100" b="0" i="0">
                <a:solidFill>
                  <a:srgbClr val="FFFFFF"/>
                </a:solidFill>
                <a:latin typeface="Calibri"/>
              </a:rPr>
              <a:t>AI Practitioners</a:t>
            </a:r>
          </a:p>
        </p:txBody>
      </p:sp>
      <p:sp>
        <p:nvSpPr>
          <p:cNvPr id="23" name="TextBox 22"/>
          <p:cNvSpPr txBox="1"/>
          <p:nvPr/>
        </p:nvSpPr>
        <p:spPr>
          <a:xfrm>
            <a:off x="8924544" y="2276856"/>
            <a:ext cx="2377440" cy="18288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Target: 80K</a:t>
            </a:r>
          </a:p>
        </p:txBody>
      </p:sp>
      <p:sp>
        <p:nvSpPr>
          <p:cNvPr id="24" name="Rounded Rectangle 23"/>
          <p:cNvSpPr/>
          <p:nvPr/>
        </p:nvSpPr>
        <p:spPr>
          <a:xfrm>
            <a:off x="502920" y="2624328"/>
            <a:ext cx="2651760" cy="100584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2715768"/>
            <a:ext cx="2377440" cy="457200"/>
          </a:xfrm>
          <a:prstGeom prst="rect">
            <a:avLst/>
          </a:prstGeom>
          <a:noFill/>
        </p:spPr>
        <p:txBody>
          <a:bodyPr wrap="square" anchor="t" lIns="0" rIns="0" tIns="0" bIns="0">
            <a:noAutofit/>
          </a:bodyPr>
          <a:lstStyle/>
          <a:p>
            <a:pPr algn="l">
              <a:lnSpc>
                <a:spcPct val="105000"/>
              </a:lnSpc>
              <a:spcBef>
                <a:spcPts val="0"/>
              </a:spcBef>
            </a:pPr>
            <a:r>
              <a:rPr sz="2600" b="1" i="0">
                <a:solidFill>
                  <a:srgbClr val="FFB800"/>
                </a:solidFill>
                <a:latin typeface="Calibri"/>
              </a:rPr>
              <a:t>$5.9B</a:t>
            </a:r>
          </a:p>
        </p:txBody>
      </p:sp>
      <p:sp>
        <p:nvSpPr>
          <p:cNvPr id="26" name="TextBox 25"/>
          <p:cNvSpPr txBox="1"/>
          <p:nvPr/>
        </p:nvSpPr>
        <p:spPr>
          <a:xfrm>
            <a:off x="640080" y="3172968"/>
            <a:ext cx="2377440" cy="237744"/>
          </a:xfrm>
          <a:prstGeom prst="rect">
            <a:avLst/>
          </a:prstGeom>
          <a:noFill/>
        </p:spPr>
        <p:txBody>
          <a:bodyPr wrap="square" anchor="t" lIns="0" rIns="0" tIns="0" bIns="0">
            <a:noAutofit/>
          </a:bodyPr>
          <a:lstStyle/>
          <a:p>
            <a:pPr algn="l">
              <a:lnSpc>
                <a:spcPct val="105000"/>
              </a:lnSpc>
              <a:spcBef>
                <a:spcPts val="0"/>
              </a:spcBef>
            </a:pPr>
            <a:r>
              <a:rPr sz="1100" b="0" i="0">
                <a:solidFill>
                  <a:srgbClr val="FFFFFF"/>
                </a:solidFill>
                <a:latin typeface="Calibri"/>
              </a:rPr>
              <a:t>GenAI Bookings</a:t>
            </a:r>
          </a:p>
        </p:txBody>
      </p:sp>
      <p:sp>
        <p:nvSpPr>
          <p:cNvPr id="27" name="TextBox 26"/>
          <p:cNvSpPr txBox="1"/>
          <p:nvPr/>
        </p:nvSpPr>
        <p:spPr>
          <a:xfrm>
            <a:off x="640080" y="3392424"/>
            <a:ext cx="2377440" cy="18288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Nearly doubled</a:t>
            </a:r>
          </a:p>
        </p:txBody>
      </p:sp>
      <p:sp>
        <p:nvSpPr>
          <p:cNvPr id="28" name="Rounded Rectangle 27"/>
          <p:cNvSpPr/>
          <p:nvPr/>
        </p:nvSpPr>
        <p:spPr>
          <a:xfrm>
            <a:off x="3264408" y="2624328"/>
            <a:ext cx="2651760" cy="100584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01568" y="2715768"/>
            <a:ext cx="2377440" cy="457200"/>
          </a:xfrm>
          <a:prstGeom prst="rect">
            <a:avLst/>
          </a:prstGeom>
          <a:noFill/>
        </p:spPr>
        <p:txBody>
          <a:bodyPr wrap="square" anchor="t" lIns="0" rIns="0" tIns="0" bIns="0">
            <a:noAutofit/>
          </a:bodyPr>
          <a:lstStyle/>
          <a:p>
            <a:pPr algn="l">
              <a:lnSpc>
                <a:spcPct val="105000"/>
              </a:lnSpc>
              <a:spcBef>
                <a:spcPts val="0"/>
              </a:spcBef>
            </a:pPr>
            <a:r>
              <a:rPr sz="2600" b="1" i="0">
                <a:solidFill>
                  <a:srgbClr val="00C9A7"/>
                </a:solidFill>
                <a:latin typeface="Calibri"/>
              </a:rPr>
              <a:t>14.1%</a:t>
            </a:r>
          </a:p>
        </p:txBody>
      </p:sp>
      <p:sp>
        <p:nvSpPr>
          <p:cNvPr id="30" name="TextBox 29"/>
          <p:cNvSpPr txBox="1"/>
          <p:nvPr/>
        </p:nvSpPr>
        <p:spPr>
          <a:xfrm>
            <a:off x="3401568" y="3172968"/>
            <a:ext cx="2377440" cy="237744"/>
          </a:xfrm>
          <a:prstGeom prst="rect">
            <a:avLst/>
          </a:prstGeom>
          <a:noFill/>
        </p:spPr>
        <p:txBody>
          <a:bodyPr wrap="square" anchor="t" lIns="0" rIns="0" tIns="0" bIns="0">
            <a:noAutofit/>
          </a:bodyPr>
          <a:lstStyle/>
          <a:p>
            <a:pPr algn="l">
              <a:lnSpc>
                <a:spcPct val="105000"/>
              </a:lnSpc>
              <a:spcBef>
                <a:spcPts val="0"/>
              </a:spcBef>
            </a:pPr>
            <a:r>
              <a:rPr sz="1100" b="0" i="0">
                <a:solidFill>
                  <a:srgbClr val="FFFFFF"/>
                </a:solidFill>
                <a:latin typeface="Calibri"/>
              </a:rPr>
              <a:t>Consulting Mkt Share</a:t>
            </a:r>
          </a:p>
        </p:txBody>
      </p:sp>
      <p:sp>
        <p:nvSpPr>
          <p:cNvPr id="31" name="TextBox 30"/>
          <p:cNvSpPr txBox="1"/>
          <p:nvPr/>
        </p:nvSpPr>
        <p:spPr>
          <a:xfrm>
            <a:off x="3401568" y="3392424"/>
            <a:ext cx="2377440" cy="18288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#1 by revenue</a:t>
            </a:r>
          </a:p>
        </p:txBody>
      </p:sp>
      <p:sp>
        <p:nvSpPr>
          <p:cNvPr id="32" name="Rounded Rectangle 31"/>
          <p:cNvSpPr/>
          <p:nvPr/>
        </p:nvSpPr>
        <p:spPr>
          <a:xfrm>
            <a:off x="6025896" y="2624328"/>
            <a:ext cx="2651760" cy="100584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63056" y="2715768"/>
            <a:ext cx="2377440" cy="457200"/>
          </a:xfrm>
          <a:prstGeom prst="rect">
            <a:avLst/>
          </a:prstGeom>
          <a:noFill/>
        </p:spPr>
        <p:txBody>
          <a:bodyPr wrap="square" anchor="t" lIns="0" rIns="0" tIns="0" bIns="0">
            <a:noAutofit/>
          </a:bodyPr>
          <a:lstStyle/>
          <a:p>
            <a:pPr algn="l">
              <a:lnSpc>
                <a:spcPct val="105000"/>
              </a:lnSpc>
              <a:spcBef>
                <a:spcPts val="0"/>
              </a:spcBef>
            </a:pPr>
            <a:r>
              <a:rPr sz="2600" b="1" i="0">
                <a:solidFill>
                  <a:srgbClr val="FFB800"/>
                </a:solidFill>
                <a:latin typeface="Calibri"/>
              </a:rPr>
              <a:t>129</a:t>
            </a:r>
          </a:p>
        </p:txBody>
      </p:sp>
      <p:sp>
        <p:nvSpPr>
          <p:cNvPr id="34" name="TextBox 33"/>
          <p:cNvSpPr txBox="1"/>
          <p:nvPr/>
        </p:nvSpPr>
        <p:spPr>
          <a:xfrm>
            <a:off x="6163056" y="3172968"/>
            <a:ext cx="2377440" cy="237744"/>
          </a:xfrm>
          <a:prstGeom prst="rect">
            <a:avLst/>
          </a:prstGeom>
          <a:noFill/>
        </p:spPr>
        <p:txBody>
          <a:bodyPr wrap="square" anchor="t" lIns="0" rIns="0" tIns="0" bIns="0">
            <a:noAutofit/>
          </a:bodyPr>
          <a:lstStyle/>
          <a:p>
            <a:pPr algn="l">
              <a:lnSpc>
                <a:spcPct val="105000"/>
              </a:lnSpc>
              <a:spcBef>
                <a:spcPts val="0"/>
              </a:spcBef>
            </a:pPr>
            <a:r>
              <a:rPr sz="1100" b="0" i="0">
                <a:solidFill>
                  <a:srgbClr val="FFFFFF"/>
                </a:solidFill>
                <a:latin typeface="Calibri"/>
              </a:rPr>
              <a:t>Deals &gt;$100M/qtr</a:t>
            </a:r>
          </a:p>
        </p:txBody>
      </p:sp>
      <p:sp>
        <p:nvSpPr>
          <p:cNvPr id="35" name="TextBox 34"/>
          <p:cNvSpPr txBox="1"/>
          <p:nvPr/>
        </p:nvSpPr>
        <p:spPr>
          <a:xfrm>
            <a:off x="6163056" y="3392424"/>
            <a:ext cx="2377440" cy="18288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Record</a:t>
            </a:r>
          </a:p>
        </p:txBody>
      </p:sp>
      <p:sp>
        <p:nvSpPr>
          <p:cNvPr id="36" name="Rounded Rectangle 35"/>
          <p:cNvSpPr/>
          <p:nvPr/>
        </p:nvSpPr>
        <p:spPr>
          <a:xfrm>
            <a:off x="8787384" y="2624328"/>
            <a:ext cx="2651760" cy="100584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24544" y="2715768"/>
            <a:ext cx="2377440" cy="457200"/>
          </a:xfrm>
          <a:prstGeom prst="rect">
            <a:avLst/>
          </a:prstGeom>
          <a:noFill/>
        </p:spPr>
        <p:txBody>
          <a:bodyPr wrap="square" anchor="t" lIns="0" rIns="0" tIns="0" bIns="0">
            <a:noAutofit/>
          </a:bodyPr>
          <a:lstStyle/>
          <a:p>
            <a:pPr algn="l">
              <a:lnSpc>
                <a:spcPct val="105000"/>
              </a:lnSpc>
              <a:spcBef>
                <a:spcPts val="0"/>
              </a:spcBef>
            </a:pPr>
            <a:r>
              <a:rPr sz="2600" b="1" i="0">
                <a:solidFill>
                  <a:srgbClr val="00C9A7"/>
                </a:solidFill>
                <a:latin typeface="Calibri"/>
              </a:rPr>
              <a:t>$10.9B</a:t>
            </a:r>
          </a:p>
        </p:txBody>
      </p:sp>
      <p:sp>
        <p:nvSpPr>
          <p:cNvPr id="38" name="TextBox 37"/>
          <p:cNvSpPr txBox="1"/>
          <p:nvPr/>
        </p:nvSpPr>
        <p:spPr>
          <a:xfrm>
            <a:off x="8924544" y="3172968"/>
            <a:ext cx="2377440" cy="237744"/>
          </a:xfrm>
          <a:prstGeom prst="rect">
            <a:avLst/>
          </a:prstGeom>
          <a:noFill/>
        </p:spPr>
        <p:txBody>
          <a:bodyPr wrap="square" anchor="t" lIns="0" rIns="0" tIns="0" bIns="0">
            <a:noAutofit/>
          </a:bodyPr>
          <a:lstStyle/>
          <a:p>
            <a:pPr algn="l">
              <a:lnSpc>
                <a:spcPct val="105000"/>
              </a:lnSpc>
              <a:spcBef>
                <a:spcPts val="0"/>
              </a:spcBef>
            </a:pPr>
            <a:r>
              <a:rPr sz="1100" b="0" i="0">
                <a:solidFill>
                  <a:srgbClr val="FFFFFF"/>
                </a:solidFill>
                <a:latin typeface="Calibri"/>
              </a:rPr>
              <a:t>Free Cash Flow</a:t>
            </a:r>
          </a:p>
        </p:txBody>
      </p:sp>
      <p:sp>
        <p:nvSpPr>
          <p:cNvPr id="39" name="TextBox 38"/>
          <p:cNvSpPr txBox="1"/>
          <p:nvPr/>
        </p:nvSpPr>
        <p:spPr>
          <a:xfrm>
            <a:off x="8924544" y="3392424"/>
            <a:ext cx="2377440" cy="182880"/>
          </a:xfrm>
          <a:prstGeom prst="rect">
            <a:avLst/>
          </a:prstGeom>
          <a:noFill/>
        </p:spPr>
        <p:txBody>
          <a:bodyPr wrap="square" anchor="t" lIns="0" rIns="0" tIns="0" bIns="0">
            <a:noAutofit/>
          </a:bodyPr>
          <a:lstStyle/>
          <a:p>
            <a:pPr algn="l">
              <a:lnSpc>
                <a:spcPct val="105000"/>
              </a:lnSpc>
              <a:spcBef>
                <a:spcPts val="0"/>
              </a:spcBef>
            </a:pPr>
            <a:r>
              <a:rPr sz="950" b="0" i="0">
                <a:solidFill>
                  <a:srgbClr val="5B6B7C"/>
                </a:solidFill>
                <a:latin typeface="Calibri"/>
              </a:rPr>
              <a:t>FY2025</a:t>
            </a:r>
          </a:p>
        </p:txBody>
      </p:sp>
      <p:sp>
        <p:nvSpPr>
          <p:cNvPr id="40" name="TextBox 39"/>
          <p:cNvSpPr txBox="1"/>
          <p:nvPr/>
        </p:nvSpPr>
        <p:spPr>
          <a:xfrm>
            <a:off x="594360" y="6035040"/>
            <a:ext cx="11064240" cy="274320"/>
          </a:xfrm>
          <a:prstGeom prst="rect">
            <a:avLst/>
          </a:prstGeom>
          <a:noFill/>
        </p:spPr>
        <p:txBody>
          <a:bodyPr wrap="square" anchor="t" lIns="0" rIns="0" tIns="0" bIns="0">
            <a:noAutofit/>
          </a:bodyPr>
          <a:lstStyle/>
          <a:p>
            <a:pPr algn="l">
              <a:lnSpc>
                <a:spcPct val="105000"/>
              </a:lnSpc>
              <a:spcBef>
                <a:spcPts val="0"/>
              </a:spcBef>
            </a:pPr>
            <a:r>
              <a:rPr sz="1050" b="0" i="0">
                <a:solidFill>
                  <a:srgbClr val="5B6B7C"/>
                </a:solidFill>
                <a:latin typeface="Calibri"/>
              </a:rPr>
              <a:t>FY2026 Guidance: 2–5% growth  ·  Adj. EPS +5–8%  ·  $9.3B+ to shareholders  |  GitHub: 223 repos, AI Refinery SDK v1.31.3 (active), mcp-bench @ NeurIPS 2025</a:t>
            </a:r>
          </a:p>
        </p:txBody>
      </p:sp>
      <p:sp>
        <p:nvSpPr>
          <p:cNvPr id="41" name="TextBox 4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42" name="TextBox 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1: DIAGNOSIS &amp; FRAMING  ·  SITUATION ASSESSMENT</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Accenture Enters FY2026 From Strength But Faces a Structural Transition</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Revenue grew 7% to $69.7B in FY2025 — the $3B GenAI bet is working. But FY2026 guidance of 2–5% reflects a deliberate pause: US federal headwinds, macro softness, and a market asking whether AI advisory fees will be commoditized.</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GenAI revenue tripled to $2.7B; bookings of $5.9B build a 2-year forward pipeline</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US federal exposure creates a 1–1.5% drag on FY2026 growth — manageable but visible</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Premium perception gap vs MBB limits pricing power on pure strategy mandates</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'Reinvention partner' positioning is gaining traction: 129 deals &gt;$100M per quarter</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Source: Accenture FY2025 Annual Report, 10-K (Sept 2025)</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2984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Area</a:t>
            </a:r>
          </a:p>
        </p:txBody>
      </p:sp>
      <p:sp>
        <p:nvSpPr>
          <p:cNvPr id="26" name="TextBox 25"/>
          <p:cNvSpPr txBox="1"/>
          <p:nvPr/>
        </p:nvSpPr>
        <p:spPr>
          <a:xfrm>
            <a:off x="6958584" y="1664208"/>
            <a:ext cx="17556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Evidence</a:t>
            </a:r>
          </a:p>
        </p:txBody>
      </p:sp>
      <p:sp>
        <p:nvSpPr>
          <p:cNvPr id="27" name="TextBox 26"/>
          <p:cNvSpPr txBox="1"/>
          <p:nvPr/>
        </p:nvSpPr>
        <p:spPr>
          <a:xfrm>
            <a:off x="8787384" y="1664208"/>
            <a:ext cx="19385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Interpretation</a:t>
            </a:r>
          </a:p>
        </p:txBody>
      </p:sp>
      <p:sp>
        <p:nvSpPr>
          <p:cNvPr id="28" name="TextBox 27"/>
          <p:cNvSpPr txBox="1"/>
          <p:nvPr/>
        </p:nvSpPr>
        <p:spPr>
          <a:xfrm>
            <a:off x="10799064" y="1664208"/>
            <a:ext cx="10698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Confidence</a:t>
            </a:r>
          </a:p>
        </p:txBody>
      </p:sp>
      <p:sp>
        <p:nvSpPr>
          <p:cNvPr id="29" name="Rectangle 28"/>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6984" y="1956816"/>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Financial</a:t>
            </a:r>
          </a:p>
        </p:txBody>
      </p:sp>
      <p:sp>
        <p:nvSpPr>
          <p:cNvPr id="31" name="TextBox 30"/>
          <p:cNvSpPr txBox="1"/>
          <p:nvPr/>
        </p:nvSpPr>
        <p:spPr>
          <a:xfrm>
            <a:off x="6958584" y="1956816"/>
            <a:ext cx="17556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$69.7B, +7% FY2025</a:t>
            </a:r>
          </a:p>
        </p:txBody>
      </p:sp>
      <p:sp>
        <p:nvSpPr>
          <p:cNvPr id="32" name="TextBox 31"/>
          <p:cNvSpPr txBox="1"/>
          <p:nvPr/>
        </p:nvSpPr>
        <p:spPr>
          <a:xfrm>
            <a:off x="8787384" y="1956816"/>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tailwind offsetting macro softness</a:t>
            </a:r>
          </a:p>
        </p:txBody>
      </p:sp>
      <p:sp>
        <p:nvSpPr>
          <p:cNvPr id="33" name="TextBox 32"/>
          <p:cNvSpPr txBox="1"/>
          <p:nvPr/>
        </p:nvSpPr>
        <p:spPr>
          <a:xfrm>
            <a:off x="10799064" y="1956816"/>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Position</a:t>
            </a:r>
          </a:p>
        </p:txBody>
      </p:sp>
      <p:sp>
        <p:nvSpPr>
          <p:cNvPr id="36" name="TextBox 35"/>
          <p:cNvSpPr txBox="1"/>
          <p:nvPr/>
        </p:nvSpPr>
        <p:spPr>
          <a:xfrm>
            <a:off x="6958584" y="2249424"/>
            <a:ext cx="17556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$2.7B GenAI, tripled</a:t>
            </a:r>
          </a:p>
        </p:txBody>
      </p:sp>
      <p:sp>
        <p:nvSpPr>
          <p:cNvPr id="37" name="TextBox 36"/>
          <p:cNvSpPr txBox="1"/>
          <p:nvPr/>
        </p:nvSpPr>
        <p:spPr>
          <a:xfrm>
            <a:off x="8787384" y="2249424"/>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First-mover advantage holding</a:t>
            </a:r>
          </a:p>
        </p:txBody>
      </p:sp>
      <p:sp>
        <p:nvSpPr>
          <p:cNvPr id="38" name="TextBox 37"/>
          <p:cNvSpPr txBox="1"/>
          <p:nvPr/>
        </p:nvSpPr>
        <p:spPr>
          <a:xfrm>
            <a:off x="10799064" y="2249424"/>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39" name="Rectangle 38"/>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86984" y="2542032"/>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Market Share</a:t>
            </a:r>
          </a:p>
        </p:txBody>
      </p:sp>
      <p:sp>
        <p:nvSpPr>
          <p:cNvPr id="41" name="TextBox 40"/>
          <p:cNvSpPr txBox="1"/>
          <p:nvPr/>
        </p:nvSpPr>
        <p:spPr>
          <a:xfrm>
            <a:off x="6958584" y="2542032"/>
            <a:ext cx="17556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14.1% consulting</a:t>
            </a:r>
          </a:p>
        </p:txBody>
      </p:sp>
      <p:sp>
        <p:nvSpPr>
          <p:cNvPr id="42" name="TextBox 41"/>
          <p:cNvSpPr txBox="1"/>
          <p:nvPr/>
        </p:nvSpPr>
        <p:spPr>
          <a:xfrm>
            <a:off x="8787384" y="2542032"/>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Scale leader, premium gap vs MBB</a:t>
            </a:r>
          </a:p>
        </p:txBody>
      </p:sp>
      <p:sp>
        <p:nvSpPr>
          <p:cNvPr id="43" name="TextBox 42"/>
          <p:cNvSpPr txBox="1"/>
          <p:nvPr/>
        </p:nvSpPr>
        <p:spPr>
          <a:xfrm>
            <a:off x="10799064" y="2542032"/>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4" name="Rectangle 43"/>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86984" y="2834640"/>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Risk</a:t>
            </a:r>
          </a:p>
        </p:txBody>
      </p:sp>
      <p:sp>
        <p:nvSpPr>
          <p:cNvPr id="46" name="TextBox 45"/>
          <p:cNvSpPr txBox="1"/>
          <p:nvPr/>
        </p:nvSpPr>
        <p:spPr>
          <a:xfrm>
            <a:off x="6958584" y="2834640"/>
            <a:ext cx="17556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US federal -1–1.5% FY2026</a:t>
            </a:r>
          </a:p>
        </p:txBody>
      </p:sp>
      <p:sp>
        <p:nvSpPr>
          <p:cNvPr id="47" name="TextBox 46"/>
          <p:cNvSpPr txBox="1"/>
          <p:nvPr/>
        </p:nvSpPr>
        <p:spPr>
          <a:xfrm>
            <a:off x="8787384" y="2834640"/>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Near-term drag, diversifiable</a:t>
            </a:r>
          </a:p>
        </p:txBody>
      </p:sp>
      <p:sp>
        <p:nvSpPr>
          <p:cNvPr id="48" name="TextBox 47"/>
          <p:cNvSpPr txBox="1"/>
          <p:nvPr/>
        </p:nvSpPr>
        <p:spPr>
          <a:xfrm>
            <a:off x="10799064" y="2834640"/>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49" name="Rectangle 48"/>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86984" y="3127248"/>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Talent</a:t>
            </a:r>
          </a:p>
        </p:txBody>
      </p:sp>
      <p:sp>
        <p:nvSpPr>
          <p:cNvPr id="51" name="TextBox 50"/>
          <p:cNvSpPr txBox="1"/>
          <p:nvPr/>
        </p:nvSpPr>
        <p:spPr>
          <a:xfrm>
            <a:off x="6958584" y="3127248"/>
            <a:ext cx="17556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77K AI practitioners</a:t>
            </a:r>
          </a:p>
        </p:txBody>
      </p:sp>
      <p:sp>
        <p:nvSpPr>
          <p:cNvPr id="52" name="TextBox 51"/>
          <p:cNvSpPr txBox="1"/>
          <p:nvPr/>
        </p:nvSpPr>
        <p:spPr>
          <a:xfrm>
            <a:off x="8787384" y="3127248"/>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On track to 80K target</a:t>
            </a:r>
          </a:p>
        </p:txBody>
      </p:sp>
      <p:sp>
        <p:nvSpPr>
          <p:cNvPr id="53" name="TextBox 52"/>
          <p:cNvSpPr txBox="1"/>
          <p:nvPr/>
        </p:nvSpPr>
        <p:spPr>
          <a:xfrm>
            <a:off x="10799064" y="3127248"/>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54" name="TextBox 5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5" name="TextBox 5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1: DIAGNOSIS &amp; FRAMING  ·  GROWTH BARRIERS</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Growth Is Decelerating From 7% to 2–5% — Three Binding Constraints Identified</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FY2026 guidance of 2–5% vs FY2025's 7% reflects external constraints rather than capability failure. The binding constraint is not AI demand (bookings are strong) but federal budget freezes, macro spend compression, and an emerging pricing floor on traditional T&amp;M work.</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US federal freeze: $3–5B exposure, 1–1.5% revenue headwind in FY2026</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T&amp;M pricing pressure: boutique AI firms offering comparable work at 40–60% of day rates</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Client budget reallocation from transformation to AI ROI verification (pause-and-measure phase)</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GenAI bookings ($5.9B) signal demand but 12–18 month conversion lag suppresses near-term revenue</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Binding constraint: external headwinds + pricing floor on traditional work — not capability</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5727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Growth Driver</a:t>
            </a:r>
          </a:p>
        </p:txBody>
      </p:sp>
      <p:sp>
        <p:nvSpPr>
          <p:cNvPr id="26" name="TextBox 25"/>
          <p:cNvSpPr txBox="1"/>
          <p:nvPr/>
        </p:nvSpPr>
        <p:spPr>
          <a:xfrm>
            <a:off x="7232904" y="1664208"/>
            <a:ext cx="13898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FY2025 Status</a:t>
            </a:r>
          </a:p>
        </p:txBody>
      </p:sp>
      <p:sp>
        <p:nvSpPr>
          <p:cNvPr id="27" name="TextBox 26"/>
          <p:cNvSpPr txBox="1"/>
          <p:nvPr/>
        </p:nvSpPr>
        <p:spPr>
          <a:xfrm>
            <a:off x="8695944" y="1664208"/>
            <a:ext cx="15727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FY2026 Risk</a:t>
            </a:r>
          </a:p>
        </p:txBody>
      </p:sp>
      <p:sp>
        <p:nvSpPr>
          <p:cNvPr id="28" name="TextBox 27"/>
          <p:cNvSpPr txBox="1"/>
          <p:nvPr/>
        </p:nvSpPr>
        <p:spPr>
          <a:xfrm>
            <a:off x="10341864" y="1664208"/>
            <a:ext cx="15270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Constraint Type</a:t>
            </a:r>
          </a:p>
        </p:txBody>
      </p:sp>
      <p:sp>
        <p:nvSpPr>
          <p:cNvPr id="29" name="Rectangle 28"/>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6984" y="1956816"/>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advisory</a:t>
            </a:r>
          </a:p>
        </p:txBody>
      </p:sp>
      <p:sp>
        <p:nvSpPr>
          <p:cNvPr id="31" name="TextBox 30"/>
          <p:cNvSpPr txBox="1"/>
          <p:nvPr/>
        </p:nvSpPr>
        <p:spPr>
          <a:xfrm>
            <a:off x="7232904" y="1956816"/>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$2.7B, +200%</a:t>
            </a:r>
          </a:p>
        </p:txBody>
      </p:sp>
      <p:sp>
        <p:nvSpPr>
          <p:cNvPr id="32" name="TextBox 31"/>
          <p:cNvSpPr txBox="1"/>
          <p:nvPr/>
        </p:nvSpPr>
        <p:spPr>
          <a:xfrm>
            <a:off x="8695944" y="1956816"/>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Sustaining</a:t>
            </a:r>
          </a:p>
        </p:txBody>
      </p:sp>
      <p:sp>
        <p:nvSpPr>
          <p:cNvPr id="33" name="TextBox 32"/>
          <p:cNvSpPr txBox="1"/>
          <p:nvPr/>
        </p:nvSpPr>
        <p:spPr>
          <a:xfrm>
            <a:off x="10341864" y="1956816"/>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Opportunity</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Technology impl.</a:t>
            </a:r>
          </a:p>
        </p:txBody>
      </p:sp>
      <p:sp>
        <p:nvSpPr>
          <p:cNvPr id="36" name="TextBox 35"/>
          <p:cNvSpPr txBox="1"/>
          <p:nvPr/>
        </p:nvSpPr>
        <p:spPr>
          <a:xfrm>
            <a:off x="7232904" y="2249424"/>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~$30B, +6%</a:t>
            </a:r>
          </a:p>
        </p:txBody>
      </p:sp>
      <p:sp>
        <p:nvSpPr>
          <p:cNvPr id="37" name="TextBox 36"/>
          <p:cNvSpPr txBox="1"/>
          <p:nvPr/>
        </p:nvSpPr>
        <p:spPr>
          <a:xfrm>
            <a:off x="8695944" y="2249424"/>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Moderate</a:t>
            </a:r>
          </a:p>
        </p:txBody>
      </p:sp>
      <p:sp>
        <p:nvSpPr>
          <p:cNvPr id="38" name="TextBox 37"/>
          <p:cNvSpPr txBox="1"/>
          <p:nvPr/>
        </p:nvSpPr>
        <p:spPr>
          <a:xfrm>
            <a:off x="10341864" y="2249424"/>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Competition</a:t>
            </a:r>
          </a:p>
        </p:txBody>
      </p:sp>
      <p:sp>
        <p:nvSpPr>
          <p:cNvPr id="39" name="Rectangle 38"/>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86984" y="2542032"/>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US Federal</a:t>
            </a:r>
          </a:p>
        </p:txBody>
      </p:sp>
      <p:sp>
        <p:nvSpPr>
          <p:cNvPr id="41" name="TextBox 40"/>
          <p:cNvSpPr txBox="1"/>
          <p:nvPr/>
        </p:nvSpPr>
        <p:spPr>
          <a:xfrm>
            <a:off x="7232904" y="2542032"/>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~$4B, stable</a:t>
            </a:r>
          </a:p>
        </p:txBody>
      </p:sp>
      <p:sp>
        <p:nvSpPr>
          <p:cNvPr id="42" name="TextBox 41"/>
          <p:cNvSpPr txBox="1"/>
          <p:nvPr/>
        </p:nvSpPr>
        <p:spPr>
          <a:xfrm>
            <a:off x="8695944" y="2542032"/>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Freeze risk</a:t>
            </a:r>
          </a:p>
        </p:txBody>
      </p:sp>
      <p:sp>
        <p:nvSpPr>
          <p:cNvPr id="43" name="TextBox 42"/>
          <p:cNvSpPr txBox="1"/>
          <p:nvPr/>
        </p:nvSpPr>
        <p:spPr>
          <a:xfrm>
            <a:off x="10341864" y="2542032"/>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External</a:t>
            </a:r>
          </a:p>
        </p:txBody>
      </p:sp>
      <p:sp>
        <p:nvSpPr>
          <p:cNvPr id="44" name="Rectangle 43"/>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86984" y="2834640"/>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Operations</a:t>
            </a:r>
          </a:p>
        </p:txBody>
      </p:sp>
      <p:sp>
        <p:nvSpPr>
          <p:cNvPr id="46" name="TextBox 45"/>
          <p:cNvSpPr txBox="1"/>
          <p:nvPr/>
        </p:nvSpPr>
        <p:spPr>
          <a:xfrm>
            <a:off x="7232904" y="2834640"/>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~$15B, +3%</a:t>
            </a:r>
          </a:p>
        </p:txBody>
      </p:sp>
      <p:sp>
        <p:nvSpPr>
          <p:cNvPr id="47" name="TextBox 46"/>
          <p:cNvSpPr txBox="1"/>
          <p:nvPr/>
        </p:nvSpPr>
        <p:spPr>
          <a:xfrm>
            <a:off x="8695944" y="2834640"/>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displacement</a:t>
            </a:r>
          </a:p>
        </p:txBody>
      </p:sp>
      <p:sp>
        <p:nvSpPr>
          <p:cNvPr id="48" name="TextBox 47"/>
          <p:cNvSpPr txBox="1"/>
          <p:nvPr/>
        </p:nvSpPr>
        <p:spPr>
          <a:xfrm>
            <a:off x="10341864" y="2834640"/>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Structural</a:t>
            </a:r>
          </a:p>
        </p:txBody>
      </p:sp>
      <p:sp>
        <p:nvSpPr>
          <p:cNvPr id="49" name="Rectangle 48"/>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86984" y="3127248"/>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Strategy (pure)</a:t>
            </a:r>
          </a:p>
        </p:txBody>
      </p:sp>
      <p:sp>
        <p:nvSpPr>
          <p:cNvPr id="51" name="TextBox 50"/>
          <p:cNvSpPr txBox="1"/>
          <p:nvPr/>
        </p:nvSpPr>
        <p:spPr>
          <a:xfrm>
            <a:off x="7232904" y="3127248"/>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~$8B, flat</a:t>
            </a:r>
          </a:p>
        </p:txBody>
      </p:sp>
      <p:sp>
        <p:nvSpPr>
          <p:cNvPr id="52" name="TextBox 51"/>
          <p:cNvSpPr txBox="1"/>
          <p:nvPr/>
        </p:nvSpPr>
        <p:spPr>
          <a:xfrm>
            <a:off x="8695944" y="3127248"/>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MBB pricing gap</a:t>
            </a:r>
          </a:p>
        </p:txBody>
      </p:sp>
      <p:sp>
        <p:nvSpPr>
          <p:cNvPr id="53" name="TextBox 52"/>
          <p:cNvSpPr txBox="1"/>
          <p:nvPr/>
        </p:nvSpPr>
        <p:spPr>
          <a:xfrm>
            <a:off x="10341864" y="3127248"/>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Structural</a:t>
            </a:r>
          </a:p>
        </p:txBody>
      </p:sp>
      <p:sp>
        <p:nvSpPr>
          <p:cNvPr id="54" name="TextBox 5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5" name="TextBox 5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1: DIAGNOSIS &amp; FRAMING  ·  ASSUMPTION AUDIT</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Three Load-Bearing Assumptions Underpin Accenture's 'Reinvention Partner' Strategy</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The $3B GenAI bet rests on assumptions that are proving out — but two remain inadequately tested as of FY2026: whether AI advisory is defensible against OpenAI direct-to-enterprise, and whether outcome-based pricing can scale.</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PROVEN: GenAI demand is real — $5.9B in bookings and tripled revenue validate the market</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AT RISK: Defensibility vs OpenAI's Feb 2026 Frontier Alliance embeds AI vendors inside client teams</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UNPROVEN: Outcome-based pricing at scale — still &lt;10% of Accenture contracts</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CRITICAL: The 77K practitioner advantage is temporary — MBB and boutiques are closing the gap</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Recommended test: pilot 3 outcome-based GenAI contracts by Q1 FY2026 with defined ROI gates</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21214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Assumption</a:t>
            </a:r>
          </a:p>
        </p:txBody>
      </p:sp>
      <p:sp>
        <p:nvSpPr>
          <p:cNvPr id="26" name="TextBox 25"/>
          <p:cNvSpPr txBox="1"/>
          <p:nvPr/>
        </p:nvSpPr>
        <p:spPr>
          <a:xfrm>
            <a:off x="7781544" y="1664208"/>
            <a:ext cx="11155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Importance</a:t>
            </a:r>
          </a:p>
        </p:txBody>
      </p:sp>
      <p:sp>
        <p:nvSpPr>
          <p:cNvPr id="27" name="TextBox 26"/>
          <p:cNvSpPr txBox="1"/>
          <p:nvPr/>
        </p:nvSpPr>
        <p:spPr>
          <a:xfrm>
            <a:off x="8970264" y="1664208"/>
            <a:ext cx="15727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Evidence Strength</a:t>
            </a:r>
          </a:p>
        </p:txBody>
      </p:sp>
      <p:sp>
        <p:nvSpPr>
          <p:cNvPr id="28" name="TextBox 27"/>
          <p:cNvSpPr txBox="1"/>
          <p:nvPr/>
        </p:nvSpPr>
        <p:spPr>
          <a:xfrm>
            <a:off x="10616184" y="1664208"/>
            <a:ext cx="12527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Risk Level</a:t>
            </a:r>
          </a:p>
        </p:txBody>
      </p:sp>
      <p:sp>
        <p:nvSpPr>
          <p:cNvPr id="29" name="Rectangle 28"/>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6984" y="1956816"/>
            <a:ext cx="2121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demand sustains at scale</a:t>
            </a:r>
          </a:p>
        </p:txBody>
      </p:sp>
      <p:sp>
        <p:nvSpPr>
          <p:cNvPr id="31" name="TextBox 30"/>
          <p:cNvSpPr txBox="1"/>
          <p:nvPr/>
        </p:nvSpPr>
        <p:spPr>
          <a:xfrm>
            <a:off x="7781544" y="1956816"/>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Critical</a:t>
            </a:r>
          </a:p>
        </p:txBody>
      </p:sp>
      <p:sp>
        <p:nvSpPr>
          <p:cNvPr id="32" name="TextBox 31"/>
          <p:cNvSpPr txBox="1"/>
          <p:nvPr/>
        </p:nvSpPr>
        <p:spPr>
          <a:xfrm>
            <a:off x="8970264" y="1956816"/>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Strong (bookings)</a:t>
            </a:r>
          </a:p>
        </p:txBody>
      </p:sp>
      <p:sp>
        <p:nvSpPr>
          <p:cNvPr id="33" name="TextBox 32"/>
          <p:cNvSpPr txBox="1"/>
          <p:nvPr/>
        </p:nvSpPr>
        <p:spPr>
          <a:xfrm>
            <a:off x="10616184" y="1956816"/>
            <a:ext cx="12527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Low</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2121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$3B investment creates IP moat</a:t>
            </a:r>
          </a:p>
        </p:txBody>
      </p:sp>
      <p:sp>
        <p:nvSpPr>
          <p:cNvPr id="36" name="TextBox 35"/>
          <p:cNvSpPr txBox="1"/>
          <p:nvPr/>
        </p:nvSpPr>
        <p:spPr>
          <a:xfrm>
            <a:off x="7781544" y="2249424"/>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Critical</a:t>
            </a:r>
          </a:p>
        </p:txBody>
      </p:sp>
      <p:sp>
        <p:nvSpPr>
          <p:cNvPr id="37" name="TextBox 36"/>
          <p:cNvSpPr txBox="1"/>
          <p:nvPr/>
        </p:nvSpPr>
        <p:spPr>
          <a:xfrm>
            <a:off x="8970264" y="2249424"/>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Moderate (GenWizard)</a:t>
            </a:r>
          </a:p>
        </p:txBody>
      </p:sp>
      <p:sp>
        <p:nvSpPr>
          <p:cNvPr id="38" name="TextBox 37"/>
          <p:cNvSpPr txBox="1"/>
          <p:nvPr/>
        </p:nvSpPr>
        <p:spPr>
          <a:xfrm>
            <a:off x="10616184" y="2249424"/>
            <a:ext cx="12527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39" name="Rectangle 38"/>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86984" y="2542032"/>
            <a:ext cx="2121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OpenAI stays a partner not rival</a:t>
            </a:r>
          </a:p>
        </p:txBody>
      </p:sp>
      <p:sp>
        <p:nvSpPr>
          <p:cNvPr id="41" name="TextBox 40"/>
          <p:cNvSpPr txBox="1"/>
          <p:nvPr/>
        </p:nvSpPr>
        <p:spPr>
          <a:xfrm>
            <a:off x="7781544" y="2542032"/>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2" name="TextBox 41"/>
          <p:cNvSpPr txBox="1"/>
          <p:nvPr/>
        </p:nvSpPr>
        <p:spPr>
          <a:xfrm>
            <a:off x="8970264" y="2542032"/>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Weak (Frontier Alliance)</a:t>
            </a:r>
          </a:p>
        </p:txBody>
      </p:sp>
      <p:sp>
        <p:nvSpPr>
          <p:cNvPr id="43" name="TextBox 42"/>
          <p:cNvSpPr txBox="1"/>
          <p:nvPr/>
        </p:nvSpPr>
        <p:spPr>
          <a:xfrm>
            <a:off x="10616184" y="2542032"/>
            <a:ext cx="12527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4" name="Rectangle 43"/>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86984" y="2834640"/>
            <a:ext cx="2121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 pricing scales beyond pilots</a:t>
            </a:r>
          </a:p>
        </p:txBody>
      </p:sp>
      <p:sp>
        <p:nvSpPr>
          <p:cNvPr id="46" name="TextBox 45"/>
          <p:cNvSpPr txBox="1"/>
          <p:nvPr/>
        </p:nvSpPr>
        <p:spPr>
          <a:xfrm>
            <a:off x="7781544" y="2834640"/>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7" name="TextBox 46"/>
          <p:cNvSpPr txBox="1"/>
          <p:nvPr/>
        </p:nvSpPr>
        <p:spPr>
          <a:xfrm>
            <a:off x="8970264" y="2834640"/>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Weak (&lt;10% deals)</a:t>
            </a:r>
          </a:p>
        </p:txBody>
      </p:sp>
      <p:sp>
        <p:nvSpPr>
          <p:cNvPr id="48" name="TextBox 47"/>
          <p:cNvSpPr txBox="1"/>
          <p:nvPr/>
        </p:nvSpPr>
        <p:spPr>
          <a:xfrm>
            <a:off x="10616184" y="2834640"/>
            <a:ext cx="12527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9" name="Rectangle 48"/>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86984" y="3127248"/>
            <a:ext cx="2121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MBB can't build delivery at scale</a:t>
            </a:r>
          </a:p>
        </p:txBody>
      </p:sp>
      <p:sp>
        <p:nvSpPr>
          <p:cNvPr id="51" name="TextBox 50"/>
          <p:cNvSpPr txBox="1"/>
          <p:nvPr/>
        </p:nvSpPr>
        <p:spPr>
          <a:xfrm>
            <a:off x="7781544" y="3127248"/>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52" name="TextBox 51"/>
          <p:cNvSpPr txBox="1"/>
          <p:nvPr/>
        </p:nvSpPr>
        <p:spPr>
          <a:xfrm>
            <a:off x="8970264" y="3127248"/>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Weakening (BCG X)</a:t>
            </a:r>
          </a:p>
        </p:txBody>
      </p:sp>
      <p:sp>
        <p:nvSpPr>
          <p:cNvPr id="53" name="TextBox 52"/>
          <p:cNvSpPr txBox="1"/>
          <p:nvPr/>
        </p:nvSpPr>
        <p:spPr>
          <a:xfrm>
            <a:off x="10616184" y="3127248"/>
            <a:ext cx="12527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54" name="TextBox 5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5" name="TextBox 5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2: MARKET &amp; COMPETITIVE INTEL  ·  MARKET MAPPING</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The $350B Consulting Market Is Bifurcating — GenAI Advisory Is the Only High-Growth Segment</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The global management consulting market hit $350B+ in 2025. Traditional implementation and operations are growing 3–5%; GenAI advisory is the outlier at 60%+ growth. Accenture has a 14.1% share overall and is best-positioned in the highest-growth segment.</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Total market: $350B+ (2025), GenAI advisory fastest-growing at $15B → $150B by 2030</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Accenture's strongest position: tech transformation ($120B segment, #1 by revenue)</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White space: mid-market AI transformation — MBB too expensive, boutiques too narrow</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Threat zone: pure strategy advisory ($40B) — MBB holds structural premium, Accenture under-indexed</a:t>
            </a:r>
          </a:p>
        </p:txBody>
      </p:sp>
      <p:sp>
        <p:nvSpPr>
          <p:cNvPr id="20" name="TextBox 19"/>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1" name="Rectangle 20"/>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4" y="1664208"/>
            <a:ext cx="15727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Segment</a:t>
            </a:r>
          </a:p>
        </p:txBody>
      </p:sp>
      <p:sp>
        <p:nvSpPr>
          <p:cNvPr id="24" name="TextBox 23"/>
          <p:cNvSpPr txBox="1"/>
          <p:nvPr/>
        </p:nvSpPr>
        <p:spPr>
          <a:xfrm>
            <a:off x="7232904" y="1664208"/>
            <a:ext cx="9326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Size (2025)</a:t>
            </a:r>
          </a:p>
        </p:txBody>
      </p:sp>
      <p:sp>
        <p:nvSpPr>
          <p:cNvPr id="25" name="TextBox 24"/>
          <p:cNvSpPr txBox="1"/>
          <p:nvPr/>
        </p:nvSpPr>
        <p:spPr>
          <a:xfrm>
            <a:off x="8238744" y="1664208"/>
            <a:ext cx="7040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Growth</a:t>
            </a:r>
          </a:p>
        </p:txBody>
      </p:sp>
      <p:sp>
        <p:nvSpPr>
          <p:cNvPr id="26" name="TextBox 25"/>
          <p:cNvSpPr txBox="1"/>
          <p:nvPr/>
        </p:nvSpPr>
        <p:spPr>
          <a:xfrm>
            <a:off x="9015984" y="1664208"/>
            <a:ext cx="14813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Accenture Position</a:t>
            </a:r>
          </a:p>
        </p:txBody>
      </p:sp>
      <p:sp>
        <p:nvSpPr>
          <p:cNvPr id="27" name="TextBox 26"/>
          <p:cNvSpPr txBox="1"/>
          <p:nvPr/>
        </p:nvSpPr>
        <p:spPr>
          <a:xfrm>
            <a:off x="10570464" y="1664208"/>
            <a:ext cx="12984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Attractiveness</a:t>
            </a:r>
          </a:p>
        </p:txBody>
      </p:sp>
      <p:sp>
        <p:nvSpPr>
          <p:cNvPr id="28" name="Rectangle 27"/>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86984" y="1956816"/>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advisory</a:t>
            </a:r>
          </a:p>
        </p:txBody>
      </p:sp>
      <p:sp>
        <p:nvSpPr>
          <p:cNvPr id="30" name="TextBox 29"/>
          <p:cNvSpPr txBox="1"/>
          <p:nvPr/>
        </p:nvSpPr>
        <p:spPr>
          <a:xfrm>
            <a:off x="7232904" y="1956816"/>
            <a:ext cx="932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$15B</a:t>
            </a:r>
          </a:p>
        </p:txBody>
      </p:sp>
      <p:sp>
        <p:nvSpPr>
          <p:cNvPr id="31" name="TextBox 30"/>
          <p:cNvSpPr txBox="1"/>
          <p:nvPr/>
        </p:nvSpPr>
        <p:spPr>
          <a:xfrm>
            <a:off x="8238744" y="1956816"/>
            <a:ext cx="704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60%+</a:t>
            </a:r>
          </a:p>
        </p:txBody>
      </p:sp>
      <p:sp>
        <p:nvSpPr>
          <p:cNvPr id="32" name="TextBox 31"/>
          <p:cNvSpPr txBox="1"/>
          <p:nvPr/>
        </p:nvSpPr>
        <p:spPr>
          <a:xfrm>
            <a:off x="9015984" y="1956816"/>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First mover, $2.7B</a:t>
            </a:r>
          </a:p>
        </p:txBody>
      </p:sp>
      <p:sp>
        <p:nvSpPr>
          <p:cNvPr id="33" name="TextBox 32"/>
          <p:cNvSpPr txBox="1"/>
          <p:nvPr/>
        </p:nvSpPr>
        <p:spPr>
          <a:xfrm>
            <a:off x="10570464" y="1956816"/>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Very High</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Tech transformation</a:t>
            </a:r>
          </a:p>
        </p:txBody>
      </p:sp>
      <p:sp>
        <p:nvSpPr>
          <p:cNvPr id="36" name="TextBox 35"/>
          <p:cNvSpPr txBox="1"/>
          <p:nvPr/>
        </p:nvSpPr>
        <p:spPr>
          <a:xfrm>
            <a:off x="7232904" y="2249424"/>
            <a:ext cx="932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$120B</a:t>
            </a:r>
          </a:p>
        </p:txBody>
      </p:sp>
      <p:sp>
        <p:nvSpPr>
          <p:cNvPr id="37" name="TextBox 36"/>
          <p:cNvSpPr txBox="1"/>
          <p:nvPr/>
        </p:nvSpPr>
        <p:spPr>
          <a:xfrm>
            <a:off x="8238744" y="2249424"/>
            <a:ext cx="704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10–12%</a:t>
            </a:r>
          </a:p>
        </p:txBody>
      </p:sp>
      <p:sp>
        <p:nvSpPr>
          <p:cNvPr id="38" name="TextBox 37"/>
          <p:cNvSpPr txBox="1"/>
          <p:nvPr/>
        </p:nvSpPr>
        <p:spPr>
          <a:xfrm>
            <a:off x="9015984" y="2249424"/>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 by revenue</a:t>
            </a:r>
          </a:p>
        </p:txBody>
      </p:sp>
      <p:sp>
        <p:nvSpPr>
          <p:cNvPr id="39" name="TextBox 38"/>
          <p:cNvSpPr txBox="1"/>
          <p:nvPr/>
        </p:nvSpPr>
        <p:spPr>
          <a:xfrm>
            <a:off x="10570464" y="2249424"/>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0" name="Rectangle 39"/>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86984" y="2542032"/>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Strategy (pure)</a:t>
            </a:r>
          </a:p>
        </p:txBody>
      </p:sp>
      <p:sp>
        <p:nvSpPr>
          <p:cNvPr id="42" name="TextBox 41"/>
          <p:cNvSpPr txBox="1"/>
          <p:nvPr/>
        </p:nvSpPr>
        <p:spPr>
          <a:xfrm>
            <a:off x="7232904" y="2542032"/>
            <a:ext cx="932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$40B</a:t>
            </a:r>
          </a:p>
        </p:txBody>
      </p:sp>
      <p:sp>
        <p:nvSpPr>
          <p:cNvPr id="43" name="TextBox 42"/>
          <p:cNvSpPr txBox="1"/>
          <p:nvPr/>
        </p:nvSpPr>
        <p:spPr>
          <a:xfrm>
            <a:off x="8238744" y="2542032"/>
            <a:ext cx="704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a:t>
            </a:r>
          </a:p>
        </p:txBody>
      </p:sp>
      <p:sp>
        <p:nvSpPr>
          <p:cNvPr id="44" name="TextBox 43"/>
          <p:cNvSpPr txBox="1"/>
          <p:nvPr/>
        </p:nvSpPr>
        <p:spPr>
          <a:xfrm>
            <a:off x="9015984" y="2542032"/>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Weak vs MBB</a:t>
            </a:r>
          </a:p>
        </p:txBody>
      </p:sp>
      <p:sp>
        <p:nvSpPr>
          <p:cNvPr id="45" name="TextBox 44"/>
          <p:cNvSpPr txBox="1"/>
          <p:nvPr/>
        </p:nvSpPr>
        <p:spPr>
          <a:xfrm>
            <a:off x="10570464" y="2542032"/>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46" name="Rectangle 45"/>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86984" y="2834640"/>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Managed services/ops</a:t>
            </a:r>
          </a:p>
        </p:txBody>
      </p:sp>
      <p:sp>
        <p:nvSpPr>
          <p:cNvPr id="48" name="TextBox 47"/>
          <p:cNvSpPr txBox="1"/>
          <p:nvPr/>
        </p:nvSpPr>
        <p:spPr>
          <a:xfrm>
            <a:off x="7232904" y="2834640"/>
            <a:ext cx="932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$80B</a:t>
            </a:r>
          </a:p>
        </p:txBody>
      </p:sp>
      <p:sp>
        <p:nvSpPr>
          <p:cNvPr id="49" name="TextBox 48"/>
          <p:cNvSpPr txBox="1"/>
          <p:nvPr/>
        </p:nvSpPr>
        <p:spPr>
          <a:xfrm>
            <a:off x="8238744" y="2834640"/>
            <a:ext cx="704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3–4%</a:t>
            </a:r>
          </a:p>
        </p:txBody>
      </p:sp>
      <p:sp>
        <p:nvSpPr>
          <p:cNvPr id="50" name="TextBox 49"/>
          <p:cNvSpPr txBox="1"/>
          <p:nvPr/>
        </p:nvSpPr>
        <p:spPr>
          <a:xfrm>
            <a:off x="9015984" y="2834640"/>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Strong, margin risk</a:t>
            </a:r>
          </a:p>
        </p:txBody>
      </p:sp>
      <p:sp>
        <p:nvSpPr>
          <p:cNvPr id="51" name="TextBox 50"/>
          <p:cNvSpPr txBox="1"/>
          <p:nvPr/>
        </p:nvSpPr>
        <p:spPr>
          <a:xfrm>
            <a:off x="10570464" y="2834640"/>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52" name="Rectangle 51"/>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86984" y="3127248"/>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Industry X (engineering)</a:t>
            </a:r>
          </a:p>
        </p:txBody>
      </p:sp>
      <p:sp>
        <p:nvSpPr>
          <p:cNvPr id="54" name="TextBox 53"/>
          <p:cNvSpPr txBox="1"/>
          <p:nvPr/>
        </p:nvSpPr>
        <p:spPr>
          <a:xfrm>
            <a:off x="7232904" y="3127248"/>
            <a:ext cx="932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$30B</a:t>
            </a:r>
          </a:p>
        </p:txBody>
      </p:sp>
      <p:sp>
        <p:nvSpPr>
          <p:cNvPr id="55" name="TextBox 54"/>
          <p:cNvSpPr txBox="1"/>
          <p:nvPr/>
        </p:nvSpPr>
        <p:spPr>
          <a:xfrm>
            <a:off x="8238744" y="3127248"/>
            <a:ext cx="704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8%</a:t>
            </a:r>
          </a:p>
        </p:txBody>
      </p:sp>
      <p:sp>
        <p:nvSpPr>
          <p:cNvPr id="56" name="TextBox 55"/>
          <p:cNvSpPr txBox="1"/>
          <p:nvPr/>
        </p:nvSpPr>
        <p:spPr>
          <a:xfrm>
            <a:off x="9015984" y="3127248"/>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Differentiated</a:t>
            </a:r>
          </a:p>
        </p:txBody>
      </p:sp>
      <p:sp>
        <p:nvSpPr>
          <p:cNvPr id="57" name="TextBox 56"/>
          <p:cNvSpPr txBox="1"/>
          <p:nvPr/>
        </p:nvSpPr>
        <p:spPr>
          <a:xfrm>
            <a:off x="10570464" y="3127248"/>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58" name="TextBox 5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9" name="TextBox 5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2: MARKET &amp; COMPETITIVE INTEL  ·  COMPETITIVE INTEL</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McKinsey and BCG Are Building Tech Delivery Arms — Accenture's Moat Is Narrowing</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The competitive dynamic is converging: MBB is building implementation capability (BCG X, McKinsey digital), while OpenAI's Feb 2026 Frontier Alliance embeds AI vendors directly inside client teams. Accenture must widen the IP and outcomes gap before these moves mature.</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BCG X (tech build arm) + QuantumBlack signal MBB closing the strategy-to-delivery gap</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OpenAI Frontier Alliance (Feb 2026) could disintermediate advisory at the AI strategy level</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IBM and Capgemini undercutting on AI delivery with proprietary toolkits at lower cost</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Accenture advantage: mcp-bench (NeurIPS 2025) — Accenture Labs OWNS the agentic AI evaluation standard; no competitor has published comparable research</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mcp-bench leaderboard: gpt-5 #1 (0.749), claude-sonnet-4 #5 (0.681)  |  Accenture Labs owns the benchmark — github.com/Accenture/mcp-bench</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2070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Competitor</a:t>
            </a:r>
          </a:p>
        </p:txBody>
      </p:sp>
      <p:sp>
        <p:nvSpPr>
          <p:cNvPr id="26" name="TextBox 25"/>
          <p:cNvSpPr txBox="1"/>
          <p:nvPr/>
        </p:nvSpPr>
        <p:spPr>
          <a:xfrm>
            <a:off x="6867144" y="1664208"/>
            <a:ext cx="15727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Current Move</a:t>
            </a:r>
          </a:p>
        </p:txBody>
      </p:sp>
      <p:sp>
        <p:nvSpPr>
          <p:cNvPr id="27" name="TextBox 26"/>
          <p:cNvSpPr txBox="1"/>
          <p:nvPr/>
        </p:nvSpPr>
        <p:spPr>
          <a:xfrm>
            <a:off x="8513064" y="1664208"/>
            <a:ext cx="16642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Likely Next Move</a:t>
            </a:r>
          </a:p>
        </p:txBody>
      </p:sp>
      <p:sp>
        <p:nvSpPr>
          <p:cNvPr id="28" name="TextBox 27"/>
          <p:cNvSpPr txBox="1"/>
          <p:nvPr/>
        </p:nvSpPr>
        <p:spPr>
          <a:xfrm>
            <a:off x="10250424" y="1664208"/>
            <a:ext cx="16184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Accenture Counter</a:t>
            </a:r>
          </a:p>
        </p:txBody>
      </p:sp>
      <p:sp>
        <p:nvSpPr>
          <p:cNvPr id="29" name="Rectangle 28"/>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6984" y="1956816"/>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McKinsey</a:t>
            </a:r>
          </a:p>
        </p:txBody>
      </p:sp>
      <p:sp>
        <p:nvSpPr>
          <p:cNvPr id="31" name="TextBox 30"/>
          <p:cNvSpPr txBox="1"/>
          <p:nvPr/>
        </p:nvSpPr>
        <p:spPr>
          <a:xfrm>
            <a:off x="6867144" y="1956816"/>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QuantumBlack tech arm</a:t>
            </a:r>
          </a:p>
        </p:txBody>
      </p:sp>
      <p:sp>
        <p:nvSpPr>
          <p:cNvPr id="32" name="TextBox 31"/>
          <p:cNvSpPr txBox="1"/>
          <p:nvPr/>
        </p:nvSpPr>
        <p:spPr>
          <a:xfrm>
            <a:off x="8513064" y="1956816"/>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Acquire AI integrator</a:t>
            </a:r>
          </a:p>
        </p:txBody>
      </p:sp>
      <p:sp>
        <p:nvSpPr>
          <p:cNvPr id="33" name="TextBox 32"/>
          <p:cNvSpPr txBox="1"/>
          <p:nvPr/>
        </p:nvSpPr>
        <p:spPr>
          <a:xfrm>
            <a:off x="10250424" y="1956816"/>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Refinery platform depth</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BCG</a:t>
            </a:r>
          </a:p>
        </p:txBody>
      </p:sp>
      <p:sp>
        <p:nvSpPr>
          <p:cNvPr id="36" name="TextBox 35"/>
          <p:cNvSpPr txBox="1"/>
          <p:nvPr/>
        </p:nvSpPr>
        <p:spPr>
          <a:xfrm>
            <a:off x="6867144" y="2249424"/>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BCG X scaling</a:t>
            </a:r>
          </a:p>
        </p:txBody>
      </p:sp>
      <p:sp>
        <p:nvSpPr>
          <p:cNvPr id="37" name="TextBox 36"/>
          <p:cNvSpPr txBox="1"/>
          <p:nvPr/>
        </p:nvSpPr>
        <p:spPr>
          <a:xfrm>
            <a:off x="8513064" y="2249424"/>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Compete on GenAI delivery</a:t>
            </a:r>
          </a:p>
        </p:txBody>
      </p:sp>
      <p:sp>
        <p:nvSpPr>
          <p:cNvPr id="38" name="TextBox 37"/>
          <p:cNvSpPr txBox="1"/>
          <p:nvPr/>
        </p:nvSpPr>
        <p:spPr>
          <a:xfrm>
            <a:off x="10250424" y="2249424"/>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77K practitioners + SDK</a:t>
            </a:r>
          </a:p>
        </p:txBody>
      </p:sp>
      <p:sp>
        <p:nvSpPr>
          <p:cNvPr id="39" name="Rectangle 38"/>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86984" y="2542032"/>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OpenAI</a:t>
            </a:r>
          </a:p>
        </p:txBody>
      </p:sp>
      <p:sp>
        <p:nvSpPr>
          <p:cNvPr id="41" name="TextBox 40"/>
          <p:cNvSpPr txBox="1"/>
          <p:nvPr/>
        </p:nvSpPr>
        <p:spPr>
          <a:xfrm>
            <a:off x="6867144" y="2542032"/>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Frontier Alliance Feb 2026</a:t>
            </a:r>
          </a:p>
        </p:txBody>
      </p:sp>
      <p:sp>
        <p:nvSpPr>
          <p:cNvPr id="42" name="TextBox 41"/>
          <p:cNvSpPr txBox="1"/>
          <p:nvPr/>
        </p:nvSpPr>
        <p:spPr>
          <a:xfrm>
            <a:off x="8513064" y="2542032"/>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Direct enterprise contracts</a:t>
            </a:r>
          </a:p>
        </p:txBody>
      </p:sp>
      <p:sp>
        <p:nvSpPr>
          <p:cNvPr id="43" name="TextBox 42"/>
          <p:cNvSpPr txBox="1"/>
          <p:nvPr/>
        </p:nvSpPr>
        <p:spPr>
          <a:xfrm>
            <a:off x="10250424" y="2542032"/>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Own integration layer</a:t>
            </a:r>
          </a:p>
        </p:txBody>
      </p:sp>
      <p:sp>
        <p:nvSpPr>
          <p:cNvPr id="44" name="Rectangle 43"/>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86984" y="2834640"/>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IBM</a:t>
            </a:r>
          </a:p>
        </p:txBody>
      </p:sp>
      <p:sp>
        <p:nvSpPr>
          <p:cNvPr id="46" name="TextBox 45"/>
          <p:cNvSpPr txBox="1"/>
          <p:nvPr/>
        </p:nvSpPr>
        <p:spPr>
          <a:xfrm>
            <a:off x="6867144" y="2834640"/>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WatsonX toolkit pricing</a:t>
            </a:r>
          </a:p>
        </p:txBody>
      </p:sp>
      <p:sp>
        <p:nvSpPr>
          <p:cNvPr id="47" name="TextBox 46"/>
          <p:cNvSpPr txBox="1"/>
          <p:nvPr/>
        </p:nvSpPr>
        <p:spPr>
          <a:xfrm>
            <a:off x="8513064" y="2834640"/>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Undercut on AI delivery</a:t>
            </a:r>
          </a:p>
        </p:txBody>
      </p:sp>
      <p:sp>
        <p:nvSpPr>
          <p:cNvPr id="48" name="TextBox 47"/>
          <p:cNvSpPr txBox="1"/>
          <p:nvPr/>
        </p:nvSpPr>
        <p:spPr>
          <a:xfrm>
            <a:off x="10250424" y="2834640"/>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mcp-bench standards lead</a:t>
            </a:r>
          </a:p>
        </p:txBody>
      </p:sp>
      <p:sp>
        <p:nvSpPr>
          <p:cNvPr id="49" name="Rectangle 48"/>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86984" y="3127248"/>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Capgemini</a:t>
            </a:r>
          </a:p>
        </p:txBody>
      </p:sp>
      <p:sp>
        <p:nvSpPr>
          <p:cNvPr id="51" name="TextBox 50"/>
          <p:cNvSpPr txBox="1"/>
          <p:nvPr/>
        </p:nvSpPr>
        <p:spPr>
          <a:xfrm>
            <a:off x="6867144" y="3127248"/>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automation toolkits</a:t>
            </a:r>
          </a:p>
        </p:txBody>
      </p:sp>
      <p:sp>
        <p:nvSpPr>
          <p:cNvPr id="52" name="TextBox 51"/>
          <p:cNvSpPr txBox="1"/>
          <p:nvPr/>
        </p:nvSpPr>
        <p:spPr>
          <a:xfrm>
            <a:off x="8513064" y="3127248"/>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Mid-market at 50% cost</a:t>
            </a:r>
          </a:p>
        </p:txBody>
      </p:sp>
      <p:sp>
        <p:nvSpPr>
          <p:cNvPr id="53" name="TextBox 52"/>
          <p:cNvSpPr txBox="1"/>
          <p:nvPr/>
        </p:nvSpPr>
        <p:spPr>
          <a:xfrm>
            <a:off x="10250424" y="3127248"/>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 pricing + IP</a:t>
            </a:r>
          </a:p>
        </p:txBody>
      </p:sp>
      <p:sp>
        <p:nvSpPr>
          <p:cNvPr id="54" name="TextBox 5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5" name="TextBox 5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2: MARKET &amp; COMPETITIVE INTEL  ·  CUSTOMER SEGMENTATION</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Fortune 100 Is Accenture's Core — Mid-Market and Growth Regions Are the Upside</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91 of the Fortune 100 are Accenture clients — the enterprise base is defended. The growth opportunity is in the Fortune 500 mid-tier (under-penetrated for GenAI), growth markets (APAC/LatAm at 17% revenue), and the government segment (stabilize before re-growing).</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Fortune 100 (91 clients): defend and deepen with AI — largest bookings per client</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Fortune 500 mid-tier: highest GenAI curiosity, least AI deployment — biggest expansion runway</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US Federal (~$4B): stabilize FY2026, protect relationship through budget uncertainty</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APAC/LatAm (17% revenue): fastest-growing; underweight vs market share potential</a:t>
            </a:r>
          </a:p>
        </p:txBody>
      </p:sp>
      <p:sp>
        <p:nvSpPr>
          <p:cNvPr id="20" name="TextBox 19"/>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1" name="Rectangle 20"/>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4" y="1664208"/>
            <a:ext cx="14813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Segment</a:t>
            </a:r>
          </a:p>
        </p:txBody>
      </p:sp>
      <p:sp>
        <p:nvSpPr>
          <p:cNvPr id="24" name="TextBox 23"/>
          <p:cNvSpPr txBox="1"/>
          <p:nvPr/>
        </p:nvSpPr>
        <p:spPr>
          <a:xfrm>
            <a:off x="7141464" y="1664208"/>
            <a:ext cx="11155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Revenue Scale</a:t>
            </a:r>
          </a:p>
        </p:txBody>
      </p:sp>
      <p:sp>
        <p:nvSpPr>
          <p:cNvPr id="25" name="TextBox 24"/>
          <p:cNvSpPr txBox="1"/>
          <p:nvPr/>
        </p:nvSpPr>
        <p:spPr>
          <a:xfrm>
            <a:off x="8330184" y="1664208"/>
            <a:ext cx="10241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AI Penetration</a:t>
            </a:r>
          </a:p>
        </p:txBody>
      </p:sp>
      <p:sp>
        <p:nvSpPr>
          <p:cNvPr id="26" name="TextBox 25"/>
          <p:cNvSpPr txBox="1"/>
          <p:nvPr/>
        </p:nvSpPr>
        <p:spPr>
          <a:xfrm>
            <a:off x="9427464" y="1664208"/>
            <a:ext cx="12070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FY2026 Priority</a:t>
            </a:r>
          </a:p>
        </p:txBody>
      </p:sp>
      <p:sp>
        <p:nvSpPr>
          <p:cNvPr id="27" name="TextBox 26"/>
          <p:cNvSpPr txBox="1"/>
          <p:nvPr/>
        </p:nvSpPr>
        <p:spPr>
          <a:xfrm>
            <a:off x="10707624" y="1664208"/>
            <a:ext cx="11612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Action</a:t>
            </a:r>
          </a:p>
        </p:txBody>
      </p:sp>
      <p:sp>
        <p:nvSpPr>
          <p:cNvPr id="28" name="Rectangle 27"/>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86984" y="1956816"/>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Fortune 100</a:t>
            </a:r>
          </a:p>
        </p:txBody>
      </p:sp>
      <p:sp>
        <p:nvSpPr>
          <p:cNvPr id="30" name="TextBox 29"/>
          <p:cNvSpPr txBox="1"/>
          <p:nvPr/>
        </p:nvSpPr>
        <p:spPr>
          <a:xfrm>
            <a:off x="7141464" y="1956816"/>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~$35B+</a:t>
            </a:r>
          </a:p>
        </p:txBody>
      </p:sp>
      <p:sp>
        <p:nvSpPr>
          <p:cNvPr id="31" name="TextBox 30"/>
          <p:cNvSpPr txBox="1"/>
          <p:nvPr/>
        </p:nvSpPr>
        <p:spPr>
          <a:xfrm>
            <a:off x="8330184" y="1956816"/>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32" name="TextBox 31"/>
          <p:cNvSpPr txBox="1"/>
          <p:nvPr/>
        </p:nvSpPr>
        <p:spPr>
          <a:xfrm>
            <a:off x="9427464" y="1956816"/>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Defend &amp; deepen</a:t>
            </a:r>
          </a:p>
        </p:txBody>
      </p:sp>
      <p:sp>
        <p:nvSpPr>
          <p:cNvPr id="33" name="TextBox 32"/>
          <p:cNvSpPr txBox="1"/>
          <p:nvPr/>
        </p:nvSpPr>
        <p:spPr>
          <a:xfrm>
            <a:off x="10707624" y="1956816"/>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Expand GenAI scope</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Fortune 500 mid-tier</a:t>
            </a:r>
          </a:p>
        </p:txBody>
      </p:sp>
      <p:sp>
        <p:nvSpPr>
          <p:cNvPr id="36" name="TextBox 35"/>
          <p:cNvSpPr txBox="1"/>
          <p:nvPr/>
        </p:nvSpPr>
        <p:spPr>
          <a:xfrm>
            <a:off x="7141464" y="2249424"/>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~$20B</a:t>
            </a:r>
          </a:p>
        </p:txBody>
      </p:sp>
      <p:sp>
        <p:nvSpPr>
          <p:cNvPr id="37" name="TextBox 36"/>
          <p:cNvSpPr txBox="1"/>
          <p:nvPr/>
        </p:nvSpPr>
        <p:spPr>
          <a:xfrm>
            <a:off x="8330184" y="2249424"/>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Low</a:t>
            </a:r>
          </a:p>
        </p:txBody>
      </p:sp>
      <p:sp>
        <p:nvSpPr>
          <p:cNvPr id="38" name="TextBox 37"/>
          <p:cNvSpPr txBox="1"/>
          <p:nvPr/>
        </p:nvSpPr>
        <p:spPr>
          <a:xfrm>
            <a:off x="9427464" y="2249424"/>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Grow aggressively</a:t>
            </a:r>
          </a:p>
        </p:txBody>
      </p:sp>
      <p:sp>
        <p:nvSpPr>
          <p:cNvPr id="39" name="TextBox 38"/>
          <p:cNvSpPr txBox="1"/>
          <p:nvPr/>
        </p:nvSpPr>
        <p:spPr>
          <a:xfrm>
            <a:off x="10707624" y="2249424"/>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starter packs</a:t>
            </a:r>
          </a:p>
        </p:txBody>
      </p:sp>
      <p:sp>
        <p:nvSpPr>
          <p:cNvPr id="40" name="Rectangle 39"/>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86984" y="2542032"/>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US Federal gov't</a:t>
            </a:r>
          </a:p>
        </p:txBody>
      </p:sp>
      <p:sp>
        <p:nvSpPr>
          <p:cNvPr id="42" name="TextBox 41"/>
          <p:cNvSpPr txBox="1"/>
          <p:nvPr/>
        </p:nvSpPr>
        <p:spPr>
          <a:xfrm>
            <a:off x="7141464" y="2542032"/>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~$4B</a:t>
            </a:r>
          </a:p>
        </p:txBody>
      </p:sp>
      <p:sp>
        <p:nvSpPr>
          <p:cNvPr id="43" name="TextBox 42"/>
          <p:cNvSpPr txBox="1"/>
          <p:nvPr/>
        </p:nvSpPr>
        <p:spPr>
          <a:xfrm>
            <a:off x="8330184" y="2542032"/>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44" name="TextBox 43"/>
          <p:cNvSpPr txBox="1"/>
          <p:nvPr/>
        </p:nvSpPr>
        <p:spPr>
          <a:xfrm>
            <a:off x="9427464" y="2542032"/>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Stabilize</a:t>
            </a:r>
          </a:p>
        </p:txBody>
      </p:sp>
      <p:sp>
        <p:nvSpPr>
          <p:cNvPr id="45" name="TextBox 44"/>
          <p:cNvSpPr txBox="1"/>
          <p:nvPr/>
        </p:nvSpPr>
        <p:spPr>
          <a:xfrm>
            <a:off x="10707624" y="2542032"/>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Continuity assurance</a:t>
            </a:r>
          </a:p>
        </p:txBody>
      </p:sp>
      <p:sp>
        <p:nvSpPr>
          <p:cNvPr id="46" name="Rectangle 45"/>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86984" y="2834640"/>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APAC / LatAm</a:t>
            </a:r>
          </a:p>
        </p:txBody>
      </p:sp>
      <p:sp>
        <p:nvSpPr>
          <p:cNvPr id="48" name="TextBox 47"/>
          <p:cNvSpPr txBox="1"/>
          <p:nvPr/>
        </p:nvSpPr>
        <p:spPr>
          <a:xfrm>
            <a:off x="7141464" y="2834640"/>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~$12B</a:t>
            </a:r>
          </a:p>
        </p:txBody>
      </p:sp>
      <p:sp>
        <p:nvSpPr>
          <p:cNvPr id="49" name="TextBox 48"/>
          <p:cNvSpPr txBox="1"/>
          <p:nvPr/>
        </p:nvSpPr>
        <p:spPr>
          <a:xfrm>
            <a:off x="8330184" y="2834640"/>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Low</a:t>
            </a:r>
          </a:p>
        </p:txBody>
      </p:sp>
      <p:sp>
        <p:nvSpPr>
          <p:cNvPr id="50" name="TextBox 49"/>
          <p:cNvSpPr txBox="1"/>
          <p:nvPr/>
        </p:nvSpPr>
        <p:spPr>
          <a:xfrm>
            <a:off x="9427464" y="2834640"/>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Accelerate</a:t>
            </a:r>
          </a:p>
        </p:txBody>
      </p:sp>
      <p:sp>
        <p:nvSpPr>
          <p:cNvPr id="51" name="TextBox 50"/>
          <p:cNvSpPr txBox="1"/>
          <p:nvPr/>
        </p:nvSpPr>
        <p:spPr>
          <a:xfrm>
            <a:off x="10707624" y="2834640"/>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Local GenAI delivery</a:t>
            </a:r>
          </a:p>
        </p:txBody>
      </p:sp>
      <p:sp>
        <p:nvSpPr>
          <p:cNvPr id="52" name="Rectangle 51"/>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86984" y="3127248"/>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Mid-market (&lt;$1B rev)</a:t>
            </a:r>
          </a:p>
        </p:txBody>
      </p:sp>
      <p:sp>
        <p:nvSpPr>
          <p:cNvPr id="54" name="TextBox 53"/>
          <p:cNvSpPr txBox="1"/>
          <p:nvPr/>
        </p:nvSpPr>
        <p:spPr>
          <a:xfrm>
            <a:off x="7141464" y="3127248"/>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Emerging</a:t>
            </a:r>
          </a:p>
        </p:txBody>
      </p:sp>
      <p:sp>
        <p:nvSpPr>
          <p:cNvPr id="55" name="TextBox 54"/>
          <p:cNvSpPr txBox="1"/>
          <p:nvPr/>
        </p:nvSpPr>
        <p:spPr>
          <a:xfrm>
            <a:off x="8330184" y="3127248"/>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Very low</a:t>
            </a:r>
          </a:p>
        </p:txBody>
      </p:sp>
      <p:sp>
        <p:nvSpPr>
          <p:cNvPr id="56" name="TextBox 55"/>
          <p:cNvSpPr txBox="1"/>
          <p:nvPr/>
        </p:nvSpPr>
        <p:spPr>
          <a:xfrm>
            <a:off x="9427464" y="3127248"/>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Test &amp; learn</a:t>
            </a:r>
          </a:p>
        </p:txBody>
      </p:sp>
      <p:sp>
        <p:nvSpPr>
          <p:cNvPr id="57" name="TextBox 56"/>
          <p:cNvSpPr txBox="1"/>
          <p:nvPr/>
        </p:nvSpPr>
        <p:spPr>
          <a:xfrm>
            <a:off x="10707624" y="3127248"/>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Productized AI</a:t>
            </a:r>
          </a:p>
        </p:txBody>
      </p:sp>
      <p:sp>
        <p:nvSpPr>
          <p:cNvPr id="58" name="TextBox 5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9" name="TextBox 5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2: MARKET &amp; COMPETITIVE INTEL  ·  PROFIT POOL ANALYSIS</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GenAI Advisory Captures 2× the Margin of Traditional Implementation — Follow the Profit</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The profit pool is shifting. GenAI advisory and pure strategy consulting carry 20–25% margins while traditional IT implementation runs 13–16%. Accenture's $2.7B GenAI revenue is disproportionately profitable — and the platform model (GenWizard) promises even higher margins at scale.</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GenAI advisory: ~$2.7B revenue at est. 22–25% margin — the most attractive pool</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Strategy &amp; Consulting: ~$18B at 18–22% margin — high-value but MBB-contested</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Technology implementation: ~$30B but 13–16% margin — volume play, AI automation needed</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Operations/managed services: margin compression risk as AI automates routine work</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Strategic implication: allocate growth investment to GenAI advisory; automate Operations to protect margin</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5270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Service Pool</a:t>
            </a:r>
          </a:p>
        </p:txBody>
      </p:sp>
      <p:sp>
        <p:nvSpPr>
          <p:cNvPr id="26" name="TextBox 25"/>
          <p:cNvSpPr txBox="1"/>
          <p:nvPr/>
        </p:nvSpPr>
        <p:spPr>
          <a:xfrm>
            <a:off x="7187184" y="1664208"/>
            <a:ext cx="10241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Est. Revenue</a:t>
            </a:r>
          </a:p>
        </p:txBody>
      </p:sp>
      <p:sp>
        <p:nvSpPr>
          <p:cNvPr id="27" name="TextBox 26"/>
          <p:cNvSpPr txBox="1"/>
          <p:nvPr/>
        </p:nvSpPr>
        <p:spPr>
          <a:xfrm>
            <a:off x="8284464" y="1664208"/>
            <a:ext cx="9784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Est. Margin</a:t>
            </a:r>
          </a:p>
        </p:txBody>
      </p:sp>
      <p:sp>
        <p:nvSpPr>
          <p:cNvPr id="28" name="TextBox 27"/>
          <p:cNvSpPr txBox="1"/>
          <p:nvPr/>
        </p:nvSpPr>
        <p:spPr>
          <a:xfrm>
            <a:off x="9336024" y="1664208"/>
            <a:ext cx="10241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Profit Pool</a:t>
            </a:r>
          </a:p>
        </p:txBody>
      </p:sp>
      <p:sp>
        <p:nvSpPr>
          <p:cNvPr id="29" name="TextBox 28"/>
          <p:cNvSpPr txBox="1"/>
          <p:nvPr/>
        </p:nvSpPr>
        <p:spPr>
          <a:xfrm>
            <a:off x="10433304" y="1664208"/>
            <a:ext cx="14356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Trend</a:t>
            </a:r>
          </a:p>
        </p:txBody>
      </p:sp>
      <p:sp>
        <p:nvSpPr>
          <p:cNvPr id="30" name="Rectangle 29"/>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86984" y="1956816"/>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advisory</a:t>
            </a:r>
          </a:p>
        </p:txBody>
      </p:sp>
      <p:sp>
        <p:nvSpPr>
          <p:cNvPr id="32" name="TextBox 31"/>
          <p:cNvSpPr txBox="1"/>
          <p:nvPr/>
        </p:nvSpPr>
        <p:spPr>
          <a:xfrm>
            <a:off x="7187184" y="1956816"/>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$2.7B</a:t>
            </a:r>
          </a:p>
        </p:txBody>
      </p:sp>
      <p:sp>
        <p:nvSpPr>
          <p:cNvPr id="33" name="TextBox 32"/>
          <p:cNvSpPr txBox="1"/>
          <p:nvPr/>
        </p:nvSpPr>
        <p:spPr>
          <a:xfrm>
            <a:off x="8284464" y="1956816"/>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22–25%</a:t>
            </a:r>
          </a:p>
        </p:txBody>
      </p:sp>
      <p:sp>
        <p:nvSpPr>
          <p:cNvPr id="34" name="TextBox 33"/>
          <p:cNvSpPr txBox="1"/>
          <p:nvPr/>
        </p:nvSpPr>
        <p:spPr>
          <a:xfrm>
            <a:off x="9336024" y="1956816"/>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~$650M</a:t>
            </a:r>
          </a:p>
        </p:txBody>
      </p:sp>
      <p:sp>
        <p:nvSpPr>
          <p:cNvPr id="35" name="TextBox 34"/>
          <p:cNvSpPr txBox="1"/>
          <p:nvPr/>
        </p:nvSpPr>
        <p:spPr>
          <a:xfrm>
            <a:off x="10433304" y="1956816"/>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Growing fast</a:t>
            </a:r>
          </a:p>
        </p:txBody>
      </p:sp>
      <p:sp>
        <p:nvSpPr>
          <p:cNvPr id="36" name="Rectangle 35"/>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86984" y="2249424"/>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Strategy &amp; Consulting</a:t>
            </a:r>
          </a:p>
        </p:txBody>
      </p:sp>
      <p:sp>
        <p:nvSpPr>
          <p:cNvPr id="38" name="TextBox 37"/>
          <p:cNvSpPr txBox="1"/>
          <p:nvPr/>
        </p:nvSpPr>
        <p:spPr>
          <a:xfrm>
            <a:off x="7187184" y="2249424"/>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~$18B</a:t>
            </a:r>
          </a:p>
        </p:txBody>
      </p:sp>
      <p:sp>
        <p:nvSpPr>
          <p:cNvPr id="39" name="TextBox 38"/>
          <p:cNvSpPr txBox="1"/>
          <p:nvPr/>
        </p:nvSpPr>
        <p:spPr>
          <a:xfrm>
            <a:off x="8284464" y="2249424"/>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18–22%</a:t>
            </a:r>
          </a:p>
        </p:txBody>
      </p:sp>
      <p:sp>
        <p:nvSpPr>
          <p:cNvPr id="40" name="TextBox 39"/>
          <p:cNvSpPr txBox="1"/>
          <p:nvPr/>
        </p:nvSpPr>
        <p:spPr>
          <a:xfrm>
            <a:off x="9336024" y="2249424"/>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~$3.5B</a:t>
            </a:r>
          </a:p>
        </p:txBody>
      </p:sp>
      <p:sp>
        <p:nvSpPr>
          <p:cNvPr id="41" name="TextBox 40"/>
          <p:cNvSpPr txBox="1"/>
          <p:nvPr/>
        </p:nvSpPr>
        <p:spPr>
          <a:xfrm>
            <a:off x="10433304" y="2249424"/>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Stable</a:t>
            </a:r>
          </a:p>
        </p:txBody>
      </p:sp>
      <p:sp>
        <p:nvSpPr>
          <p:cNvPr id="42" name="Rectangle 41"/>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86984" y="2542032"/>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Technology impl.</a:t>
            </a:r>
          </a:p>
        </p:txBody>
      </p:sp>
      <p:sp>
        <p:nvSpPr>
          <p:cNvPr id="44" name="TextBox 43"/>
          <p:cNvSpPr txBox="1"/>
          <p:nvPr/>
        </p:nvSpPr>
        <p:spPr>
          <a:xfrm>
            <a:off x="7187184" y="2542032"/>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~$30B</a:t>
            </a:r>
          </a:p>
        </p:txBody>
      </p:sp>
      <p:sp>
        <p:nvSpPr>
          <p:cNvPr id="45" name="TextBox 44"/>
          <p:cNvSpPr txBox="1"/>
          <p:nvPr/>
        </p:nvSpPr>
        <p:spPr>
          <a:xfrm>
            <a:off x="8284464" y="2542032"/>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13–16%</a:t>
            </a:r>
          </a:p>
        </p:txBody>
      </p:sp>
      <p:sp>
        <p:nvSpPr>
          <p:cNvPr id="46" name="TextBox 45"/>
          <p:cNvSpPr txBox="1"/>
          <p:nvPr/>
        </p:nvSpPr>
        <p:spPr>
          <a:xfrm>
            <a:off x="9336024" y="2542032"/>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~$4.2B</a:t>
            </a:r>
          </a:p>
        </p:txBody>
      </p:sp>
      <p:sp>
        <p:nvSpPr>
          <p:cNvPr id="47" name="TextBox 46"/>
          <p:cNvSpPr txBox="1"/>
          <p:nvPr/>
        </p:nvSpPr>
        <p:spPr>
          <a:xfrm>
            <a:off x="10433304" y="2542032"/>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Margin pressure</a:t>
            </a:r>
          </a:p>
        </p:txBody>
      </p:sp>
      <p:sp>
        <p:nvSpPr>
          <p:cNvPr id="48" name="Rectangle 47"/>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86984" y="2834640"/>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Operations/managed</a:t>
            </a:r>
          </a:p>
        </p:txBody>
      </p:sp>
      <p:sp>
        <p:nvSpPr>
          <p:cNvPr id="50" name="TextBox 49"/>
          <p:cNvSpPr txBox="1"/>
          <p:nvPr/>
        </p:nvSpPr>
        <p:spPr>
          <a:xfrm>
            <a:off x="7187184" y="2834640"/>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~$15B</a:t>
            </a:r>
          </a:p>
        </p:txBody>
      </p:sp>
      <p:sp>
        <p:nvSpPr>
          <p:cNvPr id="51" name="TextBox 50"/>
          <p:cNvSpPr txBox="1"/>
          <p:nvPr/>
        </p:nvSpPr>
        <p:spPr>
          <a:xfrm>
            <a:off x="8284464" y="2834640"/>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10–14%</a:t>
            </a:r>
          </a:p>
        </p:txBody>
      </p:sp>
      <p:sp>
        <p:nvSpPr>
          <p:cNvPr id="52" name="TextBox 51"/>
          <p:cNvSpPr txBox="1"/>
          <p:nvPr/>
        </p:nvSpPr>
        <p:spPr>
          <a:xfrm>
            <a:off x="9336024" y="2834640"/>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~$1.8B</a:t>
            </a:r>
          </a:p>
        </p:txBody>
      </p:sp>
      <p:sp>
        <p:nvSpPr>
          <p:cNvPr id="53" name="TextBox 52"/>
          <p:cNvSpPr txBox="1"/>
          <p:nvPr/>
        </p:nvSpPr>
        <p:spPr>
          <a:xfrm>
            <a:off x="10433304" y="2834640"/>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threat</a:t>
            </a:r>
          </a:p>
        </p:txBody>
      </p:sp>
      <p:sp>
        <p:nvSpPr>
          <p:cNvPr id="54" name="Rectangle 53"/>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586984" y="3127248"/>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Industry X / Song</a:t>
            </a:r>
          </a:p>
        </p:txBody>
      </p:sp>
      <p:sp>
        <p:nvSpPr>
          <p:cNvPr id="56" name="TextBox 55"/>
          <p:cNvSpPr txBox="1"/>
          <p:nvPr/>
        </p:nvSpPr>
        <p:spPr>
          <a:xfrm>
            <a:off x="7187184" y="3127248"/>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~$4B</a:t>
            </a:r>
          </a:p>
        </p:txBody>
      </p:sp>
      <p:sp>
        <p:nvSpPr>
          <p:cNvPr id="57" name="TextBox 56"/>
          <p:cNvSpPr txBox="1"/>
          <p:nvPr/>
        </p:nvSpPr>
        <p:spPr>
          <a:xfrm>
            <a:off x="8284464" y="3127248"/>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15–18%</a:t>
            </a:r>
          </a:p>
        </p:txBody>
      </p:sp>
      <p:sp>
        <p:nvSpPr>
          <p:cNvPr id="58" name="TextBox 57"/>
          <p:cNvSpPr txBox="1"/>
          <p:nvPr/>
        </p:nvSpPr>
        <p:spPr>
          <a:xfrm>
            <a:off x="9336024" y="3127248"/>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~$680M</a:t>
            </a:r>
          </a:p>
        </p:txBody>
      </p:sp>
      <p:sp>
        <p:nvSpPr>
          <p:cNvPr id="59" name="TextBox 58"/>
          <p:cNvSpPr txBox="1"/>
          <p:nvPr/>
        </p:nvSpPr>
        <p:spPr>
          <a:xfrm>
            <a:off x="10433304" y="3127248"/>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Growing</a:t>
            </a:r>
          </a:p>
        </p:txBody>
      </p:sp>
      <p:sp>
        <p:nvSpPr>
          <p:cNvPr id="60" name="TextBox 5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61" name="TextBox 6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3: STRATEGIC CHOICE &amp; ECONOMICS  ·  STRATEGIC OPTIONS</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AI Refinery Platform Is the Moat — GitHub Evidence Confirms the IP Strategy Is Real</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GitHub data confirms Accenture's platform bet is tangible: AI Refinery SDK (v1.31.3, 29 releases, last pushed June 2026) is a production-grade multi-agent platform with its own Distiller Framework, LLM-agnostic inference, and Responsible AI module. This is not vaporware — it is shippable IP.</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AI Refinery SDK (github.com/Accenture/airefinery-sdk): multi-agent platform, Apache 2.0, 29 releases in 14 months</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Distiller Framework: orchestrates specialist agents for complex enterprise workflows — directly competes with BCG X</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mcp-bench (NeurIPS 2025): Accenture Labs published the MCP tool-use benchmark used by the entire industry</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Option B (AI Refinery + delivery scale) is NOW defensible — not aspirational</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AI Refinery homepage: sdk.airefinery.accenture.com  |  Source: github.com/Accenture/airefinery-sdk</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5727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Option</a:t>
            </a:r>
          </a:p>
        </p:txBody>
      </p:sp>
      <p:sp>
        <p:nvSpPr>
          <p:cNvPr id="26" name="TextBox 25"/>
          <p:cNvSpPr txBox="1"/>
          <p:nvPr/>
        </p:nvSpPr>
        <p:spPr>
          <a:xfrm>
            <a:off x="7232904" y="1664208"/>
            <a:ext cx="19385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Core Bet</a:t>
            </a:r>
          </a:p>
        </p:txBody>
      </p:sp>
      <p:sp>
        <p:nvSpPr>
          <p:cNvPr id="27" name="TextBox 26"/>
          <p:cNvSpPr txBox="1"/>
          <p:nvPr/>
        </p:nvSpPr>
        <p:spPr>
          <a:xfrm>
            <a:off x="9244584" y="1664208"/>
            <a:ext cx="17556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GitHub Evidence</a:t>
            </a:r>
          </a:p>
        </p:txBody>
      </p:sp>
      <p:sp>
        <p:nvSpPr>
          <p:cNvPr id="28" name="TextBox 27"/>
          <p:cNvSpPr txBox="1"/>
          <p:nvPr/>
        </p:nvSpPr>
        <p:spPr>
          <a:xfrm>
            <a:off x="11073384" y="1664208"/>
            <a:ext cx="7955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Verdict</a:t>
            </a:r>
          </a:p>
        </p:txBody>
      </p:sp>
      <p:sp>
        <p:nvSpPr>
          <p:cNvPr id="29" name="Rectangle 28"/>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6984" y="1956816"/>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 AI-Native Advisor</a:t>
            </a:r>
          </a:p>
        </p:txBody>
      </p:sp>
      <p:sp>
        <p:nvSpPr>
          <p:cNvPr id="31" name="TextBox 30"/>
          <p:cNvSpPr txBox="1"/>
          <p:nvPr/>
        </p:nvSpPr>
        <p:spPr>
          <a:xfrm>
            <a:off x="7232904" y="1956816"/>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Beat MBB on AI strategy</a:t>
            </a:r>
          </a:p>
        </p:txBody>
      </p:sp>
      <p:sp>
        <p:nvSpPr>
          <p:cNvPr id="32" name="TextBox 31"/>
          <p:cNvSpPr txBox="1"/>
          <p:nvPr/>
        </p:nvSpPr>
        <p:spPr>
          <a:xfrm>
            <a:off x="9244584" y="1956816"/>
            <a:ext cx="17556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mcp-bench research lead</a:t>
            </a:r>
          </a:p>
        </p:txBody>
      </p:sp>
      <p:sp>
        <p:nvSpPr>
          <p:cNvPr id="33" name="TextBox 32"/>
          <p:cNvSpPr txBox="1"/>
          <p:nvPr/>
        </p:nvSpPr>
        <p:spPr>
          <a:xfrm>
            <a:off x="11073384" y="1956816"/>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Complement</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 AI Refinery Platform</a:t>
            </a:r>
          </a:p>
        </p:txBody>
      </p:sp>
      <p:sp>
        <p:nvSpPr>
          <p:cNvPr id="36" name="TextBox 35"/>
          <p:cNvSpPr txBox="1"/>
          <p:nvPr/>
        </p:nvSpPr>
        <p:spPr>
          <a:xfrm>
            <a:off x="7232904" y="2249424"/>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Multi-agent IP + delivery scale</a:t>
            </a:r>
          </a:p>
        </p:txBody>
      </p:sp>
      <p:sp>
        <p:nvSpPr>
          <p:cNvPr id="37" name="TextBox 36"/>
          <p:cNvSpPr txBox="1"/>
          <p:nvPr/>
        </p:nvSpPr>
        <p:spPr>
          <a:xfrm>
            <a:off x="9244584" y="2249424"/>
            <a:ext cx="17556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SDK v1.31, 29 releases, active</a:t>
            </a:r>
          </a:p>
        </p:txBody>
      </p:sp>
      <p:sp>
        <p:nvSpPr>
          <p:cNvPr id="38" name="TextBox 37"/>
          <p:cNvSpPr txBox="1"/>
          <p:nvPr/>
        </p:nvSpPr>
        <p:spPr>
          <a:xfrm>
            <a:off x="11073384" y="2249424"/>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RECOMMENDED</a:t>
            </a:r>
          </a:p>
        </p:txBody>
      </p:sp>
      <p:sp>
        <p:nvSpPr>
          <p:cNvPr id="39" name="Rectangle 38"/>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86984" y="2542032"/>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 Pure Impl. Scale</a:t>
            </a:r>
          </a:p>
        </p:txBody>
      </p:sp>
      <p:sp>
        <p:nvSpPr>
          <p:cNvPr id="41" name="TextBox 40"/>
          <p:cNvSpPr txBox="1"/>
          <p:nvPr/>
        </p:nvSpPr>
        <p:spPr>
          <a:xfrm>
            <a:off x="7232904" y="2542032"/>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Cost leadership</a:t>
            </a:r>
          </a:p>
        </p:txBody>
      </p:sp>
      <p:sp>
        <p:nvSpPr>
          <p:cNvPr id="42" name="TextBox 41"/>
          <p:cNvSpPr txBox="1"/>
          <p:nvPr/>
        </p:nvSpPr>
        <p:spPr>
          <a:xfrm>
            <a:off x="9244584" y="2542032"/>
            <a:ext cx="17556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No platform evidence</a:t>
            </a:r>
          </a:p>
        </p:txBody>
      </p:sp>
      <p:sp>
        <p:nvSpPr>
          <p:cNvPr id="43" name="TextBox 42"/>
          <p:cNvSpPr txBox="1"/>
          <p:nvPr/>
        </p:nvSpPr>
        <p:spPr>
          <a:xfrm>
            <a:off x="11073384" y="2542032"/>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Reject</a:t>
            </a:r>
          </a:p>
        </p:txBody>
      </p:sp>
      <p:sp>
        <p:nvSpPr>
          <p:cNvPr id="44" name="TextBox 4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45" name="TextBox 4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3: STRATEGIC CHOICE &amp; ECONOMICS  ·  BUSINESS CASE BUILDER</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The $3B AI Bet Has a Sub-18-Month Payback — GitHub IP Adds Uncounted Strategic Value</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Beyond the financial ROI, GitHub evidence adds a second value stream: AI Refinery SDK (29 releases in 14 months, Apache 2.0) and mcp-bench (NeurIPS 2025, live leaderboard) represent defensible IP assets that no competitor can simply purchase. The platform case is stronger than financials alone show.</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Financial ROI: $2.7B GenAI revenue in FY2025 against $3B 3-year investment — payback in &lt;18 months</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IP value (GitHub): AI Refinery SDK v1.31.3 — production multi-agent platform, 29 releases, active development</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Research value: mcp-bench (NeurIPS 2025) — Accenture Labs sets the industry benchmark for agentic AI evaluation</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Hidden asset: 223 public repos, AmpliGraph (2,237 stars), Federated Learning Lab — deep bench of reusable IP</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Source: github.com/Accenture  |  AI Refinery: sdk.airefinery.accenture.com  |  mcp-bench: arXiv:2508.20453</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3898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Value Stream</a:t>
            </a:r>
          </a:p>
        </p:txBody>
      </p:sp>
      <p:sp>
        <p:nvSpPr>
          <p:cNvPr id="26" name="TextBox 25"/>
          <p:cNvSpPr txBox="1"/>
          <p:nvPr/>
        </p:nvSpPr>
        <p:spPr>
          <a:xfrm>
            <a:off x="7050024" y="1664208"/>
            <a:ext cx="14356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Asset</a:t>
            </a:r>
          </a:p>
        </p:txBody>
      </p:sp>
      <p:sp>
        <p:nvSpPr>
          <p:cNvPr id="27" name="TextBox 26"/>
          <p:cNvSpPr txBox="1"/>
          <p:nvPr/>
        </p:nvSpPr>
        <p:spPr>
          <a:xfrm>
            <a:off x="8558784" y="1664208"/>
            <a:ext cx="18470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Evidence</a:t>
            </a:r>
          </a:p>
        </p:txBody>
      </p:sp>
      <p:sp>
        <p:nvSpPr>
          <p:cNvPr id="28" name="TextBox 27"/>
          <p:cNvSpPr txBox="1"/>
          <p:nvPr/>
        </p:nvSpPr>
        <p:spPr>
          <a:xfrm>
            <a:off x="10479024" y="1664208"/>
            <a:ext cx="13898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FY2027 Potential</a:t>
            </a:r>
          </a:p>
        </p:txBody>
      </p:sp>
      <p:sp>
        <p:nvSpPr>
          <p:cNvPr id="29" name="Rectangle 28"/>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6984" y="1956816"/>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Services</a:t>
            </a:r>
          </a:p>
        </p:txBody>
      </p:sp>
      <p:sp>
        <p:nvSpPr>
          <p:cNvPr id="31" name="TextBox 30"/>
          <p:cNvSpPr txBox="1"/>
          <p:nvPr/>
        </p:nvSpPr>
        <p:spPr>
          <a:xfrm>
            <a:off x="7050024" y="1956816"/>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Delivery + practitioners</a:t>
            </a:r>
          </a:p>
        </p:txBody>
      </p:sp>
      <p:sp>
        <p:nvSpPr>
          <p:cNvPr id="32" name="TextBox 31"/>
          <p:cNvSpPr txBox="1"/>
          <p:nvPr/>
        </p:nvSpPr>
        <p:spPr>
          <a:xfrm>
            <a:off x="8558784" y="1956816"/>
            <a:ext cx="1847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FY2025: $2.7B revenue</a:t>
            </a:r>
          </a:p>
        </p:txBody>
      </p:sp>
      <p:sp>
        <p:nvSpPr>
          <p:cNvPr id="33" name="TextBox 32"/>
          <p:cNvSpPr txBox="1"/>
          <p:nvPr/>
        </p:nvSpPr>
        <p:spPr>
          <a:xfrm>
            <a:off x="10479024" y="1956816"/>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$5B+ revenue</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Platform IP</a:t>
            </a:r>
          </a:p>
        </p:txBody>
      </p:sp>
      <p:sp>
        <p:nvSpPr>
          <p:cNvPr id="36" name="TextBox 35"/>
          <p:cNvSpPr txBox="1"/>
          <p:nvPr/>
        </p:nvSpPr>
        <p:spPr>
          <a:xfrm>
            <a:off x="7050024" y="2249424"/>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Refinery SDK</a:t>
            </a:r>
          </a:p>
        </p:txBody>
      </p:sp>
      <p:sp>
        <p:nvSpPr>
          <p:cNvPr id="37" name="TextBox 36"/>
          <p:cNvSpPr txBox="1"/>
          <p:nvPr/>
        </p:nvSpPr>
        <p:spPr>
          <a:xfrm>
            <a:off x="8558784" y="2249424"/>
            <a:ext cx="1847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v1.31.3, 29 releases, June 2026</a:t>
            </a:r>
          </a:p>
        </p:txBody>
      </p:sp>
      <p:sp>
        <p:nvSpPr>
          <p:cNvPr id="38" name="TextBox 37"/>
          <p:cNvSpPr txBox="1"/>
          <p:nvPr/>
        </p:nvSpPr>
        <p:spPr>
          <a:xfrm>
            <a:off x="10479024" y="2249424"/>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$100M+ licensing</a:t>
            </a:r>
          </a:p>
        </p:txBody>
      </p:sp>
      <p:sp>
        <p:nvSpPr>
          <p:cNvPr id="39" name="Rectangle 38"/>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86984" y="2542032"/>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Research Leadership</a:t>
            </a:r>
          </a:p>
        </p:txBody>
      </p:sp>
      <p:sp>
        <p:nvSpPr>
          <p:cNvPr id="41" name="TextBox 40"/>
          <p:cNvSpPr txBox="1"/>
          <p:nvPr/>
        </p:nvSpPr>
        <p:spPr>
          <a:xfrm>
            <a:off x="7050024" y="2542032"/>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mcp-bench framework</a:t>
            </a:r>
          </a:p>
        </p:txBody>
      </p:sp>
      <p:sp>
        <p:nvSpPr>
          <p:cNvPr id="42" name="TextBox 41"/>
          <p:cNvSpPr txBox="1"/>
          <p:nvPr/>
        </p:nvSpPr>
        <p:spPr>
          <a:xfrm>
            <a:off x="8558784" y="2542032"/>
            <a:ext cx="1847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NeurIPS 2025, live leaderboard</a:t>
            </a:r>
          </a:p>
        </p:txBody>
      </p:sp>
      <p:sp>
        <p:nvSpPr>
          <p:cNvPr id="43" name="TextBox 42"/>
          <p:cNvSpPr txBox="1"/>
          <p:nvPr/>
        </p:nvSpPr>
        <p:spPr>
          <a:xfrm>
            <a:off x="10479024" y="2542032"/>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Talent + brand</a:t>
            </a:r>
          </a:p>
        </p:txBody>
      </p:sp>
      <p:sp>
        <p:nvSpPr>
          <p:cNvPr id="44" name="Rectangle 43"/>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86984" y="2834640"/>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Knowledge Graph AI</a:t>
            </a:r>
          </a:p>
        </p:txBody>
      </p:sp>
      <p:sp>
        <p:nvSpPr>
          <p:cNvPr id="46" name="TextBox 45"/>
          <p:cNvSpPr txBox="1"/>
          <p:nvPr/>
        </p:nvSpPr>
        <p:spPr>
          <a:xfrm>
            <a:off x="7050024" y="2834640"/>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AmpliGraph (2.2K stars)</a:t>
            </a:r>
          </a:p>
        </p:txBody>
      </p:sp>
      <p:sp>
        <p:nvSpPr>
          <p:cNvPr id="47" name="TextBox 46"/>
          <p:cNvSpPr txBox="1"/>
          <p:nvPr/>
        </p:nvSpPr>
        <p:spPr>
          <a:xfrm>
            <a:off x="8558784" y="2834640"/>
            <a:ext cx="1847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Most-starred ML repo</a:t>
            </a:r>
          </a:p>
        </p:txBody>
      </p:sp>
      <p:sp>
        <p:nvSpPr>
          <p:cNvPr id="48" name="TextBox 47"/>
          <p:cNvSpPr txBox="1"/>
          <p:nvPr/>
        </p:nvSpPr>
        <p:spPr>
          <a:xfrm>
            <a:off x="10479024" y="2834640"/>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Client data products</a:t>
            </a:r>
          </a:p>
        </p:txBody>
      </p:sp>
      <p:sp>
        <p:nvSpPr>
          <p:cNvPr id="49" name="Rectangle 48"/>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86984" y="3127248"/>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Federated Learning</a:t>
            </a:r>
          </a:p>
        </p:txBody>
      </p:sp>
      <p:sp>
        <p:nvSpPr>
          <p:cNvPr id="51" name="TextBox 50"/>
          <p:cNvSpPr txBox="1"/>
          <p:nvPr/>
        </p:nvSpPr>
        <p:spPr>
          <a:xfrm>
            <a:off x="7050024" y="3127248"/>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Labs-FL project</a:t>
            </a:r>
          </a:p>
        </p:txBody>
      </p:sp>
      <p:sp>
        <p:nvSpPr>
          <p:cNvPr id="52" name="TextBox 51"/>
          <p:cNvSpPr txBox="1"/>
          <p:nvPr/>
        </p:nvSpPr>
        <p:spPr>
          <a:xfrm>
            <a:off x="8558784" y="3127248"/>
            <a:ext cx="18470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Privacy-preserving AI research</a:t>
            </a:r>
          </a:p>
        </p:txBody>
      </p:sp>
      <p:sp>
        <p:nvSpPr>
          <p:cNvPr id="53" name="TextBox 52"/>
          <p:cNvSpPr txBox="1"/>
          <p:nvPr/>
        </p:nvSpPr>
        <p:spPr>
          <a:xfrm>
            <a:off x="10479024" y="3127248"/>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Regulated sectors</a:t>
            </a:r>
          </a:p>
        </p:txBody>
      </p:sp>
      <p:sp>
        <p:nvSpPr>
          <p:cNvPr id="54" name="TextBox 5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5" name="TextBox 5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3: STRATEGIC CHOICE &amp; ECONOMICS  ·  PORTFOLIO REVIEW</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Technology and GenAI Advisory Are Invest; Operations Needs AI Automation to Survive</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Accenture's five service units have diverging trajectories. Technology and GenAI advisory are the growth engines. Song is a sleeper with 12% growth. Operations faces the most disruptive AI threat to its margin base and must be redesigned, not grown headcount-first.</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Technology (~$30B): Invest — AI delivery augmentation improves margin and speed</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Strategy &amp; Consulting (~$18B): Invest selectively — GenAI advisory is the high-margin wedge</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Song (~$4B): Grow — AI-creative convergence makes this differentiated, not a cost center</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Operations (~$15B): Fix — AI automation is the only path to margin defense; reduce headcount dependency</a:t>
            </a:r>
          </a:p>
        </p:txBody>
      </p:sp>
      <p:sp>
        <p:nvSpPr>
          <p:cNvPr id="20" name="TextBox 19"/>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1" name="Rectangle 20"/>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4" y="1664208"/>
            <a:ext cx="15270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Business Unit</a:t>
            </a:r>
          </a:p>
        </p:txBody>
      </p:sp>
      <p:sp>
        <p:nvSpPr>
          <p:cNvPr id="24" name="TextBox 23"/>
          <p:cNvSpPr txBox="1"/>
          <p:nvPr/>
        </p:nvSpPr>
        <p:spPr>
          <a:xfrm>
            <a:off x="7187184" y="1664208"/>
            <a:ext cx="10241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Est. Revenue</a:t>
            </a:r>
          </a:p>
        </p:txBody>
      </p:sp>
      <p:sp>
        <p:nvSpPr>
          <p:cNvPr id="25" name="TextBox 24"/>
          <p:cNvSpPr txBox="1"/>
          <p:nvPr/>
        </p:nvSpPr>
        <p:spPr>
          <a:xfrm>
            <a:off x="8284464" y="1664208"/>
            <a:ext cx="6583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Growth</a:t>
            </a:r>
          </a:p>
        </p:txBody>
      </p:sp>
      <p:sp>
        <p:nvSpPr>
          <p:cNvPr id="26" name="TextBox 25"/>
          <p:cNvSpPr txBox="1"/>
          <p:nvPr/>
        </p:nvSpPr>
        <p:spPr>
          <a:xfrm>
            <a:off x="9015984" y="1664208"/>
            <a:ext cx="8412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Margin</a:t>
            </a:r>
          </a:p>
        </p:txBody>
      </p:sp>
      <p:sp>
        <p:nvSpPr>
          <p:cNvPr id="27" name="TextBox 26"/>
          <p:cNvSpPr txBox="1"/>
          <p:nvPr/>
        </p:nvSpPr>
        <p:spPr>
          <a:xfrm>
            <a:off x="9930384" y="1664208"/>
            <a:ext cx="19385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Recommendation</a:t>
            </a:r>
          </a:p>
        </p:txBody>
      </p:sp>
      <p:sp>
        <p:nvSpPr>
          <p:cNvPr id="28" name="Rectangle 27"/>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86984" y="1956816"/>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Technology</a:t>
            </a:r>
          </a:p>
        </p:txBody>
      </p:sp>
      <p:sp>
        <p:nvSpPr>
          <p:cNvPr id="30" name="TextBox 29"/>
          <p:cNvSpPr txBox="1"/>
          <p:nvPr/>
        </p:nvSpPr>
        <p:spPr>
          <a:xfrm>
            <a:off x="7187184" y="1956816"/>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~$30B</a:t>
            </a:r>
          </a:p>
        </p:txBody>
      </p:sp>
      <p:sp>
        <p:nvSpPr>
          <p:cNvPr id="31" name="TextBox 30"/>
          <p:cNvSpPr txBox="1"/>
          <p:nvPr/>
        </p:nvSpPr>
        <p:spPr>
          <a:xfrm>
            <a:off x="8284464" y="1956816"/>
            <a:ext cx="6583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8%</a:t>
            </a:r>
          </a:p>
        </p:txBody>
      </p:sp>
      <p:sp>
        <p:nvSpPr>
          <p:cNvPr id="32" name="TextBox 31"/>
          <p:cNvSpPr txBox="1"/>
          <p:nvPr/>
        </p:nvSpPr>
        <p:spPr>
          <a:xfrm>
            <a:off x="9015984" y="1956816"/>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13–16%</a:t>
            </a:r>
          </a:p>
        </p:txBody>
      </p:sp>
      <p:sp>
        <p:nvSpPr>
          <p:cNvPr id="33" name="TextBox 32"/>
          <p:cNvSpPr txBox="1"/>
          <p:nvPr/>
        </p:nvSpPr>
        <p:spPr>
          <a:xfrm>
            <a:off x="9930384" y="1956816"/>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INVEST (AI-powered)</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Strategy &amp; Consulting</a:t>
            </a:r>
          </a:p>
        </p:txBody>
      </p:sp>
      <p:sp>
        <p:nvSpPr>
          <p:cNvPr id="36" name="TextBox 35"/>
          <p:cNvSpPr txBox="1"/>
          <p:nvPr/>
        </p:nvSpPr>
        <p:spPr>
          <a:xfrm>
            <a:off x="7187184" y="2249424"/>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~$18B</a:t>
            </a:r>
          </a:p>
        </p:txBody>
      </p:sp>
      <p:sp>
        <p:nvSpPr>
          <p:cNvPr id="37" name="TextBox 36"/>
          <p:cNvSpPr txBox="1"/>
          <p:nvPr/>
        </p:nvSpPr>
        <p:spPr>
          <a:xfrm>
            <a:off x="8284464" y="2249424"/>
            <a:ext cx="6583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6%</a:t>
            </a:r>
          </a:p>
        </p:txBody>
      </p:sp>
      <p:sp>
        <p:nvSpPr>
          <p:cNvPr id="38" name="TextBox 37"/>
          <p:cNvSpPr txBox="1"/>
          <p:nvPr/>
        </p:nvSpPr>
        <p:spPr>
          <a:xfrm>
            <a:off x="9015984" y="2249424"/>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18–22%</a:t>
            </a:r>
          </a:p>
        </p:txBody>
      </p:sp>
      <p:sp>
        <p:nvSpPr>
          <p:cNvPr id="39" name="TextBox 38"/>
          <p:cNvSpPr txBox="1"/>
          <p:nvPr/>
        </p:nvSpPr>
        <p:spPr>
          <a:xfrm>
            <a:off x="9930384" y="2249424"/>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INVEST (GenAI advisory)</a:t>
            </a:r>
          </a:p>
        </p:txBody>
      </p:sp>
      <p:sp>
        <p:nvSpPr>
          <p:cNvPr id="40" name="Rectangle 39"/>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86984" y="2542032"/>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Operations</a:t>
            </a:r>
          </a:p>
        </p:txBody>
      </p:sp>
      <p:sp>
        <p:nvSpPr>
          <p:cNvPr id="42" name="TextBox 41"/>
          <p:cNvSpPr txBox="1"/>
          <p:nvPr/>
        </p:nvSpPr>
        <p:spPr>
          <a:xfrm>
            <a:off x="7187184" y="2542032"/>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~$15B</a:t>
            </a:r>
          </a:p>
        </p:txBody>
      </p:sp>
      <p:sp>
        <p:nvSpPr>
          <p:cNvPr id="43" name="TextBox 42"/>
          <p:cNvSpPr txBox="1"/>
          <p:nvPr/>
        </p:nvSpPr>
        <p:spPr>
          <a:xfrm>
            <a:off x="8284464" y="2542032"/>
            <a:ext cx="6583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a:t>
            </a:r>
          </a:p>
        </p:txBody>
      </p:sp>
      <p:sp>
        <p:nvSpPr>
          <p:cNvPr id="44" name="TextBox 43"/>
          <p:cNvSpPr txBox="1"/>
          <p:nvPr/>
        </p:nvSpPr>
        <p:spPr>
          <a:xfrm>
            <a:off x="9015984" y="2542032"/>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10–14%</a:t>
            </a:r>
          </a:p>
        </p:txBody>
      </p:sp>
      <p:sp>
        <p:nvSpPr>
          <p:cNvPr id="45" name="TextBox 44"/>
          <p:cNvSpPr txBox="1"/>
          <p:nvPr/>
        </p:nvSpPr>
        <p:spPr>
          <a:xfrm>
            <a:off x="9930384" y="2542032"/>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FIX (AI automate)</a:t>
            </a:r>
          </a:p>
        </p:txBody>
      </p:sp>
      <p:sp>
        <p:nvSpPr>
          <p:cNvPr id="46" name="Rectangle 45"/>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86984" y="2834640"/>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Song</a:t>
            </a:r>
          </a:p>
        </p:txBody>
      </p:sp>
      <p:sp>
        <p:nvSpPr>
          <p:cNvPr id="48" name="TextBox 47"/>
          <p:cNvSpPr txBox="1"/>
          <p:nvPr/>
        </p:nvSpPr>
        <p:spPr>
          <a:xfrm>
            <a:off x="7187184" y="2834640"/>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~$4B</a:t>
            </a:r>
          </a:p>
        </p:txBody>
      </p:sp>
      <p:sp>
        <p:nvSpPr>
          <p:cNvPr id="49" name="TextBox 48"/>
          <p:cNvSpPr txBox="1"/>
          <p:nvPr/>
        </p:nvSpPr>
        <p:spPr>
          <a:xfrm>
            <a:off x="8284464" y="2834640"/>
            <a:ext cx="6583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12%</a:t>
            </a:r>
          </a:p>
        </p:txBody>
      </p:sp>
      <p:sp>
        <p:nvSpPr>
          <p:cNvPr id="50" name="TextBox 49"/>
          <p:cNvSpPr txBox="1"/>
          <p:nvPr/>
        </p:nvSpPr>
        <p:spPr>
          <a:xfrm>
            <a:off x="9015984" y="2834640"/>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15–18%</a:t>
            </a:r>
          </a:p>
        </p:txBody>
      </p:sp>
      <p:sp>
        <p:nvSpPr>
          <p:cNvPr id="51" name="TextBox 50"/>
          <p:cNvSpPr txBox="1"/>
          <p:nvPr/>
        </p:nvSpPr>
        <p:spPr>
          <a:xfrm>
            <a:off x="9930384" y="2834640"/>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GROW (AI-creative)</a:t>
            </a:r>
          </a:p>
        </p:txBody>
      </p:sp>
      <p:sp>
        <p:nvSpPr>
          <p:cNvPr id="52" name="Rectangle 51"/>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86984" y="3127248"/>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Industry X</a:t>
            </a:r>
          </a:p>
        </p:txBody>
      </p:sp>
      <p:sp>
        <p:nvSpPr>
          <p:cNvPr id="54" name="TextBox 53"/>
          <p:cNvSpPr txBox="1"/>
          <p:nvPr/>
        </p:nvSpPr>
        <p:spPr>
          <a:xfrm>
            <a:off x="7187184" y="3127248"/>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~$4B</a:t>
            </a:r>
          </a:p>
        </p:txBody>
      </p:sp>
      <p:sp>
        <p:nvSpPr>
          <p:cNvPr id="55" name="TextBox 54"/>
          <p:cNvSpPr txBox="1"/>
          <p:nvPr/>
        </p:nvSpPr>
        <p:spPr>
          <a:xfrm>
            <a:off x="8284464" y="3127248"/>
            <a:ext cx="6583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8%</a:t>
            </a:r>
          </a:p>
        </p:txBody>
      </p:sp>
      <p:sp>
        <p:nvSpPr>
          <p:cNvPr id="56" name="TextBox 55"/>
          <p:cNvSpPr txBox="1"/>
          <p:nvPr/>
        </p:nvSpPr>
        <p:spPr>
          <a:xfrm>
            <a:off x="9015984" y="3127248"/>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15–18%</a:t>
            </a:r>
          </a:p>
        </p:txBody>
      </p:sp>
      <p:sp>
        <p:nvSpPr>
          <p:cNvPr id="57" name="TextBox 56"/>
          <p:cNvSpPr txBox="1"/>
          <p:nvPr/>
        </p:nvSpPr>
        <p:spPr>
          <a:xfrm>
            <a:off x="9930384" y="3127248"/>
            <a:ext cx="1938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GROW (industrial AI)</a:t>
            </a:r>
          </a:p>
        </p:txBody>
      </p:sp>
      <p:sp>
        <p:nvSpPr>
          <p:cNvPr id="58" name="TextBox 5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9" name="TextBox 5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3: STRATEGIC CHOICE &amp; ECONOMICS  ·  PRICING STRATEGY</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T&amp;M Pricing Is Accenture's Biggest Margin Risk — Outcome-Based Must Scale to 20%+ of Deals</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Time-and-materials pricing exposes Accenture to AI-driven day-rate compression as GenAI increases delivery speed. The strategic move is outcome-based pricing — where Accenture captures a share of the value created, not hours spent. Currently &lt;10% of contracts; target must be 20%+ by FY2027.</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T&amp;M risk: as GenAI 2× delivery speed, clients will renegotiate day rates downward</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Outcome pricing opportunity: AI-enabled transformations generate 15–30% cost reduction for clients — Accenture can capture 15–25% of that value</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Packaging: 'Reinvention packs' (fixed-scope, outcome-defined) are the bridge from T&amp;M to outcomes</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Segment logic: Fortune 100 CFOs prefer outcome deals; mid-market needs fixed-price simplicity</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Pilot design: 3 outcome-based GenAI deals in FS and healthcare by Q2 FY2026 with ROI-share terms</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5727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Pricing Model</a:t>
            </a:r>
          </a:p>
        </p:txBody>
      </p:sp>
      <p:sp>
        <p:nvSpPr>
          <p:cNvPr id="26" name="TextBox 25"/>
          <p:cNvSpPr txBox="1"/>
          <p:nvPr/>
        </p:nvSpPr>
        <p:spPr>
          <a:xfrm>
            <a:off x="7232904" y="1664208"/>
            <a:ext cx="12070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Current Mix</a:t>
            </a:r>
          </a:p>
        </p:txBody>
      </p:sp>
      <p:sp>
        <p:nvSpPr>
          <p:cNvPr id="27" name="TextBox 26"/>
          <p:cNvSpPr txBox="1"/>
          <p:nvPr/>
        </p:nvSpPr>
        <p:spPr>
          <a:xfrm>
            <a:off x="8513064" y="1664208"/>
            <a:ext cx="13898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FY2027 Target</a:t>
            </a:r>
          </a:p>
        </p:txBody>
      </p:sp>
      <p:sp>
        <p:nvSpPr>
          <p:cNvPr id="28" name="TextBox 27"/>
          <p:cNvSpPr txBox="1"/>
          <p:nvPr/>
        </p:nvSpPr>
        <p:spPr>
          <a:xfrm>
            <a:off x="9976104" y="1664208"/>
            <a:ext cx="18928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Margin Impact</a:t>
            </a:r>
          </a:p>
        </p:txBody>
      </p:sp>
      <p:sp>
        <p:nvSpPr>
          <p:cNvPr id="29" name="Rectangle 28"/>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6984" y="1956816"/>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Time &amp; Materials</a:t>
            </a:r>
          </a:p>
        </p:txBody>
      </p:sp>
      <p:sp>
        <p:nvSpPr>
          <p:cNvPr id="31" name="TextBox 30"/>
          <p:cNvSpPr txBox="1"/>
          <p:nvPr/>
        </p:nvSpPr>
        <p:spPr>
          <a:xfrm>
            <a:off x="7232904" y="1956816"/>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~75%</a:t>
            </a:r>
          </a:p>
        </p:txBody>
      </p:sp>
      <p:sp>
        <p:nvSpPr>
          <p:cNvPr id="32" name="TextBox 31"/>
          <p:cNvSpPr txBox="1"/>
          <p:nvPr/>
        </p:nvSpPr>
        <p:spPr>
          <a:xfrm>
            <a:off x="8513064" y="1956816"/>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55%</a:t>
            </a:r>
          </a:p>
        </p:txBody>
      </p:sp>
      <p:sp>
        <p:nvSpPr>
          <p:cNvPr id="33" name="TextBox 32"/>
          <p:cNvSpPr txBox="1"/>
          <p:nvPr/>
        </p:nvSpPr>
        <p:spPr>
          <a:xfrm>
            <a:off x="9976104" y="1956816"/>
            <a:ext cx="18928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Declining (AI compress)</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Fixed-scope packs</a:t>
            </a:r>
          </a:p>
        </p:txBody>
      </p:sp>
      <p:sp>
        <p:nvSpPr>
          <p:cNvPr id="36" name="TextBox 35"/>
          <p:cNvSpPr txBox="1"/>
          <p:nvPr/>
        </p:nvSpPr>
        <p:spPr>
          <a:xfrm>
            <a:off x="7232904" y="2249424"/>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~15%</a:t>
            </a:r>
          </a:p>
        </p:txBody>
      </p:sp>
      <p:sp>
        <p:nvSpPr>
          <p:cNvPr id="37" name="TextBox 36"/>
          <p:cNvSpPr txBox="1"/>
          <p:nvPr/>
        </p:nvSpPr>
        <p:spPr>
          <a:xfrm>
            <a:off x="8513064" y="2249424"/>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25%</a:t>
            </a:r>
          </a:p>
        </p:txBody>
      </p:sp>
      <p:sp>
        <p:nvSpPr>
          <p:cNvPr id="38" name="TextBox 37"/>
          <p:cNvSpPr txBox="1"/>
          <p:nvPr/>
        </p:nvSpPr>
        <p:spPr>
          <a:xfrm>
            <a:off x="9976104" y="2249424"/>
            <a:ext cx="18928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Stable, predictable</a:t>
            </a:r>
          </a:p>
        </p:txBody>
      </p:sp>
      <p:sp>
        <p:nvSpPr>
          <p:cNvPr id="39" name="Rectangle 38"/>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86984" y="2542032"/>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Outcome-based</a:t>
            </a:r>
          </a:p>
        </p:txBody>
      </p:sp>
      <p:sp>
        <p:nvSpPr>
          <p:cNvPr id="41" name="TextBox 40"/>
          <p:cNvSpPr txBox="1"/>
          <p:nvPr/>
        </p:nvSpPr>
        <p:spPr>
          <a:xfrm>
            <a:off x="7232904" y="2542032"/>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&lt;10%</a:t>
            </a:r>
          </a:p>
        </p:txBody>
      </p:sp>
      <p:sp>
        <p:nvSpPr>
          <p:cNvPr id="42" name="TextBox 41"/>
          <p:cNvSpPr txBox="1"/>
          <p:nvPr/>
        </p:nvSpPr>
        <p:spPr>
          <a:xfrm>
            <a:off x="8513064" y="2542032"/>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20%</a:t>
            </a:r>
          </a:p>
        </p:txBody>
      </p:sp>
      <p:sp>
        <p:nvSpPr>
          <p:cNvPr id="43" name="TextBox 42"/>
          <p:cNvSpPr txBox="1"/>
          <p:nvPr/>
        </p:nvSpPr>
        <p:spPr>
          <a:xfrm>
            <a:off x="9976104" y="2542032"/>
            <a:ext cx="18928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 (value share)</a:t>
            </a:r>
          </a:p>
        </p:txBody>
      </p:sp>
      <p:sp>
        <p:nvSpPr>
          <p:cNvPr id="44" name="Rectangle 43"/>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86984" y="2834640"/>
            <a:ext cx="15727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Platform licensing</a:t>
            </a:r>
          </a:p>
        </p:txBody>
      </p:sp>
      <p:sp>
        <p:nvSpPr>
          <p:cNvPr id="46" name="TextBox 45"/>
          <p:cNvSpPr txBox="1"/>
          <p:nvPr/>
        </p:nvSpPr>
        <p:spPr>
          <a:xfrm>
            <a:off x="7232904" y="2834640"/>
            <a:ext cx="12070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&lt;1%</a:t>
            </a:r>
          </a:p>
        </p:txBody>
      </p:sp>
      <p:sp>
        <p:nvSpPr>
          <p:cNvPr id="47" name="TextBox 46"/>
          <p:cNvSpPr txBox="1"/>
          <p:nvPr/>
        </p:nvSpPr>
        <p:spPr>
          <a:xfrm>
            <a:off x="8513064" y="2834640"/>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a:t>
            </a:r>
          </a:p>
        </p:txBody>
      </p:sp>
      <p:sp>
        <p:nvSpPr>
          <p:cNvPr id="48" name="TextBox 47"/>
          <p:cNvSpPr txBox="1"/>
          <p:nvPr/>
        </p:nvSpPr>
        <p:spPr>
          <a:xfrm>
            <a:off x="9976104" y="2834640"/>
            <a:ext cx="18928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Very high (60%+ margin)</a:t>
            </a:r>
          </a:p>
        </p:txBody>
      </p:sp>
      <p:sp>
        <p:nvSpPr>
          <p:cNvPr id="49" name="TextBox 4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0" name="TextBox 4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4: OPERATING MODEL &amp; EXECUTION  ·  OPERATING MODEL DESIGN</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AI Refinery's Distiller Framework IS the Target Operating Architecture</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GitHub confirms the target operating model is already in code: AI Refinery SDK's Distiller Framework orchestrates specialist AI agents across enterprise workflows with LLM-agnostic inference, a Responsible AI module, and Knowledge Extraction API. The platform replaces manual delivery orchestration at scale.</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Distiller Framework: multi-agent orchestrator — agents handle different tasks in parallel, with context passing</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LLM-agnostic inference API: connect any model (GPT-5, Claude, Gemini) — no vendor lock-in at the agent layer</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Responsible AI module: built-in policy/safety rules applied to every query — required for Fortune 100 governance</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ADM (Application Delivery Method): 12-phase lifecycle, 11 specialist agent roles — formal delivery framework</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AI Refinery Distiller Framework: github.com/Accenture/airefinery-sdk  |  Homepage: sdk.airefinery.accenture.com</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4356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Model Element</a:t>
            </a:r>
          </a:p>
        </p:txBody>
      </p:sp>
      <p:sp>
        <p:nvSpPr>
          <p:cNvPr id="26" name="TextBox 25"/>
          <p:cNvSpPr txBox="1"/>
          <p:nvPr/>
        </p:nvSpPr>
        <p:spPr>
          <a:xfrm>
            <a:off x="7095744" y="1664208"/>
            <a:ext cx="14356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Current State</a:t>
            </a:r>
          </a:p>
        </p:txBody>
      </p:sp>
      <p:sp>
        <p:nvSpPr>
          <p:cNvPr id="27" name="TextBox 26"/>
          <p:cNvSpPr txBox="1"/>
          <p:nvPr/>
        </p:nvSpPr>
        <p:spPr>
          <a:xfrm>
            <a:off x="8604504" y="1664208"/>
            <a:ext cx="16642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AI Refinery Target</a:t>
            </a:r>
          </a:p>
        </p:txBody>
      </p:sp>
      <p:sp>
        <p:nvSpPr>
          <p:cNvPr id="28" name="TextBox 27"/>
          <p:cNvSpPr txBox="1"/>
          <p:nvPr/>
        </p:nvSpPr>
        <p:spPr>
          <a:xfrm>
            <a:off x="10341864" y="1664208"/>
            <a:ext cx="15270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GitHub Evidence</a:t>
            </a:r>
          </a:p>
        </p:txBody>
      </p:sp>
      <p:sp>
        <p:nvSpPr>
          <p:cNvPr id="29" name="Rectangle 28"/>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6984" y="1956816"/>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Team structure</a:t>
            </a:r>
          </a:p>
        </p:txBody>
      </p:sp>
      <p:sp>
        <p:nvSpPr>
          <p:cNvPr id="31" name="TextBox 30"/>
          <p:cNvSpPr txBox="1"/>
          <p:nvPr/>
        </p:nvSpPr>
        <p:spPr>
          <a:xfrm>
            <a:off x="7095744" y="1956816"/>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Practice silos</a:t>
            </a:r>
          </a:p>
        </p:txBody>
      </p:sp>
      <p:sp>
        <p:nvSpPr>
          <p:cNvPr id="32" name="TextBox 31"/>
          <p:cNvSpPr txBox="1"/>
          <p:nvPr/>
        </p:nvSpPr>
        <p:spPr>
          <a:xfrm>
            <a:off x="8604504" y="1956816"/>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agent pods (Distiller)</a:t>
            </a:r>
          </a:p>
        </p:txBody>
      </p:sp>
      <p:sp>
        <p:nvSpPr>
          <p:cNvPr id="33" name="TextBox 32"/>
          <p:cNvSpPr txBox="1"/>
          <p:nvPr/>
        </p:nvSpPr>
        <p:spPr>
          <a:xfrm>
            <a:off x="10341864" y="1956816"/>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airefinery-sdk v1.31</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Delivery tools</a:t>
            </a:r>
          </a:p>
        </p:txBody>
      </p:sp>
      <p:sp>
        <p:nvSpPr>
          <p:cNvPr id="36" name="TextBox 35"/>
          <p:cNvSpPr txBox="1"/>
          <p:nvPr/>
        </p:nvSpPr>
        <p:spPr>
          <a:xfrm>
            <a:off x="7095744" y="2249424"/>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Manual + legacy tools</a:t>
            </a:r>
          </a:p>
        </p:txBody>
      </p:sp>
      <p:sp>
        <p:nvSpPr>
          <p:cNvPr id="37" name="TextBox 36"/>
          <p:cNvSpPr txBox="1"/>
          <p:nvPr/>
        </p:nvSpPr>
        <p:spPr>
          <a:xfrm>
            <a:off x="8604504" y="2249424"/>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LLM-agnostic inference API</a:t>
            </a:r>
          </a:p>
        </p:txBody>
      </p:sp>
      <p:sp>
        <p:nvSpPr>
          <p:cNvPr id="38" name="TextBox 37"/>
          <p:cNvSpPr txBox="1"/>
          <p:nvPr/>
        </p:nvSpPr>
        <p:spPr>
          <a:xfrm>
            <a:off x="10341864" y="2249424"/>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29 SDK releases</a:t>
            </a:r>
          </a:p>
        </p:txBody>
      </p:sp>
      <p:sp>
        <p:nvSpPr>
          <p:cNvPr id="39" name="Rectangle 38"/>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86984" y="2542032"/>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Governance</a:t>
            </a:r>
          </a:p>
        </p:txBody>
      </p:sp>
      <p:sp>
        <p:nvSpPr>
          <p:cNvPr id="41" name="TextBox 40"/>
          <p:cNvSpPr txBox="1"/>
          <p:nvPr/>
        </p:nvSpPr>
        <p:spPr>
          <a:xfrm>
            <a:off x="7095744" y="2542032"/>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Billability KPIs</a:t>
            </a:r>
          </a:p>
        </p:txBody>
      </p:sp>
      <p:sp>
        <p:nvSpPr>
          <p:cNvPr id="42" name="TextBox 41"/>
          <p:cNvSpPr txBox="1"/>
          <p:nvPr/>
        </p:nvSpPr>
        <p:spPr>
          <a:xfrm>
            <a:off x="8604504" y="2542032"/>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RAI module + outcome metrics</a:t>
            </a:r>
          </a:p>
        </p:txBody>
      </p:sp>
      <p:sp>
        <p:nvSpPr>
          <p:cNvPr id="43" name="TextBox 42"/>
          <p:cNvSpPr txBox="1"/>
          <p:nvPr/>
        </p:nvSpPr>
        <p:spPr>
          <a:xfrm>
            <a:off x="10341864" y="2542032"/>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RAI module built-in</a:t>
            </a:r>
          </a:p>
        </p:txBody>
      </p:sp>
      <p:sp>
        <p:nvSpPr>
          <p:cNvPr id="44" name="Rectangle 43"/>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86984" y="2834640"/>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Knowledge work</a:t>
            </a:r>
          </a:p>
        </p:txBody>
      </p:sp>
      <p:sp>
        <p:nvSpPr>
          <p:cNvPr id="46" name="TextBox 45"/>
          <p:cNvSpPr txBox="1"/>
          <p:nvPr/>
        </p:nvSpPr>
        <p:spPr>
          <a:xfrm>
            <a:off x="7095744" y="2834640"/>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Human analysts</a:t>
            </a:r>
          </a:p>
        </p:txBody>
      </p:sp>
      <p:sp>
        <p:nvSpPr>
          <p:cNvPr id="47" name="TextBox 46"/>
          <p:cNvSpPr txBox="1"/>
          <p:nvPr/>
        </p:nvSpPr>
        <p:spPr>
          <a:xfrm>
            <a:off x="8604504" y="2834640"/>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Knowledge Extraction API</a:t>
            </a:r>
          </a:p>
        </p:txBody>
      </p:sp>
      <p:sp>
        <p:nvSpPr>
          <p:cNvPr id="48" name="TextBox 47"/>
          <p:cNvSpPr txBox="1"/>
          <p:nvPr/>
        </p:nvSpPr>
        <p:spPr>
          <a:xfrm>
            <a:off x="10341864" y="2834640"/>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Docs/tables/figures</a:t>
            </a:r>
          </a:p>
        </p:txBody>
      </p:sp>
      <p:sp>
        <p:nvSpPr>
          <p:cNvPr id="49" name="Rectangle 48"/>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86984" y="3127248"/>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Billing model</a:t>
            </a:r>
          </a:p>
        </p:txBody>
      </p:sp>
      <p:sp>
        <p:nvSpPr>
          <p:cNvPr id="51" name="TextBox 50"/>
          <p:cNvSpPr txBox="1"/>
          <p:nvPr/>
        </p:nvSpPr>
        <p:spPr>
          <a:xfrm>
            <a:off x="7095744" y="3127248"/>
            <a:ext cx="14356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T&amp;M dominant</a:t>
            </a:r>
          </a:p>
        </p:txBody>
      </p:sp>
      <p:sp>
        <p:nvSpPr>
          <p:cNvPr id="52" name="TextBox 51"/>
          <p:cNvSpPr txBox="1"/>
          <p:nvPr/>
        </p:nvSpPr>
        <p:spPr>
          <a:xfrm>
            <a:off x="8604504" y="3127248"/>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 + platform licensing</a:t>
            </a:r>
          </a:p>
        </p:txBody>
      </p:sp>
      <p:sp>
        <p:nvSpPr>
          <p:cNvPr id="53" name="TextBox 52"/>
          <p:cNvSpPr txBox="1"/>
          <p:nvPr/>
        </p:nvSpPr>
        <p:spPr>
          <a:xfrm>
            <a:off x="10341864" y="3127248"/>
            <a:ext cx="15270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Apache 2.0 = commercializable</a:t>
            </a:r>
          </a:p>
        </p:txBody>
      </p:sp>
      <p:sp>
        <p:nvSpPr>
          <p:cNvPr id="54" name="TextBox 5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5" name="TextBox 5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4: OPERATING MODEL &amp; EXECUTION  ·  TRANSFORMATION ROADMAP</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GitHub Commit History Proves Phase 3 Is Live — AI Refinery SDK Last Pushed June 9, 2026</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GitHub is a real-time signal of where Accenture's transformation actually is. AI Refinery SDK pushed June 9, 2026 (6 days ago) with version 1.31.3 — Phase 3 is not a plan, it is in production. mcp-bench accepted to NeurIPS 2025 confirms the agentic AI research pipeline feeding Phase 4.</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Phase 3 evidence: airefinery-sdk v1.31.3 pushed June 9, 2026 — active production development</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Phase 3 evidence: 29 SDK releases in 14 months (April 2025 to June 2026) = monthly release cadence</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Phase 4 signal: mcp-bench (NeurIPS 2025) evaluates tool-using LLM agents — agentic AI research pipeline is running</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Phase 4 signal: mcp-bench leaderboard is live on HuggingFace — Accenture owns the evaluation standard</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AI Refinery last commit: June 9, 2026  |  mcp-bench arXiv:2508.20453, NeurIPS 2025 Workshop</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2984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Phase</a:t>
            </a:r>
          </a:p>
        </p:txBody>
      </p:sp>
      <p:sp>
        <p:nvSpPr>
          <p:cNvPr id="26" name="TextBox 25"/>
          <p:cNvSpPr txBox="1"/>
          <p:nvPr/>
        </p:nvSpPr>
        <p:spPr>
          <a:xfrm>
            <a:off x="6958584" y="1664208"/>
            <a:ext cx="9326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Timing</a:t>
            </a:r>
          </a:p>
        </p:txBody>
      </p:sp>
      <p:sp>
        <p:nvSpPr>
          <p:cNvPr id="27" name="TextBox 26"/>
          <p:cNvSpPr txBox="1"/>
          <p:nvPr/>
        </p:nvSpPr>
        <p:spPr>
          <a:xfrm>
            <a:off x="7964424" y="1664208"/>
            <a:ext cx="25328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GitHub Evidence</a:t>
            </a:r>
          </a:p>
        </p:txBody>
      </p:sp>
      <p:sp>
        <p:nvSpPr>
          <p:cNvPr id="28" name="TextBox 27"/>
          <p:cNvSpPr txBox="1"/>
          <p:nvPr/>
        </p:nvSpPr>
        <p:spPr>
          <a:xfrm>
            <a:off x="10570464" y="1664208"/>
            <a:ext cx="12984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Status</a:t>
            </a:r>
          </a:p>
        </p:txBody>
      </p:sp>
      <p:sp>
        <p:nvSpPr>
          <p:cNvPr id="29" name="Rectangle 28"/>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6984" y="1956816"/>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 — INVEST</a:t>
            </a:r>
          </a:p>
        </p:txBody>
      </p:sp>
      <p:sp>
        <p:nvSpPr>
          <p:cNvPr id="31" name="TextBox 30"/>
          <p:cNvSpPr txBox="1"/>
          <p:nvPr/>
        </p:nvSpPr>
        <p:spPr>
          <a:xfrm>
            <a:off x="6958584" y="1956816"/>
            <a:ext cx="932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FY2023–24</a:t>
            </a:r>
          </a:p>
        </p:txBody>
      </p:sp>
      <p:sp>
        <p:nvSpPr>
          <p:cNvPr id="32" name="TextBox 31"/>
          <p:cNvSpPr txBox="1"/>
          <p:nvPr/>
        </p:nvSpPr>
        <p:spPr>
          <a:xfrm>
            <a:off x="7964424" y="1956816"/>
            <a:ext cx="2532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AmpliGraph, early AI repos published</a:t>
            </a:r>
          </a:p>
        </p:txBody>
      </p:sp>
      <p:sp>
        <p:nvSpPr>
          <p:cNvPr id="33" name="TextBox 32"/>
          <p:cNvSpPr txBox="1"/>
          <p:nvPr/>
        </p:nvSpPr>
        <p:spPr>
          <a:xfrm>
            <a:off x="10570464" y="1956816"/>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COMPLETE</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 — SCALE</a:t>
            </a:r>
          </a:p>
        </p:txBody>
      </p:sp>
      <p:sp>
        <p:nvSpPr>
          <p:cNvPr id="36" name="TextBox 35"/>
          <p:cNvSpPr txBox="1"/>
          <p:nvPr/>
        </p:nvSpPr>
        <p:spPr>
          <a:xfrm>
            <a:off x="6958584" y="2249424"/>
            <a:ext cx="932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FY2025</a:t>
            </a:r>
          </a:p>
        </p:txBody>
      </p:sp>
      <p:sp>
        <p:nvSpPr>
          <p:cNvPr id="37" name="TextBox 36"/>
          <p:cNvSpPr txBox="1"/>
          <p:nvPr/>
        </p:nvSpPr>
        <p:spPr>
          <a:xfrm>
            <a:off x="7964424" y="2249424"/>
            <a:ext cx="2532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77K practitioners, 23 acquisitions</a:t>
            </a:r>
          </a:p>
        </p:txBody>
      </p:sp>
      <p:sp>
        <p:nvSpPr>
          <p:cNvPr id="38" name="TextBox 37"/>
          <p:cNvSpPr txBox="1"/>
          <p:nvPr/>
        </p:nvSpPr>
        <p:spPr>
          <a:xfrm>
            <a:off x="10570464" y="2249424"/>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DELIVERED</a:t>
            </a:r>
          </a:p>
        </p:txBody>
      </p:sp>
      <p:sp>
        <p:nvSpPr>
          <p:cNvPr id="39" name="Rectangle 38"/>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86984" y="2542032"/>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 — PLATFORM</a:t>
            </a:r>
          </a:p>
        </p:txBody>
      </p:sp>
      <p:sp>
        <p:nvSpPr>
          <p:cNvPr id="41" name="TextBox 40"/>
          <p:cNvSpPr txBox="1"/>
          <p:nvPr/>
        </p:nvSpPr>
        <p:spPr>
          <a:xfrm>
            <a:off x="6958584" y="2542032"/>
            <a:ext cx="932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FY2026</a:t>
            </a:r>
          </a:p>
        </p:txBody>
      </p:sp>
      <p:sp>
        <p:nvSpPr>
          <p:cNvPr id="42" name="TextBox 41"/>
          <p:cNvSpPr txBox="1"/>
          <p:nvPr/>
        </p:nvSpPr>
        <p:spPr>
          <a:xfrm>
            <a:off x="7964424" y="2542032"/>
            <a:ext cx="2532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Refinery v1.31.3, June 9 2026</a:t>
            </a:r>
          </a:p>
        </p:txBody>
      </p:sp>
      <p:sp>
        <p:nvSpPr>
          <p:cNvPr id="43" name="TextBox 42"/>
          <p:cNvSpPr txBox="1"/>
          <p:nvPr/>
        </p:nvSpPr>
        <p:spPr>
          <a:xfrm>
            <a:off x="10570464" y="2542032"/>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LIVE</a:t>
            </a:r>
          </a:p>
        </p:txBody>
      </p:sp>
      <p:sp>
        <p:nvSpPr>
          <p:cNvPr id="44" name="Rectangle 43"/>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86984" y="2834640"/>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4 — AGENTIC</a:t>
            </a:r>
          </a:p>
        </p:txBody>
      </p:sp>
      <p:sp>
        <p:nvSpPr>
          <p:cNvPr id="46" name="TextBox 45"/>
          <p:cNvSpPr txBox="1"/>
          <p:nvPr/>
        </p:nvSpPr>
        <p:spPr>
          <a:xfrm>
            <a:off x="6958584" y="2834640"/>
            <a:ext cx="932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FY2026–27</a:t>
            </a:r>
          </a:p>
        </p:txBody>
      </p:sp>
      <p:sp>
        <p:nvSpPr>
          <p:cNvPr id="47" name="TextBox 46"/>
          <p:cNvSpPr txBox="1"/>
          <p:nvPr/>
        </p:nvSpPr>
        <p:spPr>
          <a:xfrm>
            <a:off x="7964424" y="2834640"/>
            <a:ext cx="2532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mcp-bench NeurIPS 2025, HF leaderboard</a:t>
            </a:r>
          </a:p>
        </p:txBody>
      </p:sp>
      <p:sp>
        <p:nvSpPr>
          <p:cNvPr id="48" name="TextBox 47"/>
          <p:cNvSpPr txBox="1"/>
          <p:nvPr/>
        </p:nvSpPr>
        <p:spPr>
          <a:xfrm>
            <a:off x="10570464" y="2834640"/>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 RESEARCH</a:t>
            </a:r>
          </a:p>
        </p:txBody>
      </p:sp>
      <p:sp>
        <p:nvSpPr>
          <p:cNvPr id="49" name="TextBox 4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0" name="TextBox 4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4: OPERATING MODEL &amp; EXECUTION  ·  INITIATIVE PRIORITIZER</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Agentic AI and GenWizard Commercialization Are the Vital Few — Federal Recovery Is a Watch Item</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Accenture's leadership has identified 47,000+ GenAI client projects. Prioritizing internal investments requires ruthless focus: agentic AI service lines and GenWizard IP commercialization offer the highest impact-to-feasibility ratio. US federal recovery is real but timeline-uncertain.</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P1: Agentic AI service line (HIGH impact / HIGH feasibility) — build on $5.9B bookings momentum</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P2: GenWizard platform commercialization (HIGH / MEDIUM) — converts internal tool to IP revenue</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P3: Outcome-based pricing scale (HIGH / MEDIUM) — requires contract governance redesign</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Kill: Traditional headcount-led outsourcing growth — commoditized, margin-dilutive</a:t>
            </a:r>
          </a:p>
        </p:txBody>
      </p:sp>
      <p:sp>
        <p:nvSpPr>
          <p:cNvPr id="20" name="TextBox 19"/>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1" name="Rectangle 20"/>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4" y="1664208"/>
            <a:ext cx="16642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Initiative</a:t>
            </a:r>
          </a:p>
        </p:txBody>
      </p:sp>
      <p:sp>
        <p:nvSpPr>
          <p:cNvPr id="24" name="TextBox 23"/>
          <p:cNvSpPr txBox="1"/>
          <p:nvPr/>
        </p:nvSpPr>
        <p:spPr>
          <a:xfrm>
            <a:off x="7324344" y="1664208"/>
            <a:ext cx="7955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Impact</a:t>
            </a:r>
          </a:p>
        </p:txBody>
      </p:sp>
      <p:sp>
        <p:nvSpPr>
          <p:cNvPr id="25" name="TextBox 24"/>
          <p:cNvSpPr txBox="1"/>
          <p:nvPr/>
        </p:nvSpPr>
        <p:spPr>
          <a:xfrm>
            <a:off x="8193024" y="1664208"/>
            <a:ext cx="8412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Feasibility</a:t>
            </a:r>
          </a:p>
        </p:txBody>
      </p:sp>
      <p:sp>
        <p:nvSpPr>
          <p:cNvPr id="26" name="TextBox 25"/>
          <p:cNvSpPr txBox="1"/>
          <p:nvPr/>
        </p:nvSpPr>
        <p:spPr>
          <a:xfrm>
            <a:off x="9107424" y="1664208"/>
            <a:ext cx="12984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Priority</a:t>
            </a:r>
          </a:p>
        </p:txBody>
      </p:sp>
      <p:sp>
        <p:nvSpPr>
          <p:cNvPr id="27" name="TextBox 26"/>
          <p:cNvSpPr txBox="1"/>
          <p:nvPr/>
        </p:nvSpPr>
        <p:spPr>
          <a:xfrm>
            <a:off x="10479024" y="1664208"/>
            <a:ext cx="13898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FY2026 Decision</a:t>
            </a:r>
          </a:p>
        </p:txBody>
      </p:sp>
      <p:sp>
        <p:nvSpPr>
          <p:cNvPr id="28" name="Rectangle 27"/>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86984" y="1956816"/>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Agentic AI service line</a:t>
            </a:r>
          </a:p>
        </p:txBody>
      </p:sp>
      <p:sp>
        <p:nvSpPr>
          <p:cNvPr id="30" name="TextBox 29"/>
          <p:cNvSpPr txBox="1"/>
          <p:nvPr/>
        </p:nvSpPr>
        <p:spPr>
          <a:xfrm>
            <a:off x="7324344" y="1956816"/>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Very High</a:t>
            </a:r>
          </a:p>
        </p:txBody>
      </p:sp>
      <p:sp>
        <p:nvSpPr>
          <p:cNvPr id="31" name="TextBox 30"/>
          <p:cNvSpPr txBox="1"/>
          <p:nvPr/>
        </p:nvSpPr>
        <p:spPr>
          <a:xfrm>
            <a:off x="8193024" y="1956816"/>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32" name="TextBox 31"/>
          <p:cNvSpPr txBox="1"/>
          <p:nvPr/>
        </p:nvSpPr>
        <p:spPr>
          <a:xfrm>
            <a:off x="9107424" y="1956816"/>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P1 — Fund fully</a:t>
            </a:r>
          </a:p>
        </p:txBody>
      </p:sp>
      <p:sp>
        <p:nvSpPr>
          <p:cNvPr id="33" name="TextBox 32"/>
          <p:cNvSpPr txBox="1"/>
          <p:nvPr/>
        </p:nvSpPr>
        <p:spPr>
          <a:xfrm>
            <a:off x="10479024" y="1956816"/>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Launch Q1</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GenWizard commercialize</a:t>
            </a:r>
          </a:p>
        </p:txBody>
      </p:sp>
      <p:sp>
        <p:nvSpPr>
          <p:cNvPr id="36" name="TextBox 35"/>
          <p:cNvSpPr txBox="1"/>
          <p:nvPr/>
        </p:nvSpPr>
        <p:spPr>
          <a:xfrm>
            <a:off x="7324344" y="2249424"/>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37" name="TextBox 36"/>
          <p:cNvSpPr txBox="1"/>
          <p:nvPr/>
        </p:nvSpPr>
        <p:spPr>
          <a:xfrm>
            <a:off x="8193024" y="2249424"/>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38" name="TextBox 37"/>
          <p:cNvSpPr txBox="1"/>
          <p:nvPr/>
        </p:nvSpPr>
        <p:spPr>
          <a:xfrm>
            <a:off x="9107424" y="2249424"/>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P2 — Accelerate</a:t>
            </a:r>
          </a:p>
        </p:txBody>
      </p:sp>
      <p:sp>
        <p:nvSpPr>
          <p:cNvPr id="39" name="TextBox 38"/>
          <p:cNvSpPr txBox="1"/>
          <p:nvPr/>
        </p:nvSpPr>
        <p:spPr>
          <a:xfrm>
            <a:off x="10479024" y="2249424"/>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Pilot by Q2</a:t>
            </a:r>
          </a:p>
        </p:txBody>
      </p:sp>
      <p:sp>
        <p:nvSpPr>
          <p:cNvPr id="40" name="Rectangle 39"/>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86984" y="2542032"/>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 pricing scale</a:t>
            </a:r>
          </a:p>
        </p:txBody>
      </p:sp>
      <p:sp>
        <p:nvSpPr>
          <p:cNvPr id="42" name="TextBox 41"/>
          <p:cNvSpPr txBox="1"/>
          <p:nvPr/>
        </p:nvSpPr>
        <p:spPr>
          <a:xfrm>
            <a:off x="7324344" y="2542032"/>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3" name="TextBox 42"/>
          <p:cNvSpPr txBox="1"/>
          <p:nvPr/>
        </p:nvSpPr>
        <p:spPr>
          <a:xfrm>
            <a:off x="8193024" y="2542032"/>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44" name="TextBox 43"/>
          <p:cNvSpPr txBox="1"/>
          <p:nvPr/>
        </p:nvSpPr>
        <p:spPr>
          <a:xfrm>
            <a:off x="9107424" y="2542032"/>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P3 — Redesign</a:t>
            </a:r>
          </a:p>
        </p:txBody>
      </p:sp>
      <p:sp>
        <p:nvSpPr>
          <p:cNvPr id="45" name="TextBox 44"/>
          <p:cNvSpPr txBox="1"/>
          <p:nvPr/>
        </p:nvSpPr>
        <p:spPr>
          <a:xfrm>
            <a:off x="10479024" y="2542032"/>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Governance by Q1</a:t>
            </a:r>
          </a:p>
        </p:txBody>
      </p:sp>
      <p:sp>
        <p:nvSpPr>
          <p:cNvPr id="46" name="Rectangle 45"/>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86984" y="2834640"/>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US federal recovery</a:t>
            </a:r>
          </a:p>
        </p:txBody>
      </p:sp>
      <p:sp>
        <p:nvSpPr>
          <p:cNvPr id="48" name="TextBox 47"/>
          <p:cNvSpPr txBox="1"/>
          <p:nvPr/>
        </p:nvSpPr>
        <p:spPr>
          <a:xfrm>
            <a:off x="7324344" y="2834640"/>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49" name="TextBox 48"/>
          <p:cNvSpPr txBox="1"/>
          <p:nvPr/>
        </p:nvSpPr>
        <p:spPr>
          <a:xfrm>
            <a:off x="8193024" y="2834640"/>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Low</a:t>
            </a:r>
          </a:p>
        </p:txBody>
      </p:sp>
      <p:sp>
        <p:nvSpPr>
          <p:cNvPr id="50" name="TextBox 49"/>
          <p:cNvSpPr txBox="1"/>
          <p:nvPr/>
        </p:nvSpPr>
        <p:spPr>
          <a:xfrm>
            <a:off x="9107424" y="2834640"/>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Watch</a:t>
            </a:r>
          </a:p>
        </p:txBody>
      </p:sp>
      <p:sp>
        <p:nvSpPr>
          <p:cNvPr id="51" name="TextBox 50"/>
          <p:cNvSpPr txBox="1"/>
          <p:nvPr/>
        </p:nvSpPr>
        <p:spPr>
          <a:xfrm>
            <a:off x="10479024" y="2834640"/>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Track quarterly</a:t>
            </a:r>
          </a:p>
        </p:txBody>
      </p:sp>
      <p:sp>
        <p:nvSpPr>
          <p:cNvPr id="52" name="Rectangle 51"/>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86984" y="3127248"/>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Trad. outsourcing growth</a:t>
            </a:r>
          </a:p>
        </p:txBody>
      </p:sp>
      <p:sp>
        <p:nvSpPr>
          <p:cNvPr id="54" name="TextBox 53"/>
          <p:cNvSpPr txBox="1"/>
          <p:nvPr/>
        </p:nvSpPr>
        <p:spPr>
          <a:xfrm>
            <a:off x="7324344" y="3127248"/>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Low</a:t>
            </a:r>
          </a:p>
        </p:txBody>
      </p:sp>
      <p:sp>
        <p:nvSpPr>
          <p:cNvPr id="55" name="TextBox 54"/>
          <p:cNvSpPr txBox="1"/>
          <p:nvPr/>
        </p:nvSpPr>
        <p:spPr>
          <a:xfrm>
            <a:off x="8193024" y="3127248"/>
            <a:ext cx="8412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56" name="TextBox 55"/>
          <p:cNvSpPr txBox="1"/>
          <p:nvPr/>
        </p:nvSpPr>
        <p:spPr>
          <a:xfrm>
            <a:off x="9107424" y="3127248"/>
            <a:ext cx="12984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KILL</a:t>
            </a:r>
          </a:p>
        </p:txBody>
      </p:sp>
      <p:sp>
        <p:nvSpPr>
          <p:cNvPr id="57" name="TextBox 56"/>
          <p:cNvSpPr txBox="1"/>
          <p:nvPr/>
        </p:nvSpPr>
        <p:spPr>
          <a:xfrm>
            <a:off x="10479024" y="3127248"/>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Redirect resources</a:t>
            </a:r>
          </a:p>
        </p:txBody>
      </p:sp>
      <p:sp>
        <p:nvSpPr>
          <p:cNvPr id="58" name="TextBox 5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9" name="TextBox 5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5: RISK, PERFORMANCE &amp; VALUE  ·  KPI ARCHITECT</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Accenture Needs a New KPI System Built Around AI Outcomes, Not Just Revenue and Billability</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FY2025 results were strong by traditional metrics. FY2026 requires a KPI system that leads with AI-transformation effectiveness: GenAI revenue and bookings velocity, outcome-based deal penetration, practitioner AI utilization, and client ROI — not just T&amp;M billing rates.</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Current system is backward-looking: revenue, EPS, billability — misses AI transformation quality</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New leading indicators: GenAI booking velocity, AI practitioner utilization, outcome deal conversion rate</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Remove: raw headcount as a growth proxy — it signals scale, not value creation in the AI era</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Review cadence: monthly GenAI pipeline review; quarterly outcome deal governance</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Vanity metric to sunset: gross headcount growth — replace with AI-augmented revenue per consultant</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6642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KPI</a:t>
            </a:r>
          </a:p>
        </p:txBody>
      </p:sp>
      <p:sp>
        <p:nvSpPr>
          <p:cNvPr id="26" name="TextBox 25"/>
          <p:cNvSpPr txBox="1"/>
          <p:nvPr/>
        </p:nvSpPr>
        <p:spPr>
          <a:xfrm>
            <a:off x="7324344" y="1664208"/>
            <a:ext cx="11155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Type</a:t>
            </a:r>
          </a:p>
        </p:txBody>
      </p:sp>
      <p:sp>
        <p:nvSpPr>
          <p:cNvPr id="27" name="TextBox 26"/>
          <p:cNvSpPr txBox="1"/>
          <p:nvPr/>
        </p:nvSpPr>
        <p:spPr>
          <a:xfrm>
            <a:off x="8513064" y="1664208"/>
            <a:ext cx="11155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FY2025 Baseline</a:t>
            </a:r>
          </a:p>
        </p:txBody>
      </p:sp>
      <p:sp>
        <p:nvSpPr>
          <p:cNvPr id="28" name="TextBox 27"/>
          <p:cNvSpPr txBox="1"/>
          <p:nvPr/>
        </p:nvSpPr>
        <p:spPr>
          <a:xfrm>
            <a:off x="9701784" y="1664208"/>
            <a:ext cx="10241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FY2026 Target</a:t>
            </a:r>
          </a:p>
        </p:txBody>
      </p:sp>
      <p:sp>
        <p:nvSpPr>
          <p:cNvPr id="29" name="TextBox 28"/>
          <p:cNvSpPr txBox="1"/>
          <p:nvPr/>
        </p:nvSpPr>
        <p:spPr>
          <a:xfrm>
            <a:off x="10799064" y="1664208"/>
            <a:ext cx="10698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Owner</a:t>
            </a:r>
          </a:p>
        </p:txBody>
      </p:sp>
      <p:sp>
        <p:nvSpPr>
          <p:cNvPr id="30" name="Rectangle 29"/>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86984" y="1956816"/>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revenue</a:t>
            </a:r>
          </a:p>
        </p:txBody>
      </p:sp>
      <p:sp>
        <p:nvSpPr>
          <p:cNvPr id="32" name="TextBox 31"/>
          <p:cNvSpPr txBox="1"/>
          <p:nvPr/>
        </p:nvSpPr>
        <p:spPr>
          <a:xfrm>
            <a:off x="7324344" y="1956816"/>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 (lagging)</a:t>
            </a:r>
          </a:p>
        </p:txBody>
      </p:sp>
      <p:sp>
        <p:nvSpPr>
          <p:cNvPr id="33" name="TextBox 32"/>
          <p:cNvSpPr txBox="1"/>
          <p:nvPr/>
        </p:nvSpPr>
        <p:spPr>
          <a:xfrm>
            <a:off x="8513064" y="1956816"/>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$2.7B</a:t>
            </a:r>
          </a:p>
        </p:txBody>
      </p:sp>
      <p:sp>
        <p:nvSpPr>
          <p:cNvPr id="34" name="TextBox 33"/>
          <p:cNvSpPr txBox="1"/>
          <p:nvPr/>
        </p:nvSpPr>
        <p:spPr>
          <a:xfrm>
            <a:off x="9701784" y="1956816"/>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$5B+</a:t>
            </a:r>
          </a:p>
        </p:txBody>
      </p:sp>
      <p:sp>
        <p:nvSpPr>
          <p:cNvPr id="35" name="TextBox 34"/>
          <p:cNvSpPr txBox="1"/>
          <p:nvPr/>
        </p:nvSpPr>
        <p:spPr>
          <a:xfrm>
            <a:off x="10799064" y="1956816"/>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CEO/CFO</a:t>
            </a:r>
          </a:p>
        </p:txBody>
      </p:sp>
      <p:sp>
        <p:nvSpPr>
          <p:cNvPr id="36" name="Rectangle 35"/>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86984" y="2249424"/>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bookings</a:t>
            </a:r>
          </a:p>
        </p:txBody>
      </p:sp>
      <p:sp>
        <p:nvSpPr>
          <p:cNvPr id="38" name="TextBox 37"/>
          <p:cNvSpPr txBox="1"/>
          <p:nvPr/>
        </p:nvSpPr>
        <p:spPr>
          <a:xfrm>
            <a:off x="7324344" y="2249424"/>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Leading</a:t>
            </a:r>
          </a:p>
        </p:txBody>
      </p:sp>
      <p:sp>
        <p:nvSpPr>
          <p:cNvPr id="39" name="TextBox 38"/>
          <p:cNvSpPr txBox="1"/>
          <p:nvPr/>
        </p:nvSpPr>
        <p:spPr>
          <a:xfrm>
            <a:off x="8513064" y="2249424"/>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$5.9B</a:t>
            </a:r>
          </a:p>
        </p:txBody>
      </p:sp>
      <p:sp>
        <p:nvSpPr>
          <p:cNvPr id="40" name="TextBox 39"/>
          <p:cNvSpPr txBox="1"/>
          <p:nvPr/>
        </p:nvSpPr>
        <p:spPr>
          <a:xfrm>
            <a:off x="9701784" y="2249424"/>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$8B+</a:t>
            </a:r>
          </a:p>
        </p:txBody>
      </p:sp>
      <p:sp>
        <p:nvSpPr>
          <p:cNvPr id="41" name="TextBox 40"/>
          <p:cNvSpPr txBox="1"/>
          <p:nvPr/>
        </p:nvSpPr>
        <p:spPr>
          <a:xfrm>
            <a:off x="10799064" y="2249424"/>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Sales</a:t>
            </a:r>
          </a:p>
        </p:txBody>
      </p:sp>
      <p:sp>
        <p:nvSpPr>
          <p:cNvPr id="42" name="Rectangle 41"/>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86984" y="2542032"/>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practitioner utilization</a:t>
            </a:r>
          </a:p>
        </p:txBody>
      </p:sp>
      <p:sp>
        <p:nvSpPr>
          <p:cNvPr id="44" name="TextBox 43"/>
          <p:cNvSpPr txBox="1"/>
          <p:nvPr/>
        </p:nvSpPr>
        <p:spPr>
          <a:xfrm>
            <a:off x="7324344" y="2542032"/>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Driver</a:t>
            </a:r>
          </a:p>
        </p:txBody>
      </p:sp>
      <p:sp>
        <p:nvSpPr>
          <p:cNvPr id="45" name="TextBox 44"/>
          <p:cNvSpPr txBox="1"/>
          <p:nvPr/>
        </p:nvSpPr>
        <p:spPr>
          <a:xfrm>
            <a:off x="8513064" y="2542032"/>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~77K active</a:t>
            </a:r>
          </a:p>
        </p:txBody>
      </p:sp>
      <p:sp>
        <p:nvSpPr>
          <p:cNvPr id="46" name="TextBox 45"/>
          <p:cNvSpPr txBox="1"/>
          <p:nvPr/>
        </p:nvSpPr>
        <p:spPr>
          <a:xfrm>
            <a:off x="9701784" y="2542032"/>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80K + 70% AI use</a:t>
            </a:r>
          </a:p>
        </p:txBody>
      </p:sp>
      <p:sp>
        <p:nvSpPr>
          <p:cNvPr id="47" name="TextBox 46"/>
          <p:cNvSpPr txBox="1"/>
          <p:nvPr/>
        </p:nvSpPr>
        <p:spPr>
          <a:xfrm>
            <a:off x="10799064" y="2542032"/>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CHRO</a:t>
            </a:r>
          </a:p>
        </p:txBody>
      </p:sp>
      <p:sp>
        <p:nvSpPr>
          <p:cNvPr id="48" name="Rectangle 47"/>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86984" y="2834640"/>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Outcome-based deal %</a:t>
            </a:r>
          </a:p>
        </p:txBody>
      </p:sp>
      <p:sp>
        <p:nvSpPr>
          <p:cNvPr id="50" name="TextBox 49"/>
          <p:cNvSpPr txBox="1"/>
          <p:nvPr/>
        </p:nvSpPr>
        <p:spPr>
          <a:xfrm>
            <a:off x="7324344" y="2834640"/>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Driver</a:t>
            </a:r>
          </a:p>
        </p:txBody>
      </p:sp>
      <p:sp>
        <p:nvSpPr>
          <p:cNvPr id="51" name="TextBox 50"/>
          <p:cNvSpPr txBox="1"/>
          <p:nvPr/>
        </p:nvSpPr>
        <p:spPr>
          <a:xfrm>
            <a:off x="8513064" y="2834640"/>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&lt;10%</a:t>
            </a:r>
          </a:p>
        </p:txBody>
      </p:sp>
      <p:sp>
        <p:nvSpPr>
          <p:cNvPr id="52" name="TextBox 51"/>
          <p:cNvSpPr txBox="1"/>
          <p:nvPr/>
        </p:nvSpPr>
        <p:spPr>
          <a:xfrm>
            <a:off x="9701784" y="2834640"/>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20%</a:t>
            </a:r>
          </a:p>
        </p:txBody>
      </p:sp>
      <p:sp>
        <p:nvSpPr>
          <p:cNvPr id="53" name="TextBox 52"/>
          <p:cNvSpPr txBox="1"/>
          <p:nvPr/>
        </p:nvSpPr>
        <p:spPr>
          <a:xfrm>
            <a:off x="10799064" y="2834640"/>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Practice leads</a:t>
            </a:r>
          </a:p>
        </p:txBody>
      </p:sp>
      <p:sp>
        <p:nvSpPr>
          <p:cNvPr id="54" name="Rectangle 53"/>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586984" y="3127248"/>
            <a:ext cx="1664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Client AI ROI verified</a:t>
            </a:r>
          </a:p>
        </p:txBody>
      </p:sp>
      <p:sp>
        <p:nvSpPr>
          <p:cNvPr id="56" name="TextBox 55"/>
          <p:cNvSpPr txBox="1"/>
          <p:nvPr/>
        </p:nvSpPr>
        <p:spPr>
          <a:xfrm>
            <a:off x="7324344" y="3127248"/>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a:t>
            </a:r>
          </a:p>
        </p:txBody>
      </p:sp>
      <p:sp>
        <p:nvSpPr>
          <p:cNvPr id="57" name="TextBox 56"/>
          <p:cNvSpPr txBox="1"/>
          <p:nvPr/>
        </p:nvSpPr>
        <p:spPr>
          <a:xfrm>
            <a:off x="8513064" y="3127248"/>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Not tracked</a:t>
            </a:r>
          </a:p>
        </p:txBody>
      </p:sp>
      <p:sp>
        <p:nvSpPr>
          <p:cNvPr id="58" name="TextBox 57"/>
          <p:cNvSpPr txBox="1"/>
          <p:nvPr/>
        </p:nvSpPr>
        <p:spPr>
          <a:xfrm>
            <a:off x="9701784" y="3127248"/>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Track in 50 deals</a:t>
            </a:r>
          </a:p>
        </p:txBody>
      </p:sp>
      <p:sp>
        <p:nvSpPr>
          <p:cNvPr id="59" name="TextBox 58"/>
          <p:cNvSpPr txBox="1"/>
          <p:nvPr/>
        </p:nvSpPr>
        <p:spPr>
          <a:xfrm>
            <a:off x="10799064" y="3127248"/>
            <a:ext cx="1069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Delivery</a:t>
            </a:r>
          </a:p>
        </p:txBody>
      </p:sp>
      <p:sp>
        <p:nvSpPr>
          <p:cNvPr id="60" name="TextBox 5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61" name="TextBox 6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5: RISK, PERFORMANCE &amp; VALUE  ·  RISK &amp; MITIGATION</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OpenAI Disintermediation and GenAI Commoditization Are the Two Existential Risks</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Accenture's risk register has two category-level threats: OpenAI's Feb 2026 Frontier Alliance embedding AI vendors inside client teams (disintermediation), and the possibility that GenAI advisory becomes a commodity before Accenture builds its IP moat. US federal is manageable; talent cost is chronic.</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CRITICAL: OpenAI Frontier Alliance — AI vendors embedded in clients may bypass advisory layer</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HIGH: GenAI commoditization — boutiques at 50% day rates erode pricing floor faster than expected</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MEDIUM: US federal budget freeze — 1–1.5% FY2026 drag; diversifiable but not eliminable near-term</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CHRONIC: Talent cost inflation — 779K employees, 77K AI specialists facing comp pressure</a:t>
            </a:r>
          </a:p>
        </p:txBody>
      </p:sp>
      <p:sp>
        <p:nvSpPr>
          <p:cNvPr id="20" name="TextBox 19"/>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1" name="Rectangle 20"/>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4" y="1664208"/>
            <a:ext cx="16184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Risk</a:t>
            </a:r>
          </a:p>
        </p:txBody>
      </p:sp>
      <p:sp>
        <p:nvSpPr>
          <p:cNvPr id="24" name="TextBox 23"/>
          <p:cNvSpPr txBox="1"/>
          <p:nvPr/>
        </p:nvSpPr>
        <p:spPr>
          <a:xfrm>
            <a:off x="7278624" y="1664208"/>
            <a:ext cx="9784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Likelihood</a:t>
            </a:r>
          </a:p>
        </p:txBody>
      </p:sp>
      <p:sp>
        <p:nvSpPr>
          <p:cNvPr id="25" name="TextBox 24"/>
          <p:cNvSpPr txBox="1"/>
          <p:nvPr/>
        </p:nvSpPr>
        <p:spPr>
          <a:xfrm>
            <a:off x="8330184" y="1664208"/>
            <a:ext cx="7498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Impact</a:t>
            </a:r>
          </a:p>
        </p:txBody>
      </p:sp>
      <p:sp>
        <p:nvSpPr>
          <p:cNvPr id="26" name="TextBox 25"/>
          <p:cNvSpPr txBox="1"/>
          <p:nvPr/>
        </p:nvSpPr>
        <p:spPr>
          <a:xfrm>
            <a:off x="9153144" y="1664208"/>
            <a:ext cx="16184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Mitigation</a:t>
            </a:r>
          </a:p>
        </p:txBody>
      </p:sp>
      <p:sp>
        <p:nvSpPr>
          <p:cNvPr id="27" name="TextBox 26"/>
          <p:cNvSpPr txBox="1"/>
          <p:nvPr/>
        </p:nvSpPr>
        <p:spPr>
          <a:xfrm>
            <a:off x="10844784" y="1664208"/>
            <a:ext cx="10241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Owner</a:t>
            </a:r>
          </a:p>
        </p:txBody>
      </p:sp>
      <p:sp>
        <p:nvSpPr>
          <p:cNvPr id="28" name="Rectangle 27"/>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86984" y="1956816"/>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OpenAI disintermediation</a:t>
            </a:r>
          </a:p>
        </p:txBody>
      </p:sp>
      <p:sp>
        <p:nvSpPr>
          <p:cNvPr id="30" name="TextBox 29"/>
          <p:cNvSpPr txBox="1"/>
          <p:nvPr/>
        </p:nvSpPr>
        <p:spPr>
          <a:xfrm>
            <a:off x="7278624" y="1956816"/>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Medium-High</a:t>
            </a:r>
          </a:p>
        </p:txBody>
      </p:sp>
      <p:sp>
        <p:nvSpPr>
          <p:cNvPr id="31" name="TextBox 30"/>
          <p:cNvSpPr txBox="1"/>
          <p:nvPr/>
        </p:nvSpPr>
        <p:spPr>
          <a:xfrm>
            <a:off x="8330184" y="1956816"/>
            <a:ext cx="7498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Critical</a:t>
            </a:r>
          </a:p>
        </p:txBody>
      </p:sp>
      <p:sp>
        <p:nvSpPr>
          <p:cNvPr id="32" name="TextBox 31"/>
          <p:cNvSpPr txBox="1"/>
          <p:nvPr/>
        </p:nvSpPr>
        <p:spPr>
          <a:xfrm>
            <a:off x="9153144" y="1956816"/>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Deepen OpenAI alliance; IP lock-in</a:t>
            </a:r>
          </a:p>
        </p:txBody>
      </p:sp>
      <p:sp>
        <p:nvSpPr>
          <p:cNvPr id="33" name="TextBox 32"/>
          <p:cNvSpPr txBox="1"/>
          <p:nvPr/>
        </p:nvSpPr>
        <p:spPr>
          <a:xfrm>
            <a:off x="10844784" y="1956816"/>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CEO</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commodity pricing</a:t>
            </a:r>
          </a:p>
        </p:txBody>
      </p:sp>
      <p:sp>
        <p:nvSpPr>
          <p:cNvPr id="36" name="TextBox 35"/>
          <p:cNvSpPr txBox="1"/>
          <p:nvPr/>
        </p:nvSpPr>
        <p:spPr>
          <a:xfrm>
            <a:off x="7278624" y="2249424"/>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37" name="TextBox 36"/>
          <p:cNvSpPr txBox="1"/>
          <p:nvPr/>
        </p:nvSpPr>
        <p:spPr>
          <a:xfrm>
            <a:off x="8330184" y="2249424"/>
            <a:ext cx="7498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38" name="TextBox 37"/>
          <p:cNvSpPr txBox="1"/>
          <p:nvPr/>
        </p:nvSpPr>
        <p:spPr>
          <a:xfrm>
            <a:off x="9153144" y="2249424"/>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 pricing + GenWizard IP</a:t>
            </a:r>
          </a:p>
        </p:txBody>
      </p:sp>
      <p:sp>
        <p:nvSpPr>
          <p:cNvPr id="39" name="TextBox 38"/>
          <p:cNvSpPr txBox="1"/>
          <p:nvPr/>
        </p:nvSpPr>
        <p:spPr>
          <a:xfrm>
            <a:off x="10844784" y="2249424"/>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Strategy</a:t>
            </a:r>
          </a:p>
        </p:txBody>
      </p:sp>
      <p:sp>
        <p:nvSpPr>
          <p:cNvPr id="40" name="Rectangle 39"/>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86984" y="2542032"/>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US federal freeze</a:t>
            </a:r>
          </a:p>
        </p:txBody>
      </p:sp>
      <p:sp>
        <p:nvSpPr>
          <p:cNvPr id="42" name="TextBox 41"/>
          <p:cNvSpPr txBox="1"/>
          <p:nvPr/>
        </p:nvSpPr>
        <p:spPr>
          <a:xfrm>
            <a:off x="7278624" y="2542032"/>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3" name="TextBox 42"/>
          <p:cNvSpPr txBox="1"/>
          <p:nvPr/>
        </p:nvSpPr>
        <p:spPr>
          <a:xfrm>
            <a:off x="8330184" y="2542032"/>
            <a:ext cx="7498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44" name="TextBox 43"/>
          <p:cNvSpPr txBox="1"/>
          <p:nvPr/>
        </p:nvSpPr>
        <p:spPr>
          <a:xfrm>
            <a:off x="9153144" y="2542032"/>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Diversify to commercial accounts</a:t>
            </a:r>
          </a:p>
        </p:txBody>
      </p:sp>
      <p:sp>
        <p:nvSpPr>
          <p:cNvPr id="45" name="TextBox 44"/>
          <p:cNvSpPr txBox="1"/>
          <p:nvPr/>
        </p:nvSpPr>
        <p:spPr>
          <a:xfrm>
            <a:off x="10844784" y="2542032"/>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Federal lead</a:t>
            </a:r>
          </a:p>
        </p:txBody>
      </p:sp>
      <p:sp>
        <p:nvSpPr>
          <p:cNvPr id="46" name="Rectangle 45"/>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86984" y="2834640"/>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MBB tech capability</a:t>
            </a:r>
          </a:p>
        </p:txBody>
      </p:sp>
      <p:sp>
        <p:nvSpPr>
          <p:cNvPr id="48" name="TextBox 47"/>
          <p:cNvSpPr txBox="1"/>
          <p:nvPr/>
        </p:nvSpPr>
        <p:spPr>
          <a:xfrm>
            <a:off x="7278624" y="2834640"/>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9" name="TextBox 48"/>
          <p:cNvSpPr txBox="1"/>
          <p:nvPr/>
        </p:nvSpPr>
        <p:spPr>
          <a:xfrm>
            <a:off x="8330184" y="2834640"/>
            <a:ext cx="7498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50" name="TextBox 49"/>
          <p:cNvSpPr txBox="1"/>
          <p:nvPr/>
        </p:nvSpPr>
        <p:spPr>
          <a:xfrm>
            <a:off x="9153144" y="2834640"/>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Accelerate delivery platform IP</a:t>
            </a:r>
          </a:p>
        </p:txBody>
      </p:sp>
      <p:sp>
        <p:nvSpPr>
          <p:cNvPr id="51" name="TextBox 50"/>
          <p:cNvSpPr txBox="1"/>
          <p:nvPr/>
        </p:nvSpPr>
        <p:spPr>
          <a:xfrm>
            <a:off x="10844784" y="2834640"/>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CTO</a:t>
            </a:r>
          </a:p>
        </p:txBody>
      </p:sp>
      <p:sp>
        <p:nvSpPr>
          <p:cNvPr id="52" name="Rectangle 51"/>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86984" y="3127248"/>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Talent cost inflation</a:t>
            </a:r>
          </a:p>
        </p:txBody>
      </p:sp>
      <p:sp>
        <p:nvSpPr>
          <p:cNvPr id="54" name="TextBox 53"/>
          <p:cNvSpPr txBox="1"/>
          <p:nvPr/>
        </p:nvSpPr>
        <p:spPr>
          <a:xfrm>
            <a:off x="7278624" y="3127248"/>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55" name="TextBox 54"/>
          <p:cNvSpPr txBox="1"/>
          <p:nvPr/>
        </p:nvSpPr>
        <p:spPr>
          <a:xfrm>
            <a:off x="8330184" y="3127248"/>
            <a:ext cx="7498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56" name="TextBox 55"/>
          <p:cNvSpPr txBox="1"/>
          <p:nvPr/>
        </p:nvSpPr>
        <p:spPr>
          <a:xfrm>
            <a:off x="9153144" y="3127248"/>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augmentation ratio; offshore</a:t>
            </a:r>
          </a:p>
        </p:txBody>
      </p:sp>
      <p:sp>
        <p:nvSpPr>
          <p:cNvPr id="57" name="TextBox 56"/>
          <p:cNvSpPr txBox="1"/>
          <p:nvPr/>
        </p:nvSpPr>
        <p:spPr>
          <a:xfrm>
            <a:off x="10844784" y="3127248"/>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CHRO</a:t>
            </a:r>
          </a:p>
        </p:txBody>
      </p:sp>
      <p:sp>
        <p:nvSpPr>
          <p:cNvPr id="58" name="TextBox 5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9" name="TextBox 5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5: RISK, PERFORMANCE &amp; VALUE  ·  VALUE REALIZATION</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Accenture's $3B AI Investment Has Generated $2.7B in Year-2 Revenue — Value Is Materializing</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The FY2025 annual report confirms the $3B GenAI investment is delivering. GenAI revenue tripled. Bookings nearly doubled. The value realization challenge shifts from 'did it work?' to 'can we sustain and scale it?' — requiring a formal value ledger tied to GenWizard commercialization and agentic AI.</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Year-2 GenAI revenue: $2.7B (tripled from FY2024 ~$0.9B) — payback materializing ahead of plan</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Forward value pipeline: $5.9B GenAI bookings signal $5B+ FY2026 revenue achievable</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Value at risk: ~$10B in future GenAI revenue if OpenAI disintermediation accelerates</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Next value capture: GenWizard platform licensing — shift to recurring IP revenue</a:t>
            </a:r>
          </a:p>
        </p:txBody>
      </p:sp>
      <p:sp>
        <p:nvSpPr>
          <p:cNvPr id="20" name="TextBox 19"/>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1" name="Rectangle 20"/>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4" y="1664208"/>
            <a:ext cx="14813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Benefit</a:t>
            </a:r>
          </a:p>
        </p:txBody>
      </p:sp>
      <p:sp>
        <p:nvSpPr>
          <p:cNvPr id="24" name="TextBox 23"/>
          <p:cNvSpPr txBox="1"/>
          <p:nvPr/>
        </p:nvSpPr>
        <p:spPr>
          <a:xfrm>
            <a:off x="7141464" y="1664208"/>
            <a:ext cx="11155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FY2024 Baseline</a:t>
            </a:r>
          </a:p>
        </p:txBody>
      </p:sp>
      <p:sp>
        <p:nvSpPr>
          <p:cNvPr id="25" name="TextBox 24"/>
          <p:cNvSpPr txBox="1"/>
          <p:nvPr/>
        </p:nvSpPr>
        <p:spPr>
          <a:xfrm>
            <a:off x="8330184" y="1664208"/>
            <a:ext cx="10241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FY2025 Actual</a:t>
            </a:r>
          </a:p>
        </p:txBody>
      </p:sp>
      <p:sp>
        <p:nvSpPr>
          <p:cNvPr id="26" name="TextBox 25"/>
          <p:cNvSpPr txBox="1"/>
          <p:nvPr/>
        </p:nvSpPr>
        <p:spPr>
          <a:xfrm>
            <a:off x="9427464" y="1664208"/>
            <a:ext cx="9784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FY2026 Target</a:t>
            </a:r>
          </a:p>
        </p:txBody>
      </p:sp>
      <p:sp>
        <p:nvSpPr>
          <p:cNvPr id="27" name="TextBox 26"/>
          <p:cNvSpPr txBox="1"/>
          <p:nvPr/>
        </p:nvSpPr>
        <p:spPr>
          <a:xfrm>
            <a:off x="10479024" y="1664208"/>
            <a:ext cx="13898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Proof Standard</a:t>
            </a:r>
          </a:p>
        </p:txBody>
      </p:sp>
      <p:sp>
        <p:nvSpPr>
          <p:cNvPr id="28" name="Rectangle 27"/>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86984" y="1956816"/>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Revenue</a:t>
            </a:r>
          </a:p>
        </p:txBody>
      </p:sp>
      <p:sp>
        <p:nvSpPr>
          <p:cNvPr id="30" name="TextBox 29"/>
          <p:cNvSpPr txBox="1"/>
          <p:nvPr/>
        </p:nvSpPr>
        <p:spPr>
          <a:xfrm>
            <a:off x="7141464" y="1956816"/>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~$0.9B</a:t>
            </a:r>
          </a:p>
        </p:txBody>
      </p:sp>
      <p:sp>
        <p:nvSpPr>
          <p:cNvPr id="31" name="TextBox 30"/>
          <p:cNvSpPr txBox="1"/>
          <p:nvPr/>
        </p:nvSpPr>
        <p:spPr>
          <a:xfrm>
            <a:off x="8330184" y="1956816"/>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$2.7B</a:t>
            </a:r>
          </a:p>
        </p:txBody>
      </p:sp>
      <p:sp>
        <p:nvSpPr>
          <p:cNvPr id="32" name="TextBox 31"/>
          <p:cNvSpPr txBox="1"/>
          <p:nvPr/>
        </p:nvSpPr>
        <p:spPr>
          <a:xfrm>
            <a:off x="9427464" y="1956816"/>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$5B+</a:t>
            </a:r>
          </a:p>
        </p:txBody>
      </p:sp>
      <p:sp>
        <p:nvSpPr>
          <p:cNvPr id="33" name="TextBox 32"/>
          <p:cNvSpPr txBox="1"/>
          <p:nvPr/>
        </p:nvSpPr>
        <p:spPr>
          <a:xfrm>
            <a:off x="10479024" y="1956816"/>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Q4 earnings</a:t>
            </a:r>
          </a:p>
        </p:txBody>
      </p:sp>
      <p:sp>
        <p:nvSpPr>
          <p:cNvPr id="34" name="Rectangle 33"/>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249424"/>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Bookings</a:t>
            </a:r>
          </a:p>
        </p:txBody>
      </p:sp>
      <p:sp>
        <p:nvSpPr>
          <p:cNvPr id="36" name="TextBox 35"/>
          <p:cNvSpPr txBox="1"/>
          <p:nvPr/>
        </p:nvSpPr>
        <p:spPr>
          <a:xfrm>
            <a:off x="7141464" y="2249424"/>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~$3B</a:t>
            </a:r>
          </a:p>
        </p:txBody>
      </p:sp>
      <p:sp>
        <p:nvSpPr>
          <p:cNvPr id="37" name="TextBox 36"/>
          <p:cNvSpPr txBox="1"/>
          <p:nvPr/>
        </p:nvSpPr>
        <p:spPr>
          <a:xfrm>
            <a:off x="8330184" y="2249424"/>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$5.9B</a:t>
            </a:r>
          </a:p>
        </p:txBody>
      </p:sp>
      <p:sp>
        <p:nvSpPr>
          <p:cNvPr id="38" name="TextBox 37"/>
          <p:cNvSpPr txBox="1"/>
          <p:nvPr/>
        </p:nvSpPr>
        <p:spPr>
          <a:xfrm>
            <a:off x="9427464" y="2249424"/>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$8B+</a:t>
            </a:r>
          </a:p>
        </p:txBody>
      </p:sp>
      <p:sp>
        <p:nvSpPr>
          <p:cNvPr id="39" name="TextBox 38"/>
          <p:cNvSpPr txBox="1"/>
          <p:nvPr/>
        </p:nvSpPr>
        <p:spPr>
          <a:xfrm>
            <a:off x="10479024" y="2249424"/>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Quarterly filing</a:t>
            </a:r>
          </a:p>
        </p:txBody>
      </p:sp>
      <p:sp>
        <p:nvSpPr>
          <p:cNvPr id="40" name="Rectangle 39"/>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86984" y="2542032"/>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Practitioners</a:t>
            </a:r>
          </a:p>
        </p:txBody>
      </p:sp>
      <p:sp>
        <p:nvSpPr>
          <p:cNvPr id="42" name="TextBox 41"/>
          <p:cNvSpPr txBox="1"/>
          <p:nvPr/>
        </p:nvSpPr>
        <p:spPr>
          <a:xfrm>
            <a:off x="7141464" y="2542032"/>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~40K</a:t>
            </a:r>
          </a:p>
        </p:txBody>
      </p:sp>
      <p:sp>
        <p:nvSpPr>
          <p:cNvPr id="43" name="TextBox 42"/>
          <p:cNvSpPr txBox="1"/>
          <p:nvPr/>
        </p:nvSpPr>
        <p:spPr>
          <a:xfrm>
            <a:off x="8330184" y="2542032"/>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77K</a:t>
            </a:r>
          </a:p>
        </p:txBody>
      </p:sp>
      <p:sp>
        <p:nvSpPr>
          <p:cNvPr id="44" name="TextBox 43"/>
          <p:cNvSpPr txBox="1"/>
          <p:nvPr/>
        </p:nvSpPr>
        <p:spPr>
          <a:xfrm>
            <a:off x="9427464" y="2542032"/>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80K</a:t>
            </a:r>
          </a:p>
        </p:txBody>
      </p:sp>
      <p:sp>
        <p:nvSpPr>
          <p:cNvPr id="45" name="TextBox 44"/>
          <p:cNvSpPr txBox="1"/>
          <p:nvPr/>
        </p:nvSpPr>
        <p:spPr>
          <a:xfrm>
            <a:off x="10479024" y="2542032"/>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HR headcount</a:t>
            </a:r>
          </a:p>
        </p:txBody>
      </p:sp>
      <p:sp>
        <p:nvSpPr>
          <p:cNvPr id="46" name="Rectangle 45"/>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86984" y="2834640"/>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Outcome-based deals</a:t>
            </a:r>
          </a:p>
        </p:txBody>
      </p:sp>
      <p:sp>
        <p:nvSpPr>
          <p:cNvPr id="48" name="TextBox 47"/>
          <p:cNvSpPr txBox="1"/>
          <p:nvPr/>
        </p:nvSpPr>
        <p:spPr>
          <a:xfrm>
            <a:off x="7141464" y="2834640"/>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&lt;5%</a:t>
            </a:r>
          </a:p>
        </p:txBody>
      </p:sp>
      <p:sp>
        <p:nvSpPr>
          <p:cNvPr id="49" name="TextBox 48"/>
          <p:cNvSpPr txBox="1"/>
          <p:nvPr/>
        </p:nvSpPr>
        <p:spPr>
          <a:xfrm>
            <a:off x="8330184" y="2834640"/>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&lt;10%</a:t>
            </a:r>
          </a:p>
        </p:txBody>
      </p:sp>
      <p:sp>
        <p:nvSpPr>
          <p:cNvPr id="50" name="TextBox 49"/>
          <p:cNvSpPr txBox="1"/>
          <p:nvPr/>
        </p:nvSpPr>
        <p:spPr>
          <a:xfrm>
            <a:off x="9427464" y="2834640"/>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20%</a:t>
            </a:r>
          </a:p>
        </p:txBody>
      </p:sp>
      <p:sp>
        <p:nvSpPr>
          <p:cNvPr id="51" name="TextBox 50"/>
          <p:cNvSpPr txBox="1"/>
          <p:nvPr/>
        </p:nvSpPr>
        <p:spPr>
          <a:xfrm>
            <a:off x="10479024" y="2834640"/>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Contract audit</a:t>
            </a:r>
          </a:p>
        </p:txBody>
      </p:sp>
      <p:sp>
        <p:nvSpPr>
          <p:cNvPr id="52" name="Rectangle 51"/>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86984" y="3127248"/>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GenWizard licensing</a:t>
            </a:r>
          </a:p>
        </p:txBody>
      </p:sp>
      <p:sp>
        <p:nvSpPr>
          <p:cNvPr id="54" name="TextBox 53"/>
          <p:cNvSpPr txBox="1"/>
          <p:nvPr/>
        </p:nvSpPr>
        <p:spPr>
          <a:xfrm>
            <a:off x="7141464" y="3127248"/>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$0</a:t>
            </a:r>
          </a:p>
        </p:txBody>
      </p:sp>
      <p:sp>
        <p:nvSpPr>
          <p:cNvPr id="55" name="TextBox 54"/>
          <p:cNvSpPr txBox="1"/>
          <p:nvPr/>
        </p:nvSpPr>
        <p:spPr>
          <a:xfrm>
            <a:off x="8330184" y="3127248"/>
            <a:ext cx="10241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Pilot</a:t>
            </a:r>
          </a:p>
        </p:txBody>
      </p:sp>
      <p:sp>
        <p:nvSpPr>
          <p:cNvPr id="56" name="TextBox 55"/>
          <p:cNvSpPr txBox="1"/>
          <p:nvPr/>
        </p:nvSpPr>
        <p:spPr>
          <a:xfrm>
            <a:off x="9427464" y="3127248"/>
            <a:ext cx="9784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$100M+</a:t>
            </a:r>
          </a:p>
        </p:txBody>
      </p:sp>
      <p:sp>
        <p:nvSpPr>
          <p:cNvPr id="57" name="TextBox 56"/>
          <p:cNvSpPr txBox="1"/>
          <p:nvPr/>
        </p:nvSpPr>
        <p:spPr>
          <a:xfrm>
            <a:off x="10479024" y="3127248"/>
            <a:ext cx="13898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Revenue line</a:t>
            </a:r>
          </a:p>
        </p:txBody>
      </p:sp>
      <p:sp>
        <p:nvSpPr>
          <p:cNvPr id="58" name="TextBox 5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9" name="TextBox 5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5: RISK, PERFORMANCE &amp; VALUE  ·  WAR GAMING</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Two Scenarios Could Break Accenture's Strategy — Both Require Pre-Committed Responses Now</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War-gaming Accenture's 'Reinvention partner' strategy surfaces two high-severity scenarios: (1) OpenAI direct-to-enterprise at scale collapses advisory margin, (2) a GenAI ROI recession freezes client budgets. Both require pre-committed response plays that activate on specific early signals.</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Scenario 1 (CRITICAL): OpenAI enterprise direct — margin collapses on advisory; response: accelerate IP moat</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Scenario 2 (HIGH): GenAI ROI recession — clients pause transformation spend; response: shift to cost-reduction use cases</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Scenario 3 (MEDIUM): MBB delivery capability — BCG X / McKinsey close implementation gap; response: pricing power and scale</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Early warning: monitor BCG X headcount, OpenAI enterprise contract announcements, GenAI deal cancellation rate</a:t>
            </a:r>
          </a:p>
        </p:txBody>
      </p:sp>
      <p:sp>
        <p:nvSpPr>
          <p:cNvPr id="20" name="TextBox 19"/>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1" name="Rectangle 20"/>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4" y="1664208"/>
            <a:ext cx="16184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Scenario</a:t>
            </a:r>
          </a:p>
        </p:txBody>
      </p:sp>
      <p:sp>
        <p:nvSpPr>
          <p:cNvPr id="24" name="TextBox 23"/>
          <p:cNvSpPr txBox="1"/>
          <p:nvPr/>
        </p:nvSpPr>
        <p:spPr>
          <a:xfrm>
            <a:off x="7278624" y="1664208"/>
            <a:ext cx="16184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Trigger</a:t>
            </a:r>
          </a:p>
        </p:txBody>
      </p:sp>
      <p:sp>
        <p:nvSpPr>
          <p:cNvPr id="25" name="TextBox 24"/>
          <p:cNvSpPr txBox="1"/>
          <p:nvPr/>
        </p:nvSpPr>
        <p:spPr>
          <a:xfrm>
            <a:off x="8970264" y="1664208"/>
            <a:ext cx="7955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Severity</a:t>
            </a:r>
          </a:p>
        </p:txBody>
      </p:sp>
      <p:sp>
        <p:nvSpPr>
          <p:cNvPr id="26" name="TextBox 25"/>
          <p:cNvSpPr txBox="1"/>
          <p:nvPr/>
        </p:nvSpPr>
        <p:spPr>
          <a:xfrm>
            <a:off x="9838944" y="1664208"/>
            <a:ext cx="20299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Response Play</a:t>
            </a:r>
          </a:p>
        </p:txBody>
      </p:sp>
      <p:sp>
        <p:nvSpPr>
          <p:cNvPr id="27" name="Rectangle 26"/>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86984" y="1956816"/>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OpenAI direct enterprise</a:t>
            </a:r>
          </a:p>
        </p:txBody>
      </p:sp>
      <p:sp>
        <p:nvSpPr>
          <p:cNvPr id="29" name="TextBox 28"/>
          <p:cNvSpPr txBox="1"/>
          <p:nvPr/>
        </p:nvSpPr>
        <p:spPr>
          <a:xfrm>
            <a:off x="7278624" y="1956816"/>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 Fortune 100 bypass advisory</a:t>
            </a:r>
          </a:p>
        </p:txBody>
      </p:sp>
      <p:sp>
        <p:nvSpPr>
          <p:cNvPr id="30" name="TextBox 29"/>
          <p:cNvSpPr txBox="1"/>
          <p:nvPr/>
        </p:nvSpPr>
        <p:spPr>
          <a:xfrm>
            <a:off x="8970264" y="1956816"/>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Critical</a:t>
            </a:r>
          </a:p>
        </p:txBody>
      </p:sp>
      <p:sp>
        <p:nvSpPr>
          <p:cNvPr id="31" name="TextBox 30"/>
          <p:cNvSpPr txBox="1"/>
          <p:nvPr/>
        </p:nvSpPr>
        <p:spPr>
          <a:xfrm>
            <a:off x="9838944" y="1956816"/>
            <a:ext cx="20299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Own the integration layer; IP moat</a:t>
            </a:r>
          </a:p>
        </p:txBody>
      </p:sp>
      <p:sp>
        <p:nvSpPr>
          <p:cNvPr id="32" name="Rectangle 31"/>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86984" y="2249424"/>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GenAI ROI recession</a:t>
            </a:r>
          </a:p>
        </p:txBody>
      </p:sp>
      <p:sp>
        <p:nvSpPr>
          <p:cNvPr id="34" name="TextBox 33"/>
          <p:cNvSpPr txBox="1"/>
          <p:nvPr/>
        </p:nvSpPr>
        <p:spPr>
          <a:xfrm>
            <a:off x="7278624" y="2249424"/>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Client ROI misses in 2 quarters</a:t>
            </a:r>
          </a:p>
        </p:txBody>
      </p:sp>
      <p:sp>
        <p:nvSpPr>
          <p:cNvPr id="35" name="TextBox 34"/>
          <p:cNvSpPr txBox="1"/>
          <p:nvPr/>
        </p:nvSpPr>
        <p:spPr>
          <a:xfrm>
            <a:off x="8970264" y="2249424"/>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36" name="TextBox 35"/>
          <p:cNvSpPr txBox="1"/>
          <p:nvPr/>
        </p:nvSpPr>
        <p:spPr>
          <a:xfrm>
            <a:off x="9838944" y="2249424"/>
            <a:ext cx="20299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Pivot to cost-reduction cases</a:t>
            </a:r>
          </a:p>
        </p:txBody>
      </p:sp>
      <p:sp>
        <p:nvSpPr>
          <p:cNvPr id="37" name="Rectangle 36"/>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86984" y="2542032"/>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MBB delivery close</a:t>
            </a:r>
          </a:p>
        </p:txBody>
      </p:sp>
      <p:sp>
        <p:nvSpPr>
          <p:cNvPr id="39" name="TextBox 38"/>
          <p:cNvSpPr txBox="1"/>
          <p:nvPr/>
        </p:nvSpPr>
        <p:spPr>
          <a:xfrm>
            <a:off x="7278624" y="2542032"/>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BCG X &gt;5K staff</a:t>
            </a:r>
          </a:p>
        </p:txBody>
      </p:sp>
      <p:sp>
        <p:nvSpPr>
          <p:cNvPr id="40" name="TextBox 39"/>
          <p:cNvSpPr txBox="1"/>
          <p:nvPr/>
        </p:nvSpPr>
        <p:spPr>
          <a:xfrm>
            <a:off x="8970264" y="2542032"/>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High</a:t>
            </a:r>
          </a:p>
        </p:txBody>
      </p:sp>
      <p:sp>
        <p:nvSpPr>
          <p:cNvPr id="41" name="TextBox 40"/>
          <p:cNvSpPr txBox="1"/>
          <p:nvPr/>
        </p:nvSpPr>
        <p:spPr>
          <a:xfrm>
            <a:off x="9838944" y="2542032"/>
            <a:ext cx="20299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Price on outcomes, not hours</a:t>
            </a:r>
          </a:p>
        </p:txBody>
      </p:sp>
      <p:sp>
        <p:nvSpPr>
          <p:cNvPr id="42" name="Rectangle 41"/>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86984" y="2834640"/>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AI regulation tightening</a:t>
            </a:r>
          </a:p>
        </p:txBody>
      </p:sp>
      <p:sp>
        <p:nvSpPr>
          <p:cNvPr id="44" name="TextBox 43"/>
          <p:cNvSpPr txBox="1"/>
          <p:nvPr/>
        </p:nvSpPr>
        <p:spPr>
          <a:xfrm>
            <a:off x="7278624" y="2834640"/>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EU AI Act enforcement surge</a:t>
            </a:r>
          </a:p>
        </p:txBody>
      </p:sp>
      <p:sp>
        <p:nvSpPr>
          <p:cNvPr id="45" name="TextBox 44"/>
          <p:cNvSpPr txBox="1"/>
          <p:nvPr/>
        </p:nvSpPr>
        <p:spPr>
          <a:xfrm>
            <a:off x="8970264" y="2834640"/>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46" name="TextBox 45"/>
          <p:cNvSpPr txBox="1"/>
          <p:nvPr/>
        </p:nvSpPr>
        <p:spPr>
          <a:xfrm>
            <a:off x="9838944" y="2834640"/>
            <a:ext cx="20299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Compliance-as-service offering</a:t>
            </a:r>
          </a:p>
        </p:txBody>
      </p:sp>
      <p:sp>
        <p:nvSpPr>
          <p:cNvPr id="47" name="Rectangle 46"/>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86984" y="3127248"/>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Boutique price war</a:t>
            </a:r>
          </a:p>
        </p:txBody>
      </p:sp>
      <p:sp>
        <p:nvSpPr>
          <p:cNvPr id="49" name="TextBox 48"/>
          <p:cNvSpPr txBox="1"/>
          <p:nvPr/>
        </p:nvSpPr>
        <p:spPr>
          <a:xfrm>
            <a:off x="7278624" y="3127248"/>
            <a:ext cx="16184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50% T&amp;M undercutting at scale</a:t>
            </a:r>
          </a:p>
        </p:txBody>
      </p:sp>
      <p:sp>
        <p:nvSpPr>
          <p:cNvPr id="50" name="TextBox 49"/>
          <p:cNvSpPr txBox="1"/>
          <p:nvPr/>
        </p:nvSpPr>
        <p:spPr>
          <a:xfrm>
            <a:off x="8970264" y="3127248"/>
            <a:ext cx="7955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Medium</a:t>
            </a:r>
          </a:p>
        </p:txBody>
      </p:sp>
      <p:sp>
        <p:nvSpPr>
          <p:cNvPr id="51" name="TextBox 50"/>
          <p:cNvSpPr txBox="1"/>
          <p:nvPr/>
        </p:nvSpPr>
        <p:spPr>
          <a:xfrm>
            <a:off x="9838944" y="3127248"/>
            <a:ext cx="20299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Productize + platform pricing</a:t>
            </a:r>
          </a:p>
        </p:txBody>
      </p:sp>
      <p:sp>
        <p:nvSpPr>
          <p:cNvPr id="52" name="TextBox 5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3" name="TextBox 5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6: ALIGNMENT &amp; EXEC COMMUNICATION  ·  DECISION MEMO</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Recommendation: Accelerate Platform Commercialization Before the First-Mover Window Closes</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The Board must approve GenWizard external licensing and the agentic AI service line in Q1 FY2026. The GenAI first-mover window is 18–24 months — after which MBB tech arms and OpenAI partnerships will commoditize the advisory layer. This is the defining FY2026 strategic bet.</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Decision required: Approve GenWizard licensing pilot + agentic AI service line — Q1 FY2026</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Evidence: $2.7B GenAI revenue (+200%), $5.9B bookings, 77K practitioners — platform is ready</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Alternatives considered: (A) continue services-only model — rejected, margin compression inevitable; (B) wait for clearer demand — rejected, window closing</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Risk of inaction: OpenAI and BCG X move faster; Accenture loses the IP differentiation that justifies premiums</a:t>
            </a:r>
          </a:p>
        </p:txBody>
      </p:sp>
      <p:sp>
        <p:nvSpPr>
          <p:cNvPr id="20" name="TextBox 19"/>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1" name="Rectangle 20"/>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1627632"/>
            <a:ext cx="6355080" cy="2560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4" y="1664208"/>
            <a:ext cx="1755648" cy="201168"/>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Decision Element</a:t>
            </a:r>
          </a:p>
        </p:txBody>
      </p:sp>
      <p:sp>
        <p:nvSpPr>
          <p:cNvPr id="24" name="TextBox 23"/>
          <p:cNvSpPr txBox="1"/>
          <p:nvPr/>
        </p:nvSpPr>
        <p:spPr>
          <a:xfrm>
            <a:off x="7415784" y="1664208"/>
            <a:ext cx="4453128" cy="201168"/>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Detail</a:t>
            </a:r>
          </a:p>
        </p:txBody>
      </p:sp>
      <p:sp>
        <p:nvSpPr>
          <p:cNvPr id="25" name="Rectangle 24"/>
          <p:cNvSpPr/>
          <p:nvPr/>
        </p:nvSpPr>
        <p:spPr>
          <a:xfrm>
            <a:off x="5532120" y="1883664"/>
            <a:ext cx="6355080" cy="256032"/>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86984" y="1920240"/>
            <a:ext cx="175564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Recommendation</a:t>
            </a:r>
          </a:p>
        </p:txBody>
      </p:sp>
      <p:sp>
        <p:nvSpPr>
          <p:cNvPr id="27" name="TextBox 26"/>
          <p:cNvSpPr txBox="1"/>
          <p:nvPr/>
        </p:nvSpPr>
        <p:spPr>
          <a:xfrm>
            <a:off x="7415784" y="1920240"/>
            <a:ext cx="445312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Approve GenWizard licensing + agentic AI service line</a:t>
            </a:r>
          </a:p>
        </p:txBody>
      </p:sp>
      <p:sp>
        <p:nvSpPr>
          <p:cNvPr id="28" name="Rectangle 27"/>
          <p:cNvSpPr/>
          <p:nvPr/>
        </p:nvSpPr>
        <p:spPr>
          <a:xfrm>
            <a:off x="5532120" y="2139696"/>
            <a:ext cx="6355080" cy="256032"/>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86984" y="2176272"/>
            <a:ext cx="175564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Decision required</a:t>
            </a:r>
          </a:p>
        </p:txBody>
      </p:sp>
      <p:sp>
        <p:nvSpPr>
          <p:cNvPr id="30" name="TextBox 29"/>
          <p:cNvSpPr txBox="1"/>
          <p:nvPr/>
        </p:nvSpPr>
        <p:spPr>
          <a:xfrm>
            <a:off x="7415784" y="2176272"/>
            <a:ext cx="445312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Board: Q1 FY2026 budget allocation and governance</a:t>
            </a:r>
          </a:p>
        </p:txBody>
      </p:sp>
      <p:sp>
        <p:nvSpPr>
          <p:cNvPr id="31" name="Rectangle 30"/>
          <p:cNvSpPr/>
          <p:nvPr/>
        </p:nvSpPr>
        <p:spPr>
          <a:xfrm>
            <a:off x="5532120" y="2395728"/>
            <a:ext cx="6355080" cy="256032"/>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86984" y="2432304"/>
            <a:ext cx="175564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Investment ask</a:t>
            </a:r>
          </a:p>
        </p:txBody>
      </p:sp>
      <p:sp>
        <p:nvSpPr>
          <p:cNvPr id="33" name="TextBox 32"/>
          <p:cNvSpPr txBox="1"/>
          <p:nvPr/>
        </p:nvSpPr>
        <p:spPr>
          <a:xfrm>
            <a:off x="7415784" y="2432304"/>
            <a:ext cx="445312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$500M incremental (GenWizard platform + agentic line)</a:t>
            </a:r>
          </a:p>
        </p:txBody>
      </p:sp>
      <p:sp>
        <p:nvSpPr>
          <p:cNvPr id="34" name="Rectangle 33"/>
          <p:cNvSpPr/>
          <p:nvPr/>
        </p:nvSpPr>
        <p:spPr>
          <a:xfrm>
            <a:off x="5532120" y="2651760"/>
            <a:ext cx="6355080" cy="256032"/>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984" y="2688336"/>
            <a:ext cx="175564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Expected return</a:t>
            </a:r>
          </a:p>
        </p:txBody>
      </p:sp>
      <p:sp>
        <p:nvSpPr>
          <p:cNvPr id="36" name="TextBox 35"/>
          <p:cNvSpPr txBox="1"/>
          <p:nvPr/>
        </p:nvSpPr>
        <p:spPr>
          <a:xfrm>
            <a:off x="7415784" y="2688336"/>
            <a:ext cx="445312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$1B+ incremental revenue by FY2027; 25%+ margin</a:t>
            </a:r>
          </a:p>
        </p:txBody>
      </p:sp>
      <p:sp>
        <p:nvSpPr>
          <p:cNvPr id="37" name="Rectangle 36"/>
          <p:cNvSpPr/>
          <p:nvPr/>
        </p:nvSpPr>
        <p:spPr>
          <a:xfrm>
            <a:off x="5532120" y="2907792"/>
            <a:ext cx="6355080" cy="256032"/>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86984" y="2944368"/>
            <a:ext cx="175564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Option rejected</a:t>
            </a:r>
          </a:p>
        </p:txBody>
      </p:sp>
      <p:sp>
        <p:nvSpPr>
          <p:cNvPr id="39" name="TextBox 38"/>
          <p:cNvSpPr txBox="1"/>
          <p:nvPr/>
        </p:nvSpPr>
        <p:spPr>
          <a:xfrm>
            <a:off x="7415784" y="2944368"/>
            <a:ext cx="445312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Services-only: inevitable margin compression</a:t>
            </a:r>
          </a:p>
        </p:txBody>
      </p:sp>
      <p:sp>
        <p:nvSpPr>
          <p:cNvPr id="40" name="Rectangle 39"/>
          <p:cNvSpPr/>
          <p:nvPr/>
        </p:nvSpPr>
        <p:spPr>
          <a:xfrm>
            <a:off x="5532120" y="3163824"/>
            <a:ext cx="6355080" cy="256032"/>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86984" y="3200400"/>
            <a:ext cx="175564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Key risk</a:t>
            </a:r>
          </a:p>
        </p:txBody>
      </p:sp>
      <p:sp>
        <p:nvSpPr>
          <p:cNvPr id="42" name="TextBox 41"/>
          <p:cNvSpPr txBox="1"/>
          <p:nvPr/>
        </p:nvSpPr>
        <p:spPr>
          <a:xfrm>
            <a:off x="7415784" y="3200400"/>
            <a:ext cx="4453128" cy="201168"/>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OpenAI disintermediation if delayed &gt;12 months</a:t>
            </a:r>
          </a:p>
        </p:txBody>
      </p:sp>
      <p:sp>
        <p:nvSpPr>
          <p:cNvPr id="43" name="TextBox 4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44" name="TextBox 4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6: ALIGNMENT &amp; EXEC COMMUNICATION  ·  NARRATIVE BUILDER</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The Accenture Investor Narrative: 'We Bet on AI First — Now We're Building the Moat'</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Accenture's investor story must move from 'we invested in GenAI and it worked' to 'here's why no one can replicate it.' The SCQA narrative arc makes the case for platform commercialization as the structural defense — and explains why FY2026 deceleration is deliberate, not a warning sign.</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SITUATION: $69.7B revenue, 7% growth, GenAI tripled — FY2025 was the proof year</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COMPLICATION: FY2026 guidance 2–5% signals deceleration; MBB building delivery capability; OpenAI threatening advisory layer</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QUESTION: Can Accenture sustain a premium position as GenAI advisory commoditizes?</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ANSWER + ACTION: Yes — but only by shifting to IP platform model before the 18-month window closes</a:t>
            </a:r>
          </a:p>
        </p:txBody>
      </p:sp>
      <p:sp>
        <p:nvSpPr>
          <p:cNvPr id="20" name="Rounded Rectangle 19"/>
          <p:cNvSpPr/>
          <p:nvPr/>
        </p:nvSpPr>
        <p:spPr>
          <a:xfrm>
            <a:off x="594360" y="5577840"/>
            <a:ext cx="4663440" cy="512064"/>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50992"/>
            <a:ext cx="4480560" cy="411480"/>
          </a:xfrm>
          <a:prstGeom prst="rect">
            <a:avLst/>
          </a:prstGeom>
          <a:noFill/>
        </p:spPr>
        <p:txBody>
          <a:bodyPr wrap="square" anchor="t" lIns="0" rIns="0" tIns="0" bIns="0">
            <a:normAutofit/>
          </a:bodyPr>
          <a:lstStyle/>
          <a:p>
            <a:pPr algn="l">
              <a:lnSpc>
                <a:spcPct val="105000"/>
              </a:lnSpc>
              <a:spcBef>
                <a:spcPts val="0"/>
              </a:spcBef>
            </a:pPr>
            <a:r>
              <a:rPr sz="950" b="0" i="1">
                <a:solidFill>
                  <a:srgbClr val="5B6B7C"/>
                </a:solidFill>
                <a:latin typeface="Calibri"/>
              </a:rPr>
              <a:t>Hostile Q: 'OpenAI will do this cheaper.' Answer: 'We deliver the outcome guarantee, not just the model.'</a:t>
            </a:r>
          </a:p>
        </p:txBody>
      </p:sp>
      <p:sp>
        <p:nvSpPr>
          <p:cNvPr id="22" name="TextBox 21"/>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3" name="Rectangle 22"/>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86984" y="1664208"/>
            <a:ext cx="11155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Story Beat</a:t>
            </a:r>
          </a:p>
        </p:txBody>
      </p:sp>
      <p:sp>
        <p:nvSpPr>
          <p:cNvPr id="26" name="TextBox 25"/>
          <p:cNvSpPr txBox="1"/>
          <p:nvPr/>
        </p:nvSpPr>
        <p:spPr>
          <a:xfrm>
            <a:off x="6775704" y="1664208"/>
            <a:ext cx="221284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Headline</a:t>
            </a:r>
          </a:p>
        </p:txBody>
      </p:sp>
      <p:sp>
        <p:nvSpPr>
          <p:cNvPr id="27" name="TextBox 26"/>
          <p:cNvSpPr txBox="1"/>
          <p:nvPr/>
        </p:nvSpPr>
        <p:spPr>
          <a:xfrm>
            <a:off x="9061704" y="1664208"/>
            <a:ext cx="280720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Audience Response</a:t>
            </a:r>
          </a:p>
        </p:txBody>
      </p:sp>
      <p:sp>
        <p:nvSpPr>
          <p:cNvPr id="28" name="Rectangle 27"/>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86984" y="1956816"/>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Situation</a:t>
            </a:r>
          </a:p>
        </p:txBody>
      </p:sp>
      <p:sp>
        <p:nvSpPr>
          <p:cNvPr id="30" name="TextBox 29"/>
          <p:cNvSpPr txBox="1"/>
          <p:nvPr/>
        </p:nvSpPr>
        <p:spPr>
          <a:xfrm>
            <a:off x="6775704" y="1956816"/>
            <a:ext cx="2212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We delivered: $69.7B, AI tripled</a:t>
            </a:r>
          </a:p>
        </p:txBody>
      </p:sp>
      <p:sp>
        <p:nvSpPr>
          <p:cNvPr id="31" name="TextBox 30"/>
          <p:cNvSpPr txBox="1"/>
          <p:nvPr/>
        </p:nvSpPr>
        <p:spPr>
          <a:xfrm>
            <a:off x="9061704" y="1956816"/>
            <a:ext cx="2807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'Impressive — prove it sustains'</a:t>
            </a:r>
          </a:p>
        </p:txBody>
      </p:sp>
      <p:sp>
        <p:nvSpPr>
          <p:cNvPr id="32" name="Rectangle 31"/>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86984" y="2249424"/>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Complication</a:t>
            </a:r>
          </a:p>
        </p:txBody>
      </p:sp>
      <p:sp>
        <p:nvSpPr>
          <p:cNvPr id="34" name="TextBox 33"/>
          <p:cNvSpPr txBox="1"/>
          <p:nvPr/>
        </p:nvSpPr>
        <p:spPr>
          <a:xfrm>
            <a:off x="6775704" y="2249424"/>
            <a:ext cx="2212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FY2026 headwinds are real but manageable</a:t>
            </a:r>
          </a:p>
        </p:txBody>
      </p:sp>
      <p:sp>
        <p:nvSpPr>
          <p:cNvPr id="35" name="TextBox 34"/>
          <p:cNvSpPr txBox="1"/>
          <p:nvPr/>
        </p:nvSpPr>
        <p:spPr>
          <a:xfrm>
            <a:off x="9061704" y="2249424"/>
            <a:ext cx="2807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'OK, what's the plan?'</a:t>
            </a:r>
          </a:p>
        </p:txBody>
      </p:sp>
      <p:sp>
        <p:nvSpPr>
          <p:cNvPr id="36" name="Rectangle 35"/>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86984" y="2542032"/>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Insight</a:t>
            </a:r>
          </a:p>
        </p:txBody>
      </p:sp>
      <p:sp>
        <p:nvSpPr>
          <p:cNvPr id="38" name="TextBox 37"/>
          <p:cNvSpPr txBox="1"/>
          <p:nvPr/>
        </p:nvSpPr>
        <p:spPr>
          <a:xfrm>
            <a:off x="6775704" y="2542032"/>
            <a:ext cx="2212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The moat isn't scale — it's GenWizard + 77K</a:t>
            </a:r>
          </a:p>
        </p:txBody>
      </p:sp>
      <p:sp>
        <p:nvSpPr>
          <p:cNvPr id="39" name="TextBox 38"/>
          <p:cNvSpPr txBox="1"/>
          <p:nvPr/>
        </p:nvSpPr>
        <p:spPr>
          <a:xfrm>
            <a:off x="9061704" y="2542032"/>
            <a:ext cx="2807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'That's defensible if true'</a:t>
            </a:r>
          </a:p>
        </p:txBody>
      </p:sp>
      <p:sp>
        <p:nvSpPr>
          <p:cNvPr id="40" name="Rectangle 39"/>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86984" y="2834640"/>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Answer</a:t>
            </a:r>
          </a:p>
        </p:txBody>
      </p:sp>
      <p:sp>
        <p:nvSpPr>
          <p:cNvPr id="42" name="TextBox 41"/>
          <p:cNvSpPr txBox="1"/>
          <p:nvPr/>
        </p:nvSpPr>
        <p:spPr>
          <a:xfrm>
            <a:off x="6775704" y="2834640"/>
            <a:ext cx="2212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Platform commercialization is the next chapter</a:t>
            </a:r>
          </a:p>
        </p:txBody>
      </p:sp>
      <p:sp>
        <p:nvSpPr>
          <p:cNvPr id="43" name="TextBox 42"/>
          <p:cNvSpPr txBox="1"/>
          <p:nvPr/>
        </p:nvSpPr>
        <p:spPr>
          <a:xfrm>
            <a:off x="9061704" y="2834640"/>
            <a:ext cx="2807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'Show me the economics'</a:t>
            </a:r>
          </a:p>
        </p:txBody>
      </p:sp>
      <p:sp>
        <p:nvSpPr>
          <p:cNvPr id="44" name="Rectangle 43"/>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86984" y="3127248"/>
            <a:ext cx="11155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Action</a:t>
            </a:r>
          </a:p>
        </p:txBody>
      </p:sp>
      <p:sp>
        <p:nvSpPr>
          <p:cNvPr id="46" name="TextBox 45"/>
          <p:cNvSpPr txBox="1"/>
          <p:nvPr/>
        </p:nvSpPr>
        <p:spPr>
          <a:xfrm>
            <a:off x="6775704" y="3127248"/>
            <a:ext cx="221284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Approve GenWizard + agentic AI by Q1</a:t>
            </a:r>
          </a:p>
        </p:txBody>
      </p:sp>
      <p:sp>
        <p:nvSpPr>
          <p:cNvPr id="47" name="TextBox 46"/>
          <p:cNvSpPr txBox="1"/>
          <p:nvPr/>
        </p:nvSpPr>
        <p:spPr>
          <a:xfrm>
            <a:off x="9061704" y="3127248"/>
            <a:ext cx="280720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'What's the investment?'</a:t>
            </a:r>
          </a:p>
        </p:txBody>
      </p:sp>
      <p:sp>
        <p:nvSpPr>
          <p:cNvPr id="48" name="TextBox 4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49" name="TextBox 4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201168"/>
            <a:ext cx="4389120" cy="2377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
            <a:ext cx="4297680" cy="182880"/>
          </a:xfrm>
          <a:prstGeom prst="rect">
            <a:avLst/>
          </a:prstGeom>
          <a:noFill/>
        </p:spPr>
        <p:txBody>
          <a:bodyPr wrap="square" anchor="t" lIns="0" rIns="0" tIns="0" bIns="0">
            <a:noAutofit/>
          </a:bodyPr>
          <a:lstStyle/>
          <a:p>
            <a:pPr algn="l">
              <a:lnSpc>
                <a:spcPct val="105000"/>
              </a:lnSpc>
              <a:spcBef>
                <a:spcPts val="0"/>
              </a:spcBef>
            </a:pPr>
            <a:r>
              <a:rPr sz="850" b="1" i="0">
                <a:solidFill>
                  <a:srgbClr val="009B82"/>
                </a:solidFill>
                <a:latin typeface="Calibri"/>
              </a:rPr>
              <a:t>DOMAIN 6: ALIGNMENT &amp; EXEC COMMUNICATION  ·  STAKEHOLDER ALIGNMENT</a:t>
            </a:r>
          </a:p>
        </p:txBody>
      </p:sp>
      <p:sp>
        <p:nvSpPr>
          <p:cNvPr id="7" name="TextBox 6"/>
          <p:cNvSpPr txBox="1"/>
          <p:nvPr/>
        </p:nvSpPr>
        <p:spPr>
          <a:xfrm>
            <a:off x="594360" y="502920"/>
            <a:ext cx="11247120" cy="731520"/>
          </a:xfrm>
          <a:prstGeom prst="rect">
            <a:avLst/>
          </a:prstGeom>
          <a:noFill/>
        </p:spPr>
        <p:txBody>
          <a:bodyPr wrap="square" anchor="t" lIns="0" rIns="0" tIns="0" bIns="0">
            <a:normAutofit/>
          </a:bodyPr>
          <a:lstStyle/>
          <a:p>
            <a:pPr algn="l">
              <a:lnSpc>
                <a:spcPct val="110000"/>
              </a:lnSpc>
              <a:spcBef>
                <a:spcPts val="0"/>
              </a:spcBef>
            </a:pPr>
            <a:r>
              <a:rPr sz="2400" b="1" i="0">
                <a:solidFill>
                  <a:srgbClr val="0A1628"/>
                </a:solidFill>
                <a:latin typeface="Calibri"/>
              </a:rPr>
              <a:t>Four Stakeholder Groups Must Believe Different Things for the Platform Strategy to Win</a:t>
            </a:r>
          </a:p>
        </p:txBody>
      </p:sp>
      <p:sp>
        <p:nvSpPr>
          <p:cNvPr id="8" name="Rectangle 7"/>
          <p:cNvSpPr/>
          <p:nvPr/>
        </p:nvSpPr>
        <p:spPr>
          <a:xfrm>
            <a:off x="594360" y="1261872"/>
            <a:ext cx="18288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4663440" cy="804672"/>
          </a:xfrm>
          <a:prstGeom prst="rect">
            <a:avLst/>
          </a:prstGeom>
          <a:noFill/>
        </p:spPr>
        <p:txBody>
          <a:bodyPr wrap="square" anchor="t" lIns="0" rIns="0" tIns="0" bIns="0">
            <a:normAutofit/>
          </a:bodyPr>
          <a:lstStyle/>
          <a:p>
            <a:pPr algn="l">
              <a:lnSpc>
                <a:spcPct val="130000"/>
              </a:lnSpc>
              <a:spcBef>
                <a:spcPts val="0"/>
              </a:spcBef>
            </a:pPr>
            <a:r>
              <a:rPr sz="1150" b="0" i="1">
                <a:solidFill>
                  <a:srgbClr val="5B6B7C"/>
                </a:solidFill>
                <a:latin typeface="Calibri"/>
              </a:rPr>
              <a:t>Accenture's platform pivot requires alignment across Board, enterprise clients, the internal workforce, and investors — each with distinct concerns. Pre-wiring must happen before the Q1 FY2026 board presentation, with sequenced engagement starting with the CFO and two anchor clients.</a:t>
            </a:r>
          </a:p>
        </p:txBody>
      </p:sp>
      <p:sp>
        <p:nvSpPr>
          <p:cNvPr id="10" name="TextBox 9"/>
          <p:cNvSpPr txBox="1"/>
          <p:nvPr/>
        </p:nvSpPr>
        <p:spPr>
          <a:xfrm>
            <a:off x="594360" y="2212848"/>
            <a:ext cx="466344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KEY FINDINGS</a:t>
            </a:r>
          </a:p>
        </p:txBody>
      </p:sp>
      <p:sp>
        <p:nvSpPr>
          <p:cNvPr id="11" name="Rectangle 10"/>
          <p:cNvSpPr/>
          <p:nvPr/>
        </p:nvSpPr>
        <p:spPr>
          <a:xfrm>
            <a:off x="594360" y="2414016"/>
            <a:ext cx="4663440" cy="2743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560320"/>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487168"/>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Board: needs ROI evidence on $3B bet (provided) + credible path for GenWizard licensing</a:t>
            </a:r>
          </a:p>
        </p:txBody>
      </p:sp>
      <p:sp>
        <p:nvSpPr>
          <p:cNvPr id="14" name="Rounded Rectangle 13"/>
          <p:cNvSpPr/>
          <p:nvPr/>
        </p:nvSpPr>
        <p:spPr>
          <a:xfrm>
            <a:off x="594360" y="3127248"/>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054096"/>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Enterprise clients (Fortune 100): need outcome guarantees not technology promises</a:t>
            </a:r>
          </a:p>
        </p:txBody>
      </p:sp>
      <p:sp>
        <p:nvSpPr>
          <p:cNvPr id="16" name="Rounded Rectangle 15"/>
          <p:cNvSpPr/>
          <p:nvPr/>
        </p:nvSpPr>
        <p:spPr>
          <a:xfrm>
            <a:off x="594360" y="3694176"/>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21024"/>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779K employees: need clear upskilling path and job security narrative in AI-augmented model</a:t>
            </a:r>
          </a:p>
        </p:txBody>
      </p:sp>
      <p:sp>
        <p:nvSpPr>
          <p:cNvPr id="18" name="Rounded Rectangle 17"/>
          <p:cNvSpPr/>
          <p:nvPr/>
        </p:nvSpPr>
        <p:spPr>
          <a:xfrm>
            <a:off x="594360" y="4261104"/>
            <a:ext cx="54864" cy="54864"/>
          </a:xfrm>
          <a:prstGeom prst="roundRect">
            <a:avLst>
              <a:gd name="adj" fmla="val 1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187952"/>
            <a:ext cx="4480560" cy="530352"/>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Investors: need FY2026 deceleration explained as 'managed pause' not structural decline</a:t>
            </a:r>
          </a:p>
        </p:txBody>
      </p:sp>
      <p:sp>
        <p:nvSpPr>
          <p:cNvPr id="20" name="TextBox 19"/>
          <p:cNvSpPr txBox="1"/>
          <p:nvPr/>
        </p:nvSpPr>
        <p:spPr>
          <a:xfrm>
            <a:off x="5532120" y="1371600"/>
            <a:ext cx="6355080" cy="201168"/>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ACCENTURE OUTPUT</a:t>
            </a:r>
          </a:p>
        </p:txBody>
      </p:sp>
      <p:sp>
        <p:nvSpPr>
          <p:cNvPr id="21" name="Rectangle 20"/>
          <p:cNvSpPr/>
          <p:nvPr/>
        </p:nvSpPr>
        <p:spPr>
          <a:xfrm>
            <a:off x="5532120" y="1572768"/>
            <a:ext cx="635508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1627632"/>
            <a:ext cx="6355080" cy="2926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4" y="1664208"/>
            <a:ext cx="134416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Stakeholder</a:t>
            </a:r>
          </a:p>
        </p:txBody>
      </p:sp>
      <p:sp>
        <p:nvSpPr>
          <p:cNvPr id="24" name="TextBox 23"/>
          <p:cNvSpPr txBox="1"/>
          <p:nvPr/>
        </p:nvSpPr>
        <p:spPr>
          <a:xfrm>
            <a:off x="7004304" y="1664208"/>
            <a:ext cx="11612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Current Stance</a:t>
            </a:r>
          </a:p>
        </p:txBody>
      </p:sp>
      <p:sp>
        <p:nvSpPr>
          <p:cNvPr id="25" name="TextBox 24"/>
          <p:cNvSpPr txBox="1"/>
          <p:nvPr/>
        </p:nvSpPr>
        <p:spPr>
          <a:xfrm>
            <a:off x="8238744" y="1664208"/>
            <a:ext cx="148132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What They Need</a:t>
            </a:r>
          </a:p>
        </p:txBody>
      </p:sp>
      <p:sp>
        <p:nvSpPr>
          <p:cNvPr id="26" name="TextBox 25"/>
          <p:cNvSpPr txBox="1"/>
          <p:nvPr/>
        </p:nvSpPr>
        <p:spPr>
          <a:xfrm>
            <a:off x="9793224" y="1664208"/>
            <a:ext cx="2075688" cy="237744"/>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Pre-Wire Action</a:t>
            </a:r>
          </a:p>
        </p:txBody>
      </p:sp>
      <p:sp>
        <p:nvSpPr>
          <p:cNvPr id="27" name="Rectangle 26"/>
          <p:cNvSpPr/>
          <p:nvPr/>
        </p:nvSpPr>
        <p:spPr>
          <a:xfrm>
            <a:off x="5532120" y="1920240"/>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86984" y="1956816"/>
            <a:ext cx="13441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Board</a:t>
            </a:r>
          </a:p>
        </p:txBody>
      </p:sp>
      <p:sp>
        <p:nvSpPr>
          <p:cNvPr id="29" name="TextBox 28"/>
          <p:cNvSpPr txBox="1"/>
          <p:nvPr/>
        </p:nvSpPr>
        <p:spPr>
          <a:xfrm>
            <a:off x="7004304" y="1956816"/>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Supportive</a:t>
            </a:r>
          </a:p>
        </p:txBody>
      </p:sp>
      <p:sp>
        <p:nvSpPr>
          <p:cNvPr id="30" name="TextBox 29"/>
          <p:cNvSpPr txBox="1"/>
          <p:nvPr/>
        </p:nvSpPr>
        <p:spPr>
          <a:xfrm>
            <a:off x="8238744" y="1956816"/>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GenWizard ROI proof</a:t>
            </a:r>
          </a:p>
        </p:txBody>
      </p:sp>
      <p:sp>
        <p:nvSpPr>
          <p:cNvPr id="31" name="TextBox 30"/>
          <p:cNvSpPr txBox="1"/>
          <p:nvPr/>
        </p:nvSpPr>
        <p:spPr>
          <a:xfrm>
            <a:off x="9793224" y="1956816"/>
            <a:ext cx="2075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CFO briefing + pilot data</a:t>
            </a:r>
          </a:p>
        </p:txBody>
      </p:sp>
      <p:sp>
        <p:nvSpPr>
          <p:cNvPr id="32" name="Rectangle 31"/>
          <p:cNvSpPr/>
          <p:nvPr/>
        </p:nvSpPr>
        <p:spPr>
          <a:xfrm>
            <a:off x="5532120" y="2212848"/>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86984" y="2249424"/>
            <a:ext cx="13441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Fortune 100 clients</a:t>
            </a:r>
          </a:p>
        </p:txBody>
      </p:sp>
      <p:sp>
        <p:nvSpPr>
          <p:cNvPr id="34" name="TextBox 33"/>
          <p:cNvSpPr txBox="1"/>
          <p:nvPr/>
        </p:nvSpPr>
        <p:spPr>
          <a:xfrm>
            <a:off x="7004304" y="2249424"/>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Interested, cautious</a:t>
            </a:r>
          </a:p>
        </p:txBody>
      </p:sp>
      <p:sp>
        <p:nvSpPr>
          <p:cNvPr id="35" name="TextBox 34"/>
          <p:cNvSpPr txBox="1"/>
          <p:nvPr/>
        </p:nvSpPr>
        <p:spPr>
          <a:xfrm>
            <a:off x="8238744" y="2249424"/>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Outcome guarantees</a:t>
            </a:r>
          </a:p>
        </p:txBody>
      </p:sp>
      <p:sp>
        <p:nvSpPr>
          <p:cNvPr id="36" name="TextBox 35"/>
          <p:cNvSpPr txBox="1"/>
          <p:nvPr/>
        </p:nvSpPr>
        <p:spPr>
          <a:xfrm>
            <a:off x="9793224" y="2249424"/>
            <a:ext cx="2075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3 reference deals</a:t>
            </a:r>
          </a:p>
        </p:txBody>
      </p:sp>
      <p:sp>
        <p:nvSpPr>
          <p:cNvPr id="37" name="Rectangle 36"/>
          <p:cNvSpPr/>
          <p:nvPr/>
        </p:nvSpPr>
        <p:spPr>
          <a:xfrm>
            <a:off x="5532120" y="2505456"/>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86984" y="2542032"/>
            <a:ext cx="13441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Employees (779K)</a:t>
            </a:r>
          </a:p>
        </p:txBody>
      </p:sp>
      <p:sp>
        <p:nvSpPr>
          <p:cNvPr id="39" name="TextBox 38"/>
          <p:cNvSpPr txBox="1"/>
          <p:nvPr/>
        </p:nvSpPr>
        <p:spPr>
          <a:xfrm>
            <a:off x="7004304" y="2542032"/>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Anxious</a:t>
            </a:r>
          </a:p>
        </p:txBody>
      </p:sp>
      <p:sp>
        <p:nvSpPr>
          <p:cNvPr id="40" name="TextBox 39"/>
          <p:cNvSpPr txBox="1"/>
          <p:nvPr/>
        </p:nvSpPr>
        <p:spPr>
          <a:xfrm>
            <a:off x="8238744" y="2542032"/>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Clear upskilling path</a:t>
            </a:r>
          </a:p>
        </p:txBody>
      </p:sp>
      <p:sp>
        <p:nvSpPr>
          <p:cNvPr id="41" name="TextBox 40"/>
          <p:cNvSpPr txBox="1"/>
          <p:nvPr/>
        </p:nvSpPr>
        <p:spPr>
          <a:xfrm>
            <a:off x="9793224" y="2542032"/>
            <a:ext cx="2075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All-hands + AI training</a:t>
            </a:r>
          </a:p>
        </p:txBody>
      </p:sp>
      <p:sp>
        <p:nvSpPr>
          <p:cNvPr id="42" name="Rectangle 41"/>
          <p:cNvSpPr/>
          <p:nvPr/>
        </p:nvSpPr>
        <p:spPr>
          <a:xfrm>
            <a:off x="5532120" y="2798064"/>
            <a:ext cx="6355080" cy="29260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86984" y="2834640"/>
            <a:ext cx="13441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Investors</a:t>
            </a:r>
          </a:p>
        </p:txBody>
      </p:sp>
      <p:sp>
        <p:nvSpPr>
          <p:cNvPr id="44" name="TextBox 43"/>
          <p:cNvSpPr txBox="1"/>
          <p:nvPr/>
        </p:nvSpPr>
        <p:spPr>
          <a:xfrm>
            <a:off x="7004304" y="2834640"/>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Watchful</a:t>
            </a:r>
          </a:p>
        </p:txBody>
      </p:sp>
      <p:sp>
        <p:nvSpPr>
          <p:cNvPr id="45" name="TextBox 44"/>
          <p:cNvSpPr txBox="1"/>
          <p:nvPr/>
        </p:nvSpPr>
        <p:spPr>
          <a:xfrm>
            <a:off x="8238744" y="2834640"/>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FY2026 growth recovery story</a:t>
            </a:r>
          </a:p>
        </p:txBody>
      </p:sp>
      <p:sp>
        <p:nvSpPr>
          <p:cNvPr id="46" name="TextBox 45"/>
          <p:cNvSpPr txBox="1"/>
          <p:nvPr/>
        </p:nvSpPr>
        <p:spPr>
          <a:xfrm>
            <a:off x="9793224" y="2834640"/>
            <a:ext cx="2075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IR roadshow narrative</a:t>
            </a:r>
          </a:p>
        </p:txBody>
      </p:sp>
      <p:sp>
        <p:nvSpPr>
          <p:cNvPr id="47" name="Rectangle 46"/>
          <p:cNvSpPr/>
          <p:nvPr/>
        </p:nvSpPr>
        <p:spPr>
          <a:xfrm>
            <a:off x="5532120" y="3090672"/>
            <a:ext cx="6355080" cy="29260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86984" y="3127248"/>
            <a:ext cx="134416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US federal clients</a:t>
            </a:r>
          </a:p>
        </p:txBody>
      </p:sp>
      <p:sp>
        <p:nvSpPr>
          <p:cNvPr id="49" name="TextBox 48"/>
          <p:cNvSpPr txBox="1"/>
          <p:nvPr/>
        </p:nvSpPr>
        <p:spPr>
          <a:xfrm>
            <a:off x="7004304" y="3127248"/>
            <a:ext cx="11612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Uncertain</a:t>
            </a:r>
          </a:p>
        </p:txBody>
      </p:sp>
      <p:sp>
        <p:nvSpPr>
          <p:cNvPr id="50" name="TextBox 49"/>
          <p:cNvSpPr txBox="1"/>
          <p:nvPr/>
        </p:nvSpPr>
        <p:spPr>
          <a:xfrm>
            <a:off x="8238744" y="3127248"/>
            <a:ext cx="148132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Continuity commitment</a:t>
            </a:r>
          </a:p>
        </p:txBody>
      </p:sp>
      <p:sp>
        <p:nvSpPr>
          <p:cNvPr id="51" name="TextBox 50"/>
          <p:cNvSpPr txBox="1"/>
          <p:nvPr/>
        </p:nvSpPr>
        <p:spPr>
          <a:xfrm>
            <a:off x="9793224" y="3127248"/>
            <a:ext cx="2075688" cy="237744"/>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1:1 agency briefings</a:t>
            </a:r>
          </a:p>
        </p:txBody>
      </p:sp>
      <p:sp>
        <p:nvSpPr>
          <p:cNvPr id="52" name="TextBox 5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Strategy Analysis  |  Sources: FY2025 10-K + GitHub:Accenture (223 repos)  |  June 2026</a:t>
            </a:r>
          </a:p>
        </p:txBody>
      </p:sp>
      <p:sp>
        <p:nvSpPr>
          <p:cNvPr id="53" name="TextBox 5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37744"/>
            <a:ext cx="10058400" cy="27432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ACCENTURE  ·  STRATEGIC RECOMMENDATIONS</a:t>
            </a:r>
          </a:p>
        </p:txBody>
      </p:sp>
      <p:sp>
        <p:nvSpPr>
          <p:cNvPr id="6" name="TextBox 5"/>
          <p:cNvSpPr txBox="1"/>
          <p:nvPr/>
        </p:nvSpPr>
        <p:spPr>
          <a:xfrm>
            <a:off x="594360" y="585216"/>
            <a:ext cx="10058400" cy="548640"/>
          </a:xfrm>
          <a:prstGeom prst="rect">
            <a:avLst/>
          </a:prstGeom>
          <a:noFill/>
        </p:spPr>
        <p:txBody>
          <a:bodyPr wrap="square" anchor="t" lIns="0" rIns="0" tIns="0" bIns="0">
            <a:normAutofit/>
          </a:bodyPr>
          <a:lstStyle/>
          <a:p>
            <a:pPr algn="l">
              <a:lnSpc>
                <a:spcPct val="105000"/>
              </a:lnSpc>
              <a:spcBef>
                <a:spcPts val="0"/>
              </a:spcBef>
            </a:pPr>
            <a:r>
              <a:rPr sz="3000" b="1" i="0">
                <a:solidFill>
                  <a:srgbClr val="FFFFFF"/>
                </a:solidFill>
                <a:latin typeface="Calibri"/>
              </a:rPr>
              <a:t>Six Moves That Define the FY2026–27 Strategy</a:t>
            </a:r>
          </a:p>
        </p:txBody>
      </p:sp>
      <p:sp>
        <p:nvSpPr>
          <p:cNvPr id="7" name="TextBox 6"/>
          <p:cNvSpPr txBox="1"/>
          <p:nvPr/>
        </p:nvSpPr>
        <p:spPr>
          <a:xfrm>
            <a:off x="594360" y="1170432"/>
            <a:ext cx="10058400" cy="274320"/>
          </a:xfrm>
          <a:prstGeom prst="rect">
            <a:avLst/>
          </a:prstGeom>
          <a:noFill/>
        </p:spPr>
        <p:txBody>
          <a:bodyPr wrap="square" anchor="t" lIns="0" rIns="0" tIns="0" bIns="0">
            <a:noAutofit/>
          </a:bodyPr>
          <a:lstStyle/>
          <a:p>
            <a:pPr algn="l">
              <a:lnSpc>
                <a:spcPct val="105000"/>
              </a:lnSpc>
              <a:spcBef>
                <a:spcPts val="0"/>
              </a:spcBef>
            </a:pPr>
            <a:r>
              <a:rPr sz="1200" b="0" i="0">
                <a:solidFill>
                  <a:srgbClr val="E0F7F1"/>
                </a:solidFill>
                <a:latin typeface="Calibri"/>
              </a:rPr>
              <a:t>Applied via 21 Accenture-Style Claude consulting frameworks on live FY2025 data</a:t>
            </a:r>
          </a:p>
        </p:txBody>
      </p:sp>
      <p:sp>
        <p:nvSpPr>
          <p:cNvPr id="8" name="Rectangle 7"/>
          <p:cNvSpPr/>
          <p:nvPr/>
        </p:nvSpPr>
        <p:spPr>
          <a:xfrm>
            <a:off x="594360" y="1508760"/>
            <a:ext cx="22860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30352" y="1828800"/>
            <a:ext cx="1783080" cy="3749039"/>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0352" y="1828800"/>
            <a:ext cx="1783080" cy="7315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65960"/>
            <a:ext cx="16002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00C9A7"/>
                </a:solidFill>
                <a:latin typeface="Calibri"/>
              </a:rPr>
              <a:t>01</a:t>
            </a:r>
          </a:p>
        </p:txBody>
      </p:sp>
      <p:sp>
        <p:nvSpPr>
          <p:cNvPr id="12" name="TextBox 11"/>
          <p:cNvSpPr txBox="1"/>
          <p:nvPr/>
        </p:nvSpPr>
        <p:spPr>
          <a:xfrm>
            <a:off x="640080" y="2249424"/>
            <a:ext cx="1600200" cy="640080"/>
          </a:xfrm>
          <a:prstGeom prst="rect">
            <a:avLst/>
          </a:prstGeom>
          <a:noFill/>
        </p:spPr>
        <p:txBody>
          <a:bodyPr wrap="square" anchor="t" lIns="0" rIns="0" tIns="0" bIns="0">
            <a:normAutofit/>
          </a:bodyPr>
          <a:lstStyle/>
          <a:p>
            <a:pPr algn="l">
              <a:lnSpc>
                <a:spcPct val="110000"/>
              </a:lnSpc>
              <a:spcBef>
                <a:spcPts val="0"/>
              </a:spcBef>
            </a:pPr>
            <a:r>
              <a:rPr sz="1350" b="1" i="0">
                <a:solidFill>
                  <a:srgbClr val="FFFFFF"/>
                </a:solidFill>
                <a:latin typeface="Calibri"/>
              </a:rPr>
              <a:t>Commercialize
GenWizard IP</a:t>
            </a:r>
          </a:p>
        </p:txBody>
      </p:sp>
      <p:sp>
        <p:nvSpPr>
          <p:cNvPr id="13" name="TextBox 12"/>
          <p:cNvSpPr txBox="1"/>
          <p:nvPr/>
        </p:nvSpPr>
        <p:spPr>
          <a:xfrm>
            <a:off x="640080" y="2944368"/>
            <a:ext cx="1600200" cy="1417320"/>
          </a:xfrm>
          <a:prstGeom prst="rect">
            <a:avLst/>
          </a:prstGeom>
          <a:noFill/>
        </p:spPr>
        <p:txBody>
          <a:bodyPr wrap="square" anchor="t" lIns="0" rIns="0" tIns="0" bIns="0">
            <a:normAutofit/>
          </a:bodyPr>
          <a:lstStyle/>
          <a:p>
            <a:pPr algn="l">
              <a:lnSpc>
                <a:spcPct val="130000"/>
              </a:lnSpc>
              <a:spcBef>
                <a:spcPts val="0"/>
              </a:spcBef>
            </a:pPr>
            <a:r>
              <a:rPr sz="1050" b="0" i="0">
                <a:solidFill>
                  <a:srgbClr val="E0F7F1"/>
                </a:solidFill>
                <a:latin typeface="Calibri"/>
              </a:rPr>
              <a:t>Launch external licensing by Q1 FY2026 before MBB replicates the platform</a:t>
            </a:r>
          </a:p>
        </p:txBody>
      </p:sp>
      <p:sp>
        <p:nvSpPr>
          <p:cNvPr id="14" name="Rounded Rectangle 13"/>
          <p:cNvSpPr/>
          <p:nvPr/>
        </p:nvSpPr>
        <p:spPr>
          <a:xfrm>
            <a:off x="640080" y="4919472"/>
            <a:ext cx="1563624" cy="228600"/>
          </a:xfrm>
          <a:prstGeom prst="roundRect">
            <a:avLst>
              <a:gd name="adj" fmla="val 8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937760"/>
            <a:ext cx="1563624" cy="201168"/>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Platform</a:t>
            </a:r>
          </a:p>
        </p:txBody>
      </p:sp>
      <p:sp>
        <p:nvSpPr>
          <p:cNvPr id="16" name="Rounded Rectangle 15"/>
          <p:cNvSpPr/>
          <p:nvPr/>
        </p:nvSpPr>
        <p:spPr>
          <a:xfrm>
            <a:off x="2468880" y="1828800"/>
            <a:ext cx="1783080" cy="3749039"/>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468880" y="1828800"/>
            <a:ext cx="1783080" cy="7315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78608" y="1965960"/>
            <a:ext cx="16002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00C9A7"/>
                </a:solidFill>
                <a:latin typeface="Calibri"/>
              </a:rPr>
              <a:t>02</a:t>
            </a:r>
          </a:p>
        </p:txBody>
      </p:sp>
      <p:sp>
        <p:nvSpPr>
          <p:cNvPr id="19" name="TextBox 18"/>
          <p:cNvSpPr txBox="1"/>
          <p:nvPr/>
        </p:nvSpPr>
        <p:spPr>
          <a:xfrm>
            <a:off x="2578608" y="2249424"/>
            <a:ext cx="1600200" cy="640080"/>
          </a:xfrm>
          <a:prstGeom prst="rect">
            <a:avLst/>
          </a:prstGeom>
          <a:noFill/>
        </p:spPr>
        <p:txBody>
          <a:bodyPr wrap="square" anchor="t" lIns="0" rIns="0" tIns="0" bIns="0">
            <a:normAutofit/>
          </a:bodyPr>
          <a:lstStyle/>
          <a:p>
            <a:pPr algn="l">
              <a:lnSpc>
                <a:spcPct val="110000"/>
              </a:lnSpc>
              <a:spcBef>
                <a:spcPts val="0"/>
              </a:spcBef>
            </a:pPr>
            <a:r>
              <a:rPr sz="1350" b="1" i="0">
                <a:solidFill>
                  <a:srgbClr val="FFFFFF"/>
                </a:solidFill>
                <a:latin typeface="Calibri"/>
              </a:rPr>
              <a:t>Launch Agentic AI
Service Line</a:t>
            </a:r>
          </a:p>
        </p:txBody>
      </p:sp>
      <p:sp>
        <p:nvSpPr>
          <p:cNvPr id="20" name="TextBox 19"/>
          <p:cNvSpPr txBox="1"/>
          <p:nvPr/>
        </p:nvSpPr>
        <p:spPr>
          <a:xfrm>
            <a:off x="2578608" y="2944368"/>
            <a:ext cx="1600200" cy="1417320"/>
          </a:xfrm>
          <a:prstGeom prst="rect">
            <a:avLst/>
          </a:prstGeom>
          <a:noFill/>
        </p:spPr>
        <p:txBody>
          <a:bodyPr wrap="square" anchor="t" lIns="0" rIns="0" tIns="0" bIns="0">
            <a:normAutofit/>
          </a:bodyPr>
          <a:lstStyle/>
          <a:p>
            <a:pPr algn="l">
              <a:lnSpc>
                <a:spcPct val="130000"/>
              </a:lnSpc>
              <a:spcBef>
                <a:spcPts val="0"/>
              </a:spcBef>
            </a:pPr>
            <a:r>
              <a:rPr sz="1050" b="0" i="0">
                <a:solidFill>
                  <a:srgbClr val="E0F7F1"/>
                </a:solidFill>
                <a:latin typeface="Calibri"/>
              </a:rPr>
              <a:t>Build on $5.9B bookings momentum; first offering by Q1, 3 POCs in FS and health</a:t>
            </a:r>
          </a:p>
        </p:txBody>
      </p:sp>
      <p:sp>
        <p:nvSpPr>
          <p:cNvPr id="21" name="Rounded Rectangle 20"/>
          <p:cNvSpPr/>
          <p:nvPr/>
        </p:nvSpPr>
        <p:spPr>
          <a:xfrm>
            <a:off x="2578608" y="4919472"/>
            <a:ext cx="1563624" cy="228600"/>
          </a:xfrm>
          <a:prstGeom prst="roundRect">
            <a:avLst>
              <a:gd name="adj" fmla="val 8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78608" y="4937760"/>
            <a:ext cx="1563624" cy="201168"/>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Growth</a:t>
            </a:r>
          </a:p>
        </p:txBody>
      </p:sp>
      <p:sp>
        <p:nvSpPr>
          <p:cNvPr id="23" name="Rounded Rectangle 22"/>
          <p:cNvSpPr/>
          <p:nvPr/>
        </p:nvSpPr>
        <p:spPr>
          <a:xfrm>
            <a:off x="4407408" y="1828800"/>
            <a:ext cx="1783080" cy="3749039"/>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07408" y="1828800"/>
            <a:ext cx="1783080" cy="7315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17136" y="1965960"/>
            <a:ext cx="16002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00C9A7"/>
                </a:solidFill>
                <a:latin typeface="Calibri"/>
              </a:rPr>
              <a:t>03</a:t>
            </a:r>
          </a:p>
        </p:txBody>
      </p:sp>
      <p:sp>
        <p:nvSpPr>
          <p:cNvPr id="26" name="TextBox 25"/>
          <p:cNvSpPr txBox="1"/>
          <p:nvPr/>
        </p:nvSpPr>
        <p:spPr>
          <a:xfrm>
            <a:off x="4517136" y="2249424"/>
            <a:ext cx="1600200" cy="640080"/>
          </a:xfrm>
          <a:prstGeom prst="rect">
            <a:avLst/>
          </a:prstGeom>
          <a:noFill/>
        </p:spPr>
        <p:txBody>
          <a:bodyPr wrap="square" anchor="t" lIns="0" rIns="0" tIns="0" bIns="0">
            <a:normAutofit/>
          </a:bodyPr>
          <a:lstStyle/>
          <a:p>
            <a:pPr algn="l">
              <a:lnSpc>
                <a:spcPct val="110000"/>
              </a:lnSpc>
              <a:spcBef>
                <a:spcPts val="0"/>
              </a:spcBef>
            </a:pPr>
            <a:r>
              <a:rPr sz="1350" b="1" i="0">
                <a:solidFill>
                  <a:srgbClr val="FFFFFF"/>
                </a:solidFill>
                <a:latin typeface="Calibri"/>
              </a:rPr>
              <a:t>Scale Outcome-Based
Pricing to 20%</a:t>
            </a:r>
          </a:p>
        </p:txBody>
      </p:sp>
      <p:sp>
        <p:nvSpPr>
          <p:cNvPr id="27" name="TextBox 26"/>
          <p:cNvSpPr txBox="1"/>
          <p:nvPr/>
        </p:nvSpPr>
        <p:spPr>
          <a:xfrm>
            <a:off x="4517136" y="2944368"/>
            <a:ext cx="1600200" cy="1417320"/>
          </a:xfrm>
          <a:prstGeom prst="rect">
            <a:avLst/>
          </a:prstGeom>
          <a:noFill/>
        </p:spPr>
        <p:txBody>
          <a:bodyPr wrap="square" anchor="t" lIns="0" rIns="0" tIns="0" bIns="0">
            <a:normAutofit/>
          </a:bodyPr>
          <a:lstStyle/>
          <a:p>
            <a:pPr algn="l">
              <a:lnSpc>
                <a:spcPct val="130000"/>
              </a:lnSpc>
              <a:spcBef>
                <a:spcPts val="0"/>
              </a:spcBef>
            </a:pPr>
            <a:r>
              <a:rPr sz="1050" b="0" i="0">
                <a:solidFill>
                  <a:srgbClr val="E0F7F1"/>
                </a:solidFill>
                <a:latin typeface="Calibri"/>
              </a:rPr>
              <a:t>Move from T&amp;M to value-share contracts before AI compresses day rates structurally</a:t>
            </a:r>
          </a:p>
        </p:txBody>
      </p:sp>
      <p:sp>
        <p:nvSpPr>
          <p:cNvPr id="28" name="Rounded Rectangle 27"/>
          <p:cNvSpPr/>
          <p:nvPr/>
        </p:nvSpPr>
        <p:spPr>
          <a:xfrm>
            <a:off x="4517136" y="4919472"/>
            <a:ext cx="1563624" cy="228600"/>
          </a:xfrm>
          <a:prstGeom prst="roundRect">
            <a:avLst>
              <a:gd name="adj" fmla="val 8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17136" y="4937760"/>
            <a:ext cx="1563624" cy="201168"/>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Margin</a:t>
            </a:r>
          </a:p>
        </p:txBody>
      </p:sp>
      <p:sp>
        <p:nvSpPr>
          <p:cNvPr id="30" name="Rounded Rectangle 29"/>
          <p:cNvSpPr/>
          <p:nvPr/>
        </p:nvSpPr>
        <p:spPr>
          <a:xfrm>
            <a:off x="6345936" y="1828800"/>
            <a:ext cx="1783080" cy="3749039"/>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345936" y="1828800"/>
            <a:ext cx="1783080" cy="7315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55664" y="1965960"/>
            <a:ext cx="16002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00C9A7"/>
                </a:solidFill>
                <a:latin typeface="Calibri"/>
              </a:rPr>
              <a:t>04</a:t>
            </a:r>
          </a:p>
        </p:txBody>
      </p:sp>
      <p:sp>
        <p:nvSpPr>
          <p:cNvPr id="33" name="TextBox 32"/>
          <p:cNvSpPr txBox="1"/>
          <p:nvPr/>
        </p:nvSpPr>
        <p:spPr>
          <a:xfrm>
            <a:off x="6455664" y="2249424"/>
            <a:ext cx="1600200" cy="640080"/>
          </a:xfrm>
          <a:prstGeom prst="rect">
            <a:avLst/>
          </a:prstGeom>
          <a:noFill/>
        </p:spPr>
        <p:txBody>
          <a:bodyPr wrap="square" anchor="t" lIns="0" rIns="0" tIns="0" bIns="0">
            <a:normAutofit/>
          </a:bodyPr>
          <a:lstStyle/>
          <a:p>
            <a:pPr algn="l">
              <a:lnSpc>
                <a:spcPct val="110000"/>
              </a:lnSpc>
              <a:spcBef>
                <a:spcPts val="0"/>
              </a:spcBef>
            </a:pPr>
            <a:r>
              <a:rPr sz="1350" b="1" i="0">
                <a:solidFill>
                  <a:srgbClr val="FFFFFF"/>
                </a:solidFill>
                <a:latin typeface="Calibri"/>
              </a:rPr>
              <a:t>Automate Operations
to Protect Margin</a:t>
            </a:r>
          </a:p>
        </p:txBody>
      </p:sp>
      <p:sp>
        <p:nvSpPr>
          <p:cNvPr id="34" name="TextBox 33"/>
          <p:cNvSpPr txBox="1"/>
          <p:nvPr/>
        </p:nvSpPr>
        <p:spPr>
          <a:xfrm>
            <a:off x="6455664" y="2944368"/>
            <a:ext cx="1600200" cy="1417320"/>
          </a:xfrm>
          <a:prstGeom prst="rect">
            <a:avLst/>
          </a:prstGeom>
          <a:noFill/>
        </p:spPr>
        <p:txBody>
          <a:bodyPr wrap="square" anchor="t" lIns="0" rIns="0" tIns="0" bIns="0">
            <a:normAutofit/>
          </a:bodyPr>
          <a:lstStyle/>
          <a:p>
            <a:pPr algn="l">
              <a:lnSpc>
                <a:spcPct val="130000"/>
              </a:lnSpc>
              <a:spcBef>
                <a:spcPts val="0"/>
              </a:spcBef>
            </a:pPr>
            <a:r>
              <a:rPr sz="1050" b="0" i="0">
                <a:solidFill>
                  <a:srgbClr val="E0F7F1"/>
                </a:solidFill>
                <a:latin typeface="Calibri"/>
              </a:rPr>
              <a:t>AI-augmented delivery in Operations reduces headcount intensity; defend 10-14% margin</a:t>
            </a:r>
          </a:p>
        </p:txBody>
      </p:sp>
      <p:sp>
        <p:nvSpPr>
          <p:cNvPr id="35" name="Rounded Rectangle 34"/>
          <p:cNvSpPr/>
          <p:nvPr/>
        </p:nvSpPr>
        <p:spPr>
          <a:xfrm>
            <a:off x="6455664" y="4919472"/>
            <a:ext cx="1563624" cy="228600"/>
          </a:xfrm>
          <a:prstGeom prst="roundRect">
            <a:avLst>
              <a:gd name="adj" fmla="val 8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55664" y="4937760"/>
            <a:ext cx="1563624" cy="201168"/>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Defend</a:t>
            </a:r>
          </a:p>
        </p:txBody>
      </p:sp>
      <p:sp>
        <p:nvSpPr>
          <p:cNvPr id="37" name="Rounded Rectangle 36"/>
          <p:cNvSpPr/>
          <p:nvPr/>
        </p:nvSpPr>
        <p:spPr>
          <a:xfrm>
            <a:off x="8284464" y="1828800"/>
            <a:ext cx="1783080" cy="3749039"/>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84464" y="1828800"/>
            <a:ext cx="1783080" cy="7315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94192" y="1965960"/>
            <a:ext cx="16002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00C9A7"/>
                </a:solidFill>
                <a:latin typeface="Calibri"/>
              </a:rPr>
              <a:t>05</a:t>
            </a:r>
          </a:p>
        </p:txBody>
      </p:sp>
      <p:sp>
        <p:nvSpPr>
          <p:cNvPr id="40" name="TextBox 39"/>
          <p:cNvSpPr txBox="1"/>
          <p:nvPr/>
        </p:nvSpPr>
        <p:spPr>
          <a:xfrm>
            <a:off x="8394192" y="2249424"/>
            <a:ext cx="1600200" cy="640080"/>
          </a:xfrm>
          <a:prstGeom prst="rect">
            <a:avLst/>
          </a:prstGeom>
          <a:noFill/>
        </p:spPr>
        <p:txBody>
          <a:bodyPr wrap="square" anchor="t" lIns="0" rIns="0" tIns="0" bIns="0">
            <a:normAutofit/>
          </a:bodyPr>
          <a:lstStyle/>
          <a:p>
            <a:pPr algn="l">
              <a:lnSpc>
                <a:spcPct val="110000"/>
              </a:lnSpc>
              <a:spcBef>
                <a:spcPts val="0"/>
              </a:spcBef>
            </a:pPr>
            <a:r>
              <a:rPr sz="1350" b="1" i="0">
                <a:solidFill>
                  <a:srgbClr val="FFFFFF"/>
                </a:solidFill>
                <a:latin typeface="Calibri"/>
              </a:rPr>
              <a:t>Pre-Wire the
OpenAI Alliance</a:t>
            </a:r>
          </a:p>
        </p:txBody>
      </p:sp>
      <p:sp>
        <p:nvSpPr>
          <p:cNvPr id="41" name="TextBox 40"/>
          <p:cNvSpPr txBox="1"/>
          <p:nvPr/>
        </p:nvSpPr>
        <p:spPr>
          <a:xfrm>
            <a:off x="8394192" y="2944368"/>
            <a:ext cx="1600200" cy="1417320"/>
          </a:xfrm>
          <a:prstGeom prst="rect">
            <a:avLst/>
          </a:prstGeom>
          <a:noFill/>
        </p:spPr>
        <p:txBody>
          <a:bodyPr wrap="square" anchor="t" lIns="0" rIns="0" tIns="0" bIns="0">
            <a:normAutofit/>
          </a:bodyPr>
          <a:lstStyle/>
          <a:p>
            <a:pPr algn="l">
              <a:lnSpc>
                <a:spcPct val="130000"/>
              </a:lnSpc>
              <a:spcBef>
                <a:spcPts val="0"/>
              </a:spcBef>
            </a:pPr>
            <a:r>
              <a:rPr sz="1050" b="0" i="0">
                <a:solidFill>
                  <a:srgbClr val="E0F7F1"/>
                </a:solidFill>
                <a:latin typeface="Calibri"/>
              </a:rPr>
              <a:t>Deepen alliance to ensure Accenture remains preferred SI as OpenAI scales enterprise</a:t>
            </a:r>
          </a:p>
        </p:txBody>
      </p:sp>
      <p:sp>
        <p:nvSpPr>
          <p:cNvPr id="42" name="Rounded Rectangle 41"/>
          <p:cNvSpPr/>
          <p:nvPr/>
        </p:nvSpPr>
        <p:spPr>
          <a:xfrm>
            <a:off x="8394192" y="4919472"/>
            <a:ext cx="1563624" cy="228600"/>
          </a:xfrm>
          <a:prstGeom prst="roundRect">
            <a:avLst>
              <a:gd name="adj" fmla="val 8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94192" y="4937760"/>
            <a:ext cx="1563624" cy="201168"/>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Risk</a:t>
            </a:r>
          </a:p>
        </p:txBody>
      </p:sp>
      <p:sp>
        <p:nvSpPr>
          <p:cNvPr id="44" name="Rounded Rectangle 43"/>
          <p:cNvSpPr/>
          <p:nvPr/>
        </p:nvSpPr>
        <p:spPr>
          <a:xfrm>
            <a:off x="10222992" y="1828800"/>
            <a:ext cx="1783080" cy="3749039"/>
          </a:xfrm>
          <a:prstGeom prst="roundRect">
            <a:avLst>
              <a:gd name="adj" fmla="val 6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0222992" y="1828800"/>
            <a:ext cx="1783080" cy="7315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32720" y="1965960"/>
            <a:ext cx="16002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00C9A7"/>
                </a:solidFill>
                <a:latin typeface="Calibri"/>
              </a:rPr>
              <a:t>06</a:t>
            </a:r>
          </a:p>
        </p:txBody>
      </p:sp>
      <p:sp>
        <p:nvSpPr>
          <p:cNvPr id="47" name="TextBox 46"/>
          <p:cNvSpPr txBox="1"/>
          <p:nvPr/>
        </p:nvSpPr>
        <p:spPr>
          <a:xfrm>
            <a:off x="10332720" y="2249424"/>
            <a:ext cx="1600200" cy="640080"/>
          </a:xfrm>
          <a:prstGeom prst="rect">
            <a:avLst/>
          </a:prstGeom>
          <a:noFill/>
        </p:spPr>
        <p:txBody>
          <a:bodyPr wrap="square" anchor="t" lIns="0" rIns="0" tIns="0" bIns="0">
            <a:normAutofit/>
          </a:bodyPr>
          <a:lstStyle/>
          <a:p>
            <a:pPr algn="l">
              <a:lnSpc>
                <a:spcPct val="110000"/>
              </a:lnSpc>
              <a:spcBef>
                <a:spcPts val="0"/>
              </a:spcBef>
            </a:pPr>
            <a:r>
              <a:rPr sz="1350" b="1" i="0">
                <a:solidFill>
                  <a:srgbClr val="FFFFFF"/>
                </a:solidFill>
                <a:latin typeface="Calibri"/>
              </a:rPr>
              <a:t>Tell a Platform Story
to Investors</a:t>
            </a:r>
          </a:p>
        </p:txBody>
      </p:sp>
      <p:sp>
        <p:nvSpPr>
          <p:cNvPr id="48" name="TextBox 47"/>
          <p:cNvSpPr txBox="1"/>
          <p:nvPr/>
        </p:nvSpPr>
        <p:spPr>
          <a:xfrm>
            <a:off x="10332720" y="2944368"/>
            <a:ext cx="1600200" cy="1417320"/>
          </a:xfrm>
          <a:prstGeom prst="rect">
            <a:avLst/>
          </a:prstGeom>
          <a:noFill/>
        </p:spPr>
        <p:txBody>
          <a:bodyPr wrap="square" anchor="t" lIns="0" rIns="0" tIns="0" bIns="0">
            <a:normAutofit/>
          </a:bodyPr>
          <a:lstStyle/>
          <a:p>
            <a:pPr algn="l">
              <a:lnSpc>
                <a:spcPct val="130000"/>
              </a:lnSpc>
              <a:spcBef>
                <a:spcPts val="0"/>
              </a:spcBef>
            </a:pPr>
            <a:r>
              <a:rPr sz="1050" b="0" i="0">
                <a:solidFill>
                  <a:srgbClr val="E0F7F1"/>
                </a:solidFill>
                <a:latin typeface="Calibri"/>
              </a:rPr>
              <a:t>Reframe FY2026 deceleration as 'managed platform pivot'; Q1 IR roadshow narrative</a:t>
            </a:r>
          </a:p>
        </p:txBody>
      </p:sp>
      <p:sp>
        <p:nvSpPr>
          <p:cNvPr id="49" name="Rounded Rectangle 48"/>
          <p:cNvSpPr/>
          <p:nvPr/>
        </p:nvSpPr>
        <p:spPr>
          <a:xfrm>
            <a:off x="10332720" y="4919472"/>
            <a:ext cx="1563624" cy="228600"/>
          </a:xfrm>
          <a:prstGeom prst="roundRect">
            <a:avLst>
              <a:gd name="adj" fmla="val 8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0" y="4937760"/>
            <a:ext cx="1563624" cy="201168"/>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Comms</a:t>
            </a:r>
          </a:p>
        </p:txBody>
      </p:sp>
      <p:sp>
        <p:nvSpPr>
          <p:cNvPr id="51" name="Rounded Rectangle 50"/>
          <p:cNvSpPr/>
          <p:nvPr/>
        </p:nvSpPr>
        <p:spPr>
          <a:xfrm>
            <a:off x="530352" y="5833872"/>
            <a:ext cx="11130991" cy="566928"/>
          </a:xfrm>
          <a:prstGeom prst="roundRect">
            <a:avLst>
              <a:gd name="adj" fmla="val 6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5800" y="5943600"/>
            <a:ext cx="10820095" cy="329184"/>
          </a:xfrm>
          <a:prstGeom prst="rect">
            <a:avLst/>
          </a:prstGeom>
          <a:noFill/>
        </p:spPr>
        <p:txBody>
          <a:bodyPr wrap="square" anchor="t" lIns="0" rIns="0" tIns="0" bIns="0">
            <a:normAutofit/>
          </a:bodyPr>
          <a:lstStyle/>
          <a:p>
            <a:pPr algn="ctr">
              <a:lnSpc>
                <a:spcPct val="105000"/>
              </a:lnSpc>
              <a:spcBef>
                <a:spcPts val="0"/>
              </a:spcBef>
            </a:pPr>
            <a:r>
              <a:rPr sz="950" b="0" i="0">
                <a:solidFill>
                  <a:srgbClr val="0A1628"/>
                </a:solidFill>
                <a:latin typeface="Calibri"/>
              </a:rPr>
              <a:t>Data sources: Accenture FY2025 Annual Report &amp; 10-K (Sept 2025)  ·  VMR Consulting Market Report 2026  ·  Avasant Market Update 2026  ·  Applied via 21 Accenture-Style Claude Skills</a:t>
            </a:r>
          </a:p>
        </p:txBody>
      </p:sp>
      <p:sp>
        <p:nvSpPr>
          <p:cNvPr id="53" name="TextBox 5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Accenture Strategy Analysis  |  Sources: FY2025 10-K + GitHub:Accenture (223 repos)  |  June 2026</a:t>
            </a:r>
          </a:p>
        </p:txBody>
      </p:sp>
      <p:sp>
        <p:nvSpPr>
          <p:cNvPr id="54" name="TextBox 5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